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8FAFC"/>
                </a:solidFill>
                <a:latin typeface="Calibri"/>
              </a:defRPr>
            </a:pPr>
            <a:r>
              <a:rPr sz="1200" b="0" i="0" u="none" strike="noStrike">
                <a:solidFill>
                  <a:srgbClr val="F8FAFC"/>
                </a:solidFill>
                <a:latin typeface="Calibri"/>
              </a:rPr>
              <a:t>Annual FCF (AED millions)</a:t>
            </a:r>
          </a:p>
        </c:rich>
      </c:tx>
      <c:layout/>
      <c:overlay val="0"/>
    </c:title>
    <c:autoTitleDeleted val="0"/>
    <c:plotArea>
      <c:layout/>
      <c:barChart>
        <c:barDir val="col"/>
        <c:grouping val="clustered"/>
        <c:varyColors val="0"/>
        <c:ser>
          <c:idx val="0"/>
          <c:order val="0"/>
          <c:tx>
            <c:strRef>
              <c:f>Sheet1!$B$1</c:f>
              <c:strCache>
                <c:ptCount val="1"/>
                <c:pt idx="0">
                  <c:v>Free cash flow</c:v>
                </c:pt>
              </c:strCache>
            </c:strRef>
          </c:tx>
          <c:spPr>
            <a:solidFill>
              <a:srgbClr val="22D3EE"/>
            </a:solidFill>
            <a:effectLst/>
          </c:spPr>
          <c:invertIfNegative val="0"/>
          <c:dLbls>
            <c:numFmt formatCode="0.0" sourceLinked="0"/>
            <c:txPr>
              <a:bodyPr/>
              <a:lstStyle/>
              <a:p>
                <a:pPr>
                  <a:defRPr b="0" i="0" strike="noStrike" sz="900" u="none">
                    <a:solidFill>
                      <a:srgbClr val="F8FAFC"/>
                    </a:solidFill>
                    <a:latin typeface="Calibri"/>
                  </a:defRPr>
                </a:pPr>
              </a:p>
            </c:txPr>
            <c:showLegendKey val="0"/>
            <c:showVal val="1"/>
            <c:showCatName val="0"/>
            <c:showSerName val="0"/>
            <c:showPercent val="0"/>
            <c:showBubbleSize val="0"/>
            <c:showLeaderLines val="0"/>
          </c:dLbls>
          <c:cat>
            <c:multiLvlStrRef>
              <c:f>Sheet1!$A$2:$A$8</c:f>
              <c:multiLvlStrCache>
                <c:ptCount val="7"/>
                <c:lvl>
                  <c:pt idx="0">
                    <c:v>Year 0</c:v>
                  </c:pt>
                  <c:pt idx="1">
                    <c:v>Year 1</c:v>
                  </c:pt>
                  <c:pt idx="2">
                    <c:v>Year 2</c:v>
                  </c:pt>
                  <c:pt idx="3">
                    <c:v>Year 3</c:v>
                  </c:pt>
                  <c:pt idx="4">
                    <c:v>Year 4</c:v>
                  </c:pt>
                  <c:pt idx="5">
                    <c:v>Year 5</c:v>
                  </c:pt>
                  <c:pt idx="6">
                    <c:v>Year 6</c:v>
                  </c:pt>
                </c:lvl>
              </c:multiLvlStrCache>
            </c:multiLvlStrRef>
          </c:cat>
          <c:val>
            <c:numRef>
              <c:f>Sheet1!$B$2:$B$8</c:f>
              <c:numCache>
                <c:formatCode>General</c:formatCode>
                <c:ptCount val="7"/>
                <c:pt idx="0">
                  <c:v>-24</c:v>
                </c:pt>
                <c:pt idx="1">
                  <c:v>7.398</c:v>
                </c:pt>
                <c:pt idx="2">
                  <c:v>7.725</c:v>
                </c:pt>
                <c:pt idx="3">
                  <c:v>8.066</c:v>
                </c:pt>
                <c:pt idx="4">
                  <c:v>8.423</c:v>
                </c:pt>
                <c:pt idx="5">
                  <c:v>8.796</c:v>
                </c:pt>
                <c:pt idx="6">
                  <c:v>13.186</c:v>
                </c:pt>
              </c:numCache>
            </c:numRef>
          </c:val>
        </c:ser>
        <c:dLbls>
          <c:numFmt formatCode="0.0" sourceLinked="0"/>
          <c:txPr>
            <a:bodyPr/>
            <a:lstStyle/>
            <a:p>
              <a:pPr>
                <a:defRPr b="0" i="0" strike="noStrike" sz="900" u="none">
                  <a:solidFill>
                    <a:srgbClr val="F8FAFC"/>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94A3B8"/>
                </a:solidFill>
                <a:latin typeface="Calibri"/>
              </a:defRPr>
            </a:pPr>
            <a:endParaRPr lang="en-US"/>
          </a:p>
        </c:txPr>
        <c:crossAx val="2094734552"/>
        <c:crosses val="autoZero"/>
        <c:auto val="1"/>
        <c:lblAlgn val="ctr"/>
        <c:noMultiLvlLbl val="1"/>
      </c:catAx>
      <c:valAx>
        <c:axId val="2094734552"/>
        <c:scaling>
          <c:orientation val="minMax"/>
          <c:max val="15"/>
          <c:min val="-25"/>
        </c:scaling>
        <c:delete val="0"/>
        <c:axPos val="l"/>
        <c:majorGridlines>
          <c:spPr>
            <a:ln w="12700" cap="flat">
              <a:solidFill>
                <a:srgbClr val="1E446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94A3B8"/>
                </a:solidFill>
                <a:latin typeface="Calibri"/>
              </a:defRPr>
            </a:pPr>
            <a:endParaRPr lang="en-US"/>
          </a:p>
        </c:txPr>
        <c:crossAx val="2094734554"/>
        <c:crosses val="autoZero"/>
        <c:crossBetween val="between"/>
        <c:majorUnit val="5"/>
      </c:valAx>
      <c:spPr>
        <a:noFill/>
        <a:ln w="12700" cap="flat">
          <a:solidFill>
            <a:srgbClr val="0B1A2E"/>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F8FAFC"/>
                </a:solidFill>
                <a:latin typeface="Calibri"/>
              </a:defRPr>
            </a:pPr>
            <a:r>
              <a:rPr sz="1150" b="0" i="0" u="none" strike="noStrike">
                <a:solidFill>
                  <a:srgbClr val="F8FAFC"/>
                </a:solidFill>
                <a:latin typeface="Calibri"/>
              </a:rPr>
              <a:t>Deviation from base NPV, AED millions — every driver flexed ±20%</a:t>
            </a:r>
          </a:p>
        </c:rich>
      </c:tx>
      <c:layout/>
      <c:overlay val="0"/>
    </c:title>
    <c:autoTitleDeleted val="0"/>
    <c:plotArea>
      <c:layout/>
      <c:barChart>
        <c:barDir val="bar"/>
        <c:grouping val="stacked"/>
        <c:varyColors val="0"/>
        <c:ser>
          <c:idx val="0"/>
          <c:order val="0"/>
          <c:tx>
            <c:strRef>
              <c:f>Sheet1!$B$1</c:f>
              <c:strCache>
                <c:ptCount val="1"/>
                <c:pt idx="0">
                  <c:v>Downside (−20%)</c:v>
                </c:pt>
              </c:strCache>
            </c:strRef>
          </c:tx>
          <c:spPr>
            <a:solidFill>
              <a:srgbClr val="F8717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Salvage value</c:v>
                  </c:pt>
                  <c:pt idx="1">
                    <c:v>Savings growth</c:v>
                  </c:pt>
                  <c:pt idx="2">
                    <c:v>Operating cost</c:v>
                  </c:pt>
                  <c:pt idx="3">
                    <c:v>Discount rate</c:v>
                  </c:pt>
                  <c:pt idx="4">
                    <c:v>Capital expenditure</c:v>
                  </c:pt>
                  <c:pt idx="5">
                    <c:v>Project life</c:v>
                  </c:pt>
                  <c:pt idx="6">
                    <c:v>Operating benefits</c:v>
                  </c:pt>
                </c:lvl>
              </c:multiLvlStrCache>
            </c:multiLvlStrRef>
          </c:cat>
          <c:val>
            <c:numRef>
              <c:f>Sheet1!$B$2:$B$8</c:f>
              <c:numCache>
                <c:formatCode>General</c:formatCode>
                <c:ptCount val="7"/>
                <c:pt idx="0">
                  <c:v>-0.18</c:v>
                </c:pt>
                <c:pt idx="1">
                  <c:v>-0.55</c:v>
                </c:pt>
                <c:pt idx="2">
                  <c:v>1.79</c:v>
                </c:pt>
                <c:pt idx="3">
                  <c:v>2.73</c:v>
                </c:pt>
                <c:pt idx="4">
                  <c:v>4.13</c:v>
                </c:pt>
                <c:pt idx="5">
                  <c:v>-4.32</c:v>
                </c:pt>
                <c:pt idx="6">
                  <c:v>-8.33</c:v>
                </c:pt>
              </c:numCache>
            </c:numRef>
          </c:val>
        </c:ser>
        <c:ser>
          <c:idx val="1"/>
          <c:order val="1"/>
          <c:tx>
            <c:strRef>
              <c:f>Sheet1!$C$1</c:f>
              <c:strCache>
                <c:ptCount val="1"/>
                <c:pt idx="0">
                  <c:v>Upside (+20%)</c:v>
                </c:pt>
              </c:strCache>
            </c:strRef>
          </c:tx>
          <c:spPr>
            <a:solidFill>
              <a:srgbClr val="34D39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Salvage value</c:v>
                  </c:pt>
                  <c:pt idx="1">
                    <c:v>Savings growth</c:v>
                  </c:pt>
                  <c:pt idx="2">
                    <c:v>Operating cost</c:v>
                  </c:pt>
                  <c:pt idx="3">
                    <c:v>Discount rate</c:v>
                  </c:pt>
                  <c:pt idx="4">
                    <c:v>Capital expenditure</c:v>
                  </c:pt>
                  <c:pt idx="5">
                    <c:v>Project life</c:v>
                  </c:pt>
                  <c:pt idx="6">
                    <c:v>Operating benefits</c:v>
                  </c:pt>
                </c:lvl>
              </c:multiLvlStrCache>
            </c:multiLvlStrRef>
          </c:cat>
          <c:val>
            <c:numRef>
              <c:f>Sheet1!$C$2:$C$8</c:f>
              <c:numCache>
                <c:formatCode>General</c:formatCode>
                <c:ptCount val="7"/>
                <c:pt idx="0">
                  <c:v>0.19</c:v>
                </c:pt>
                <c:pt idx="1">
                  <c:v>0.55</c:v>
                </c:pt>
                <c:pt idx="2">
                  <c:v>-1.78</c:v>
                </c:pt>
                <c:pt idx="3">
                  <c:v>-2.44</c:v>
                </c:pt>
                <c:pt idx="4">
                  <c:v>-4.12</c:v>
                </c:pt>
                <c:pt idx="5">
                  <c:v>4.07</c:v>
                </c:pt>
                <c:pt idx="6">
                  <c:v>8.34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94A3B8"/>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1E446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94A3B8"/>
                </a:solidFill>
                <a:latin typeface="Calibri"/>
              </a:defRPr>
            </a:pPr>
            <a:endParaRPr lang="en-US"/>
          </a:p>
        </c:txPr>
        <c:crossAx val="2094734554"/>
        <c:crosses val="autoZero"/>
        <c:crossBetween val="between"/>
      </c:valAx>
      <c:spPr>
        <a:noFill/>
        <a:ln w="12700" cap="flat">
          <a:solidFill>
            <a:srgbClr val="0B1A2E"/>
          </a:solidFill>
        </a:ln>
        <a:effectLst/>
      </c:spPr>
    </c:plotArea>
    <c:legend>
      <c:legendPos val="t"/>
      <c:overlay val="0"/>
      <c:txPr>
        <a:bodyPr/>
        <a:lstStyle/>
        <a:p>
          <a:pPr>
            <a:defRPr sz="950">
              <a:solidFill>
                <a:srgbClr val="94A3B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F8FAFC"/>
                </a:solidFill>
                <a:latin typeface="Calibri"/>
              </a:defRPr>
            </a:pPr>
            <a:r>
              <a:rPr sz="1150" b="0" i="0" u="none" strike="noStrike">
                <a:solidFill>
                  <a:srgbClr val="F8FAFC"/>
                </a:solidFill>
                <a:latin typeface="Calibri"/>
              </a:rPr>
              <a:t>P(NPV ≤ X) — 5,000 seeded iterations</a:t>
            </a:r>
          </a:p>
        </c:rich>
      </c:tx>
      <c:layout/>
      <c:overlay val="0"/>
    </c:title>
    <c:autoTitleDeleted val="0"/>
    <c:plotArea>
      <c:layout/>
      <c:lineChart>
        <c:varyColors val="0"/>
        <c:ser>
          <c:idx val="0"/>
          <c:order val="0"/>
          <c:tx>
            <c:strRef>
              <c:f>Sheet1!$B$1</c:f>
              <c:strCache>
                <c:ptCount val="1"/>
                <c:pt idx="0">
                  <c:v>Cumulative probability</c:v>
                </c:pt>
              </c:strCache>
            </c:strRef>
          </c:tx>
          <c:spPr>
            <a:solidFill>
              <a:srgbClr val="22D3EE"/>
            </a:solidFill>
            <a:ln w="38100" cap="flat">
              <a:solidFill>
                <a:srgbClr val="22D3E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2D3EE"/>
              </a:solidFill>
              <a:ln w="9525" cap="flat">
                <a:solidFill>
                  <a:srgbClr val="22D3EE"/>
                </a:solidFill>
                <a:prstDash val="solid"/>
                <a:round/>
              </a:ln>
              <a:effectLst/>
            </c:spPr>
          </c:marker>
          <c:cat>
            <c:multiLvlStrRef>
              <c:f>Sheet1!$A$2:$A$10</c:f>
              <c:multiLvlStrCache>
                <c:ptCount val="9"/>
                <c:lvl>
                  <c:pt idx="0">
                    <c:v>-2</c:v>
                  </c:pt>
                  <c:pt idx="1">
                    <c:v>0</c:v>
                  </c:pt>
                  <c:pt idx="2">
                    <c:v>3</c:v>
                  </c:pt>
                  <c:pt idx="3">
                    <c:v>6</c:v>
                  </c:pt>
                  <c:pt idx="4">
                    <c:v>9</c:v>
                  </c:pt>
                  <c:pt idx="5">
                    <c:v>12</c:v>
                  </c:pt>
                  <c:pt idx="6">
                    <c:v>15</c:v>
                  </c:pt>
                  <c:pt idx="7">
                    <c:v>18</c:v>
                  </c:pt>
                  <c:pt idx="8">
                    <c:v>21</c:v>
                  </c:pt>
                </c:lvl>
              </c:multiLvlStrCache>
            </c:multiLvlStrRef>
          </c:cat>
          <c:val>
            <c:numRef>
              <c:f>Sheet1!$B$2:$B$10</c:f>
              <c:numCache>
                <c:formatCode>General</c:formatCode>
                <c:ptCount val="9"/>
                <c:pt idx="0">
                  <c:v>0.1</c:v>
                </c:pt>
                <c:pt idx="1">
                  <c:v>0.3</c:v>
                </c:pt>
                <c:pt idx="2">
                  <c:v>3.2</c:v>
                </c:pt>
                <c:pt idx="3">
                  <c:v>14.5</c:v>
                </c:pt>
                <c:pt idx="4">
                  <c:v>37</c:v>
                </c:pt>
                <c:pt idx="5">
                  <c:v>58</c:v>
                </c:pt>
                <c:pt idx="6">
                  <c:v>80.5</c:v>
                </c:pt>
                <c:pt idx="7">
                  <c:v>94</c:v>
                </c:pt>
                <c:pt idx="8">
                  <c:v>99.6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94A3B8"/>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1E446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94A3B8"/>
                </a:solidFill>
                <a:latin typeface="Calibri"/>
              </a:defRPr>
            </a:pPr>
            <a:endParaRPr lang="en-US"/>
          </a:p>
        </c:txPr>
        <c:crossAx val="2094734554"/>
        <c:crosses val="autoZero"/>
        <c:crossBetween val="between"/>
      </c:valAx>
      <c:spPr>
        <a:noFill/>
        <a:ln w="12700" cap="flat">
          <a:solidFill>
            <a:srgbClr val="0B1A2E"/>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CapExIQ is a capital-budgeting decision platform built for Topic 9. The flagship case is NovaRetail GCC, a hypothetical UAE retailer evaluating a 24 million dirham automated micro-fulfilment centre in Dubai, over six years at an 11.5 percent WACC. The headline is on screen: 12.08 million of net present value, a 26.3 percent IRR against an 11.5 percent hurdle, and payback inside 3.1 years. The recommendation is approve, with two conditions I will come back to. One framing point: every number today comes from a deterministic engine. The AI explains, challenges and drafts. It never calculates.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NovaRetail picks online orders by hand from store back-rooms at 14.50 dirhams an order, and picking capacity is now the binding constraint on growth in exactly the postcodes where demand is strongest. Automation takes unit cost to 4.20 and capacity to eight thousand orders a day. There are four options, not two — full commitment, a phased release gated on Year-1 savings, deferral, or rejection. It matters because the error is asymmetric in both directions: approve a weak case and you strand capital in illiquid robotics; reject a strong one and you concede the market.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first half. Five formulas carry the decision. NPV is primary. IRR is the rate that zeroes it — ours is 26.3 against an 11.5 hurdle. MIRR matters because standard IRR quietly assumes you reinvest interim cash at 26.3 percent, which nobody can do; reinvesting at the cost of capital gives a more honest 19.34. Profitability index ranks projects when capital is rationed. Payback is a liquidity screen, not a value measure. Note the line at the bottom: none of these formulas care what generated the cash flows. That is why the platform generalises to eight investment types off one engine.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classified five ways as the brief requires. The external inputs are real and current — the UAE nine percent tax band, DEWA's published 2026 tariffs, a three-month EIBOR of 3.79 percent. On the right, the hurdle rate is built rather than assumed: risk-free, plus beta times equity risk premium, plus a UAE country premium, plus three and a half points of execution premium because this is first-of-kind robotics. That gives 11.5 at a sixty-forty structure. The box at the bottom is where I would push hardest. The 7.5 million of savings drives three-quarters of the value, so we derive it from a labour bridge — 66.9 full-time equivalents displaced at 112,000 loaded cost — landing within a tenth of a percent.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 Year zero is the 24 million outflow, years one to five run between 7.4 and 8.8 million, and Year six jumps to 13.2 because it picks up salvage and recovered working capital. On the right is how the Year-1 figure is built, line by line: ten million of benefits, less 2.2 of incremental operating cost, gives 7.8 EBITDA; take off depreciation, tax at nine percent, add depreciation back because it is non-cash, and you get 7,398,000. Depreciation is straight-line to salvage, not to zero, which is why it is 3.33 and not 3.67.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rules point the same way, which is worth saying because they often do not. IRR clears the hurdle by 14.8 points. MIRR — the conservative measure — still clears by 7.8. Profitability index of 1.50 means every dirham returns one-fifty in present value. Payback is inside the four-year policy limit, and even discounted payback is inside four and a half. One point worth making: that NPV figure is pinned by an automated regression test. Change an assumption and the test fails, flagging the documents as stale. The report, this deck and the application cannot silently disagree.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Optimistic gives 19 million, base gives 12.08, pessimistic destroys 4.94 million. That last column is the honest one. The engine does not soften it — it returns Reject, not proceed-with-caution. That matters, because a model that only ever approves is not a model, it is a sales document. Weighting the three at fifty, twenty-five, twenty-five gives an expected NPV of 9.56 million. But note what the pessimistic case actually is: a twenty-five percent benefit shortfall and a fifteen percent cost overrun and a three-hundred basis-point rate rise, all at once. A genuine stress test, not a haircut.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driver here is flexed by an identical plus or minus twenty percent. That matters — flex capex by twenty percent but project life by four years and the ranking is meaningless, which is the flaw in most tornado charts you see in practice. Normalised properly, operating benefits dominates: it swings NPV by 16.67 million, more than the project's entire base-case value and roughly twice the next driver. On the right, the decision actually flips when benefits fall more than twenty-nine percent, when outlay rises more than fifty point four, or when the discount rate passes 26.3. Which leads to the response: gate the money on measured savings rather than squeezing the vendor on price.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risk. On the left, Monte Carlo — five thousand seeded iterations varying capex, savings, operating cost and the discount rate together. The mean lands around 10.5 million, below the base case of 12.08, which tells you the distribution is left-skewed and the headline is mildly optimistic. Probability of loss is about three-tenths of one percent. On the right, eleven severity-ranked deterministic rules. Exactly one fires on the base case. Salvage dependence and benefit sensitivity both trigger at fifteen percent and our figures are 8.6 and 29, so they stay quiet. A panel where everything is green is not a risk panel, and neither is one where everything is red.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differentiator. The brief lists eight kinds of investment a capital-budgeting dashboard should handle. Most projects hard-wire one. We generalised: an archetype configuration builds the annual benefit line, and the audited engine evaluates it without being forked. Look at the verdict column — five of eight fail. That is deliberate. If all eight came out comfortably profitable, what I would have shown you is optimistic defaults, not a working engine. The AI platform only breaks even because inference cost scales with usage. The new branch turns entirely on ten percent cannibalisation. And the flagship case still reproduces its numbers to the dirham after the refactor.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four. Sixteen capabilities, each documented against the five points the brief asks for. Start at the top: the assistant now retrieves the relevant documentation before it answers, so every claim carries a numbered citation you can expand to the source extract. That turns an unverifiable answer into a checkable one. The limitation column on the right is the one I care about. The board recommendation will write a perfectly confident memorandum from bad inputs, which is why sign-off is mandatory. And board debate manufactures the challenge a single author cannot supply — but simulated dissent is not real governance, and I would not claim otherwise.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six. Three worth calling out. Scenario studio proposes assumptions only — the deterministic engine evaluates them; the AI never produces a result. ESG returns an explicit not-applicable flag where commentary would be meaningless, rather than inventing content to fill a section. And macro reference is the one with a story: it used to generate rates and publish them as live market data. It does not any more, and I will come back to that on the ethics slide. The green box is the principle behind all of it — pull the API key and the financial results are unchanged. (40s)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seven things under ethical use of AI, and these are all seven. But the amber box is the one I would actually defend the project on. An earlier build of our macro panel prompted the model to act as a real-time data ingestion agent and published what came back as observed market data. Nothing was ever fetched. Every interbank rate and tariff on that panel was generated, and it was being shown to a capital committee as fact. We found it, removed the generation step, and replaced it with hand-transcribed values carrying citations. That is the real lesson here: the danger is not that a model says something false, it is that a well-designed interface makes a generated figure look exactly like a measured one. Responsibility sits with the CFO and the committee.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five, and the close. Approve. Twelve point zero eight million of net present value, all five decision rules agreeing, expected value of 9.56 million across weighted scenarios. But approve with two conditions, and both come from the analysis rather than from habit. First: because benefit realisation swings the answer by 16.67 million, release the money against measured savings rather than the calendar — fourteen million now, ten million when Year-1 savings are evidenced. Second: because the pessimistic case genuinely destroys value, require a performance guarantee and a buyback, which truncates that tail. Neither weakens the recommendation; both protect it. Thank you.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E"/>
        </a:solidFill>
      </p:bgPr>
    </p:bg>
    <p:spTree>
      <p:nvGrpSpPr>
        <p:cNvPr id="1" name=""/>
        <p:cNvGrpSpPr/>
        <p:nvPr/>
      </p:nvGrpSpPr>
      <p:grpSpPr>
        <a:xfrm>
          <a:off x="0" y="0"/>
          <a:ext cx="0" cy="0"/>
          <a:chOff x="0" y="0"/>
          <a:chExt cx="0" cy="0"/>
        </a:xfrm>
      </p:grpSpPr>
      <p:sp>
        <p:nvSpPr>
          <p:cNvPr id="2" name="Shape 0"/>
          <p:cNvSpPr/>
          <p:nvPr/>
        </p:nvSpPr>
        <p:spPr>
          <a:xfrm>
            <a:off x="8778240" y="-2011680"/>
            <a:ext cx="5852160" cy="5852160"/>
          </a:xfrm>
          <a:prstGeom prst="ellipse">
            <a:avLst/>
          </a:prstGeom>
          <a:solidFill>
            <a:srgbClr val="12304C"/>
          </a:solidFill>
          <a:ln w="12700">
            <a:solidFill>
              <a:srgbClr val="333333"/>
            </a:solidFill>
            <a:prstDash val="solid"/>
          </a:ln>
        </p:spPr>
      </p:sp>
      <p:sp>
        <p:nvSpPr>
          <p:cNvPr id="3" name="Shape 1"/>
          <p:cNvSpPr/>
          <p:nvPr/>
        </p:nvSpPr>
        <p:spPr>
          <a:xfrm>
            <a:off x="10241280" y="4023360"/>
            <a:ext cx="3840480" cy="3840480"/>
          </a:xfrm>
          <a:prstGeom prst="ellipse">
            <a:avLst/>
          </a:prstGeom>
          <a:solidFill>
            <a:srgbClr val="0F2740"/>
          </a:solidFill>
          <a:ln w="12700">
            <a:solidFill>
              <a:srgbClr val="333333"/>
            </a:solidFill>
            <a:prstDash val="solid"/>
          </a:ln>
        </p:spPr>
      </p:sp>
      <p:sp>
        <p:nvSpPr>
          <p:cNvPr id="4" name="Text 2"/>
          <p:cNvSpPr/>
          <p:nvPr/>
        </p:nvSpPr>
        <p:spPr>
          <a:xfrm>
            <a:off x="566928" y="1170432"/>
            <a:ext cx="7863840" cy="1024128"/>
          </a:xfrm>
          <a:prstGeom prst="rect">
            <a:avLst/>
          </a:prstGeom>
          <a:noFill/>
          <a:ln/>
        </p:spPr>
        <p:txBody>
          <a:bodyPr wrap="square" lIns="0" tIns="0" rIns="0" bIns="0" rtlCol="0" anchor="ctr"/>
          <a:lstStyle/>
          <a:p>
            <a:pPr indent="0" marL="0">
              <a:buNone/>
            </a:pPr>
            <a:r>
              <a:rPr lang="en-US" sz="5800" b="1" dirty="0">
                <a:solidFill>
                  <a:srgbClr val="F8FAFC"/>
                </a:solidFill>
                <a:latin typeface="Cambria" pitchFamily="34" charset="0"/>
                <a:ea typeface="Cambria" pitchFamily="34" charset="-122"/>
                <a:cs typeface="Cambria" pitchFamily="34" charset="-120"/>
              </a:rPr>
              <a:t>CapExIQ</a:t>
            </a:r>
            <a:endParaRPr lang="en-US" sz="5800" dirty="0"/>
          </a:p>
        </p:txBody>
      </p:sp>
      <p:sp>
        <p:nvSpPr>
          <p:cNvPr id="5" name="Text 3"/>
          <p:cNvSpPr/>
          <p:nvPr/>
        </p:nvSpPr>
        <p:spPr>
          <a:xfrm>
            <a:off x="566928" y="2176272"/>
            <a:ext cx="8046720" cy="4572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An AI-Enabled Capital-Budgeting and Investment Decision Platform</a:t>
            </a:r>
            <a:endParaRPr lang="en-US" sz="1700" dirty="0"/>
          </a:p>
        </p:txBody>
      </p:sp>
      <p:sp>
        <p:nvSpPr>
          <p:cNvPr id="6" name="Text 4"/>
          <p:cNvSpPr/>
          <p:nvPr/>
        </p:nvSpPr>
        <p:spPr>
          <a:xfrm>
            <a:off x="566928" y="2688336"/>
            <a:ext cx="804672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TOPIC 9  ·  AI CAPITAL-BUDGETING DASHBOARD</a:t>
            </a:r>
            <a:endParaRPr lang="en-US" sz="1150" dirty="0"/>
          </a:p>
        </p:txBody>
      </p:sp>
      <p:sp>
        <p:nvSpPr>
          <p:cNvPr id="7" name="Text 5"/>
          <p:cNvSpPr/>
          <p:nvPr/>
        </p:nvSpPr>
        <p:spPr>
          <a:xfrm>
            <a:off x="566928" y="3127248"/>
            <a:ext cx="8595360" cy="310896"/>
          </a:xfrm>
          <a:prstGeom prst="rect">
            <a:avLst/>
          </a:prstGeom>
          <a:noFill/>
          <a:ln/>
        </p:spPr>
        <p:txBody>
          <a:bodyPr wrap="square" lIns="0" tIns="0" rIns="0" bIns="0" rtlCol="0" anchor="ctr"/>
          <a:lstStyle/>
          <a:p>
            <a:pPr indent="0" marL="0">
              <a:buNone/>
            </a:pPr>
            <a:r>
              <a:rPr lang="en-US" sz="1250" b="1" dirty="0">
                <a:solidFill>
                  <a:srgbClr val="F8FAFC"/>
                </a:solidFill>
                <a:latin typeface="Calibri" pitchFamily="34" charset="0"/>
                <a:ea typeface="Calibri" pitchFamily="34" charset="-122"/>
                <a:cs typeface="Calibri" pitchFamily="34" charset="-120"/>
              </a:rPr>
              <a:t>NovaRetail GCC</a:t>
            </a:r>
            <a:pPr indent="0" marL="0">
              <a:buNone/>
            </a:pPr>
            <a:r>
              <a:rPr lang="en-US" sz="1250" dirty="0">
                <a:solidFill>
                  <a:srgbClr val="94A3B8"/>
                </a:solidFill>
                <a:latin typeface="Calibri" pitchFamily="34" charset="0"/>
                <a:ea typeface="Calibri" pitchFamily="34" charset="-122"/>
                <a:cs typeface="Calibri" pitchFamily="34" charset="-120"/>
              </a:rPr>
              <a:t>  ·  Automated Micro-Fulfilment Centre, Dubai  ·  AED 24.0M over 6 years at an 11.50% WACC</a:t>
            </a:r>
            <a:endParaRPr lang="en-US" sz="1250" dirty="0"/>
          </a:p>
        </p:txBody>
      </p:sp>
      <p:sp>
        <p:nvSpPr>
          <p:cNvPr id="8" name="Shape 6"/>
          <p:cNvSpPr/>
          <p:nvPr/>
        </p:nvSpPr>
        <p:spPr>
          <a:xfrm>
            <a:off x="566928" y="3822192"/>
            <a:ext cx="2613584"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9" name="Text 7"/>
          <p:cNvSpPr/>
          <p:nvPr/>
        </p:nvSpPr>
        <p:spPr>
          <a:xfrm>
            <a:off x="585216" y="3950208"/>
            <a:ext cx="2577008" cy="566928"/>
          </a:xfrm>
          <a:prstGeom prst="rect">
            <a:avLst/>
          </a:prstGeom>
          <a:noFill/>
          <a:ln/>
        </p:spPr>
        <p:txBody>
          <a:bodyPr wrap="square" lIns="0" tIns="0" rIns="0" bIns="0" rtlCol="0" anchor="ctr"/>
          <a:lstStyle/>
          <a:p>
            <a:pPr algn="ctr" indent="0" marL="0">
              <a:buNone/>
            </a:pPr>
            <a:r>
              <a:rPr lang="en-US" sz="2700" b="1" dirty="0">
                <a:solidFill>
                  <a:srgbClr val="34D399"/>
                </a:solidFill>
                <a:latin typeface="Cambria" pitchFamily="34" charset="0"/>
                <a:ea typeface="Cambria" pitchFamily="34" charset="-122"/>
                <a:cs typeface="Cambria" pitchFamily="34" charset="-120"/>
              </a:rPr>
              <a:t>AED 12.08M</a:t>
            </a:r>
            <a:endParaRPr lang="en-US" sz="2700" dirty="0"/>
          </a:p>
        </p:txBody>
      </p:sp>
      <p:sp>
        <p:nvSpPr>
          <p:cNvPr id="10" name="Text 8"/>
          <p:cNvSpPr/>
          <p:nvPr/>
        </p:nvSpPr>
        <p:spPr>
          <a:xfrm>
            <a:off x="585216" y="4535424"/>
            <a:ext cx="2577008"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Net present value</a:t>
            </a:r>
            <a:endParaRPr lang="en-US" sz="1050" dirty="0"/>
          </a:p>
        </p:txBody>
      </p:sp>
      <p:sp>
        <p:nvSpPr>
          <p:cNvPr id="11" name="Shape 9"/>
          <p:cNvSpPr/>
          <p:nvPr/>
        </p:nvSpPr>
        <p:spPr>
          <a:xfrm>
            <a:off x="3381680" y="3822192"/>
            <a:ext cx="2613584"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2" name="Text 10"/>
          <p:cNvSpPr/>
          <p:nvPr/>
        </p:nvSpPr>
        <p:spPr>
          <a:xfrm>
            <a:off x="3399968" y="3950208"/>
            <a:ext cx="2577008" cy="566928"/>
          </a:xfrm>
          <a:prstGeom prst="rect">
            <a:avLst/>
          </a:prstGeom>
          <a:noFill/>
          <a:ln/>
        </p:spPr>
        <p:txBody>
          <a:bodyPr wrap="square" lIns="0" tIns="0" rIns="0" bIns="0" rtlCol="0" anchor="ctr"/>
          <a:lstStyle/>
          <a:p>
            <a:pPr algn="ctr" indent="0" marL="0">
              <a:buNone/>
            </a:pPr>
            <a:r>
              <a:rPr lang="en-US" sz="2700" b="1" dirty="0">
                <a:solidFill>
                  <a:srgbClr val="34D399"/>
                </a:solidFill>
                <a:latin typeface="Cambria" pitchFamily="34" charset="0"/>
                <a:ea typeface="Cambria" pitchFamily="34" charset="-122"/>
                <a:cs typeface="Cambria" pitchFamily="34" charset="-120"/>
              </a:rPr>
              <a:t>26.30%</a:t>
            </a:r>
            <a:endParaRPr lang="en-US" sz="2700" dirty="0"/>
          </a:p>
        </p:txBody>
      </p:sp>
      <p:sp>
        <p:nvSpPr>
          <p:cNvPr id="13" name="Text 11"/>
          <p:cNvSpPr/>
          <p:nvPr/>
        </p:nvSpPr>
        <p:spPr>
          <a:xfrm>
            <a:off x="3399968" y="4535424"/>
            <a:ext cx="2577008"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Internal rate of return</a:t>
            </a:r>
            <a:endParaRPr lang="en-US" sz="1050" dirty="0"/>
          </a:p>
        </p:txBody>
      </p:sp>
      <p:sp>
        <p:nvSpPr>
          <p:cNvPr id="14" name="Shape 12"/>
          <p:cNvSpPr/>
          <p:nvPr/>
        </p:nvSpPr>
        <p:spPr>
          <a:xfrm>
            <a:off x="6196432" y="3822192"/>
            <a:ext cx="2613584"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5" name="Text 13"/>
          <p:cNvSpPr/>
          <p:nvPr/>
        </p:nvSpPr>
        <p:spPr>
          <a:xfrm>
            <a:off x="6214720" y="3950208"/>
            <a:ext cx="2577008" cy="566928"/>
          </a:xfrm>
          <a:prstGeom prst="rect">
            <a:avLst/>
          </a:prstGeom>
          <a:noFill/>
          <a:ln/>
        </p:spPr>
        <p:txBody>
          <a:bodyPr wrap="square" lIns="0" tIns="0" rIns="0" bIns="0" rtlCol="0" anchor="ctr"/>
          <a:lstStyle/>
          <a:p>
            <a:pPr algn="ctr" indent="0" marL="0">
              <a:buNone/>
            </a:pPr>
            <a:r>
              <a:rPr lang="en-US" sz="2700" b="1" dirty="0">
                <a:solidFill>
                  <a:srgbClr val="F8FAFC"/>
                </a:solidFill>
                <a:latin typeface="Cambria" pitchFamily="34" charset="0"/>
                <a:ea typeface="Cambria" pitchFamily="34" charset="-122"/>
                <a:cs typeface="Cambria" pitchFamily="34" charset="-120"/>
              </a:rPr>
              <a:t>1.504x</a:t>
            </a:r>
            <a:endParaRPr lang="en-US" sz="2700" dirty="0"/>
          </a:p>
        </p:txBody>
      </p:sp>
      <p:sp>
        <p:nvSpPr>
          <p:cNvPr id="16" name="Text 14"/>
          <p:cNvSpPr/>
          <p:nvPr/>
        </p:nvSpPr>
        <p:spPr>
          <a:xfrm>
            <a:off x="6214720" y="4535424"/>
            <a:ext cx="2577008"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Profitability index</a:t>
            </a:r>
            <a:endParaRPr lang="en-US" sz="1050" dirty="0"/>
          </a:p>
        </p:txBody>
      </p:sp>
      <p:sp>
        <p:nvSpPr>
          <p:cNvPr id="17" name="Shape 15"/>
          <p:cNvSpPr/>
          <p:nvPr/>
        </p:nvSpPr>
        <p:spPr>
          <a:xfrm>
            <a:off x="9011183" y="3822192"/>
            <a:ext cx="2613584"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8" name="Text 16"/>
          <p:cNvSpPr/>
          <p:nvPr/>
        </p:nvSpPr>
        <p:spPr>
          <a:xfrm>
            <a:off x="9029471" y="3950208"/>
            <a:ext cx="2577008" cy="566928"/>
          </a:xfrm>
          <a:prstGeom prst="rect">
            <a:avLst/>
          </a:prstGeom>
          <a:noFill/>
          <a:ln/>
        </p:spPr>
        <p:txBody>
          <a:bodyPr wrap="square" lIns="0" tIns="0" rIns="0" bIns="0" rtlCol="0" anchor="ctr"/>
          <a:lstStyle/>
          <a:p>
            <a:pPr algn="ctr" indent="0" marL="0">
              <a:buNone/>
            </a:pPr>
            <a:r>
              <a:rPr lang="en-US" sz="2700" b="1" dirty="0">
                <a:solidFill>
                  <a:srgbClr val="F8FAFC"/>
                </a:solidFill>
                <a:latin typeface="Cambria" pitchFamily="34" charset="0"/>
                <a:ea typeface="Cambria" pitchFamily="34" charset="-122"/>
                <a:cs typeface="Cambria" pitchFamily="34" charset="-120"/>
              </a:rPr>
              <a:t>3.10 yrs</a:t>
            </a:r>
            <a:endParaRPr lang="en-US" sz="2700" dirty="0"/>
          </a:p>
        </p:txBody>
      </p:sp>
      <p:sp>
        <p:nvSpPr>
          <p:cNvPr id="19" name="Text 17"/>
          <p:cNvSpPr/>
          <p:nvPr/>
        </p:nvSpPr>
        <p:spPr>
          <a:xfrm>
            <a:off x="9029471" y="4535424"/>
            <a:ext cx="2577008"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Payback period</a:t>
            </a:r>
            <a:endParaRPr lang="en-US" sz="1050" dirty="0"/>
          </a:p>
        </p:txBody>
      </p:sp>
      <p:sp>
        <p:nvSpPr>
          <p:cNvPr id="20" name="Shape 18"/>
          <p:cNvSpPr/>
          <p:nvPr/>
        </p:nvSpPr>
        <p:spPr>
          <a:xfrm>
            <a:off x="566928" y="5230368"/>
            <a:ext cx="11057839" cy="566928"/>
          </a:xfrm>
          <a:prstGeom prst="roundRect">
            <a:avLst>
              <a:gd name="adj" fmla="val 16129"/>
            </a:avLst>
          </a:prstGeom>
          <a:solidFill>
            <a:srgbClr val="0F3B2E"/>
          </a:solidFill>
          <a:ln w="12700">
            <a:solidFill>
              <a:srgbClr val="34D399"/>
            </a:solidFill>
            <a:prstDash val="solid"/>
          </a:ln>
        </p:spPr>
      </p:sp>
      <p:sp>
        <p:nvSpPr>
          <p:cNvPr id="21" name="Text 19"/>
          <p:cNvSpPr/>
          <p:nvPr/>
        </p:nvSpPr>
        <p:spPr>
          <a:xfrm>
            <a:off x="566928" y="5230368"/>
            <a:ext cx="11057839" cy="566928"/>
          </a:xfrm>
          <a:prstGeom prst="rect">
            <a:avLst/>
          </a:prstGeom>
          <a:noFill/>
          <a:ln/>
        </p:spPr>
        <p:txBody>
          <a:bodyPr wrap="square" lIns="0" tIns="0" rIns="0" bIns="0" rtlCol="0" anchor="ctr"/>
          <a:lstStyle/>
          <a:p>
            <a:pPr algn="ctr" indent="0" marL="0">
              <a:buNone/>
            </a:pPr>
            <a:r>
              <a:rPr lang="en-US" sz="1350" b="1" dirty="0">
                <a:solidFill>
                  <a:srgbClr val="34D399"/>
                </a:solidFill>
                <a:latin typeface="Calibri" pitchFamily="34" charset="0"/>
                <a:ea typeface="Calibri" pitchFamily="34" charset="-122"/>
                <a:cs typeface="Calibri" pitchFamily="34" charset="-120"/>
              </a:rPr>
              <a:t>RECOMMENDATION:  APPROVE  —  conditional on measured Year-1 savings and a vendor performance guarantee</a:t>
            </a:r>
            <a:endParaRPr lang="en-US" sz="1350" dirty="0"/>
          </a:p>
        </p:txBody>
      </p:sp>
      <p:sp>
        <p:nvSpPr>
          <p:cNvPr id="22" name="Text 20"/>
          <p:cNvSpPr/>
          <p:nvPr/>
        </p:nvSpPr>
        <p:spPr>
          <a:xfrm>
            <a:off x="566928" y="5925312"/>
            <a:ext cx="11057839" cy="256032"/>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Deterministic finance engine  ·  16 AI capabilities  ·  8 investment archetypes  ·  Role-based access control</a:t>
            </a:r>
            <a:endParaRPr lang="en-US" sz="1100" dirty="0"/>
          </a:p>
        </p:txBody>
      </p:sp>
      <p:sp>
        <p:nvSpPr>
          <p:cNvPr id="23" name="Text 21"/>
          <p:cNvSpPr/>
          <p:nvPr/>
        </p:nvSpPr>
        <p:spPr>
          <a:xfrm>
            <a:off x="566928" y="6217920"/>
            <a:ext cx="11057839" cy="256032"/>
          </a:xfrm>
          <a:prstGeom prst="rect">
            <a:avLst/>
          </a:prstGeom>
          <a:noFill/>
          <a:ln/>
        </p:spPr>
        <p:txBody>
          <a:bodyPr wrap="square" lIns="0" tIns="0" rIns="0" bIns="0"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Krishna Mathur  ·  Neel Kapadia  ·  Yash Petkar  ·  Atharva Soundankar  ·  Tanishk Verma  ·  Nihal Pusthe  ·  Karan Baid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DECISION</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Automate fulfilment, or keep picking by hand</a:t>
            </a:r>
            <a:endParaRPr lang="en-US" sz="3000" dirty="0"/>
          </a:p>
        </p:txBody>
      </p:sp>
      <p:sp>
        <p:nvSpPr>
          <p:cNvPr id="4" name="Shape 2"/>
          <p:cNvSpPr/>
          <p:nvPr/>
        </p:nvSpPr>
        <p:spPr>
          <a:xfrm>
            <a:off x="9475927" y="384048"/>
            <a:ext cx="2148840" cy="384048"/>
          </a:xfrm>
          <a:prstGeom prst="roundRect">
            <a:avLst>
              <a:gd name="adj" fmla="val 50000"/>
            </a:avLst>
          </a:prstGeom>
          <a:solidFill>
            <a:srgbClr val="13314E"/>
          </a:solidFill>
          <a:ln w="12700">
            <a:solidFill>
              <a:srgbClr val="22D3EE"/>
            </a:solidFill>
            <a:prstDash val="solid"/>
          </a:ln>
        </p:spPr>
      </p:sp>
      <p:sp>
        <p:nvSpPr>
          <p:cNvPr id="5" name="Text 3"/>
          <p:cNvSpPr/>
          <p:nvPr/>
        </p:nvSpPr>
        <p:spPr>
          <a:xfrm>
            <a:off x="9475927" y="384048"/>
            <a:ext cx="2148840" cy="384048"/>
          </a:xfrm>
          <a:prstGeom prst="rect">
            <a:avLst/>
          </a:prstGeom>
          <a:noFill/>
          <a:ln/>
        </p:spPr>
        <p:txBody>
          <a:bodyPr wrap="square" lIns="0" tIns="0" rIns="0" bIns="0" rtlCol="0" anchor="ctr"/>
          <a:lstStyle/>
          <a:p>
            <a:pPr algn="ctr" indent="0" marL="0">
              <a:buNone/>
            </a:pPr>
            <a:r>
              <a:rPr lang="en-US" sz="1150" b="1" dirty="0">
                <a:solidFill>
                  <a:srgbClr val="22D3EE"/>
                </a:solidFill>
                <a:latin typeface="Calibri" pitchFamily="34" charset="0"/>
                <a:ea typeface="Calibri" pitchFamily="34" charset="-122"/>
                <a:cs typeface="Calibri" pitchFamily="34" charset="-120"/>
              </a:rPr>
              <a:t>QUESTION 1</a:t>
            </a:r>
            <a:endParaRPr lang="en-US" sz="1150" dirty="0"/>
          </a:p>
        </p:txBody>
      </p:sp>
      <p:sp>
        <p:nvSpPr>
          <p:cNvPr id="6" name="Shape 4"/>
          <p:cNvSpPr/>
          <p:nvPr/>
        </p:nvSpPr>
        <p:spPr>
          <a:xfrm>
            <a:off x="566928" y="1335024"/>
            <a:ext cx="5230368" cy="2011680"/>
          </a:xfrm>
          <a:prstGeom prst="roundRect">
            <a:avLst>
              <a:gd name="adj" fmla="val 454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7" name="Shape 5"/>
          <p:cNvSpPr/>
          <p:nvPr/>
        </p:nvSpPr>
        <p:spPr>
          <a:xfrm>
            <a:off x="822960" y="1572768"/>
            <a:ext cx="310896" cy="310896"/>
          </a:xfrm>
          <a:prstGeom prst="ellipse">
            <a:avLst/>
          </a:prstGeom>
          <a:solidFill>
            <a:srgbClr val="22D3EE"/>
          </a:solidFill>
          <a:ln w="12700">
            <a:solidFill>
              <a:srgbClr val="22D3EE"/>
            </a:solidFill>
            <a:prstDash val="solid"/>
          </a:ln>
        </p:spPr>
      </p:sp>
      <p:sp>
        <p:nvSpPr>
          <p:cNvPr id="8" name="Text 6"/>
          <p:cNvSpPr/>
          <p:nvPr/>
        </p:nvSpPr>
        <p:spPr>
          <a:xfrm>
            <a:off x="822960" y="1572768"/>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261872" y="1554480"/>
            <a:ext cx="4206240" cy="310896"/>
          </a:xfrm>
          <a:prstGeom prst="rect">
            <a:avLst/>
          </a:prstGeom>
          <a:noFill/>
          <a:ln/>
        </p:spPr>
        <p:txBody>
          <a:bodyPr wrap="square" lIns="0" tIns="0" rIns="0" bIns="0" rtlCol="0" anchor="ctr"/>
          <a:lstStyle/>
          <a:p>
            <a:pPr indent="0" marL="0">
              <a:buNone/>
            </a:pPr>
            <a:r>
              <a:rPr lang="en-US" sz="1450" b="1" dirty="0">
                <a:solidFill>
                  <a:srgbClr val="F8FAFC"/>
                </a:solidFill>
                <a:latin typeface="Calibri" pitchFamily="34" charset="0"/>
                <a:ea typeface="Calibri" pitchFamily="34" charset="-122"/>
                <a:cs typeface="Calibri" pitchFamily="34" charset="-120"/>
              </a:rPr>
              <a:t>The operating problem</a:t>
            </a:r>
            <a:endParaRPr lang="en-US" sz="1450" dirty="0"/>
          </a:p>
        </p:txBody>
      </p:sp>
      <p:sp>
        <p:nvSpPr>
          <p:cNvPr id="10" name="Text 8"/>
          <p:cNvSpPr/>
          <p:nvPr/>
        </p:nvSpPr>
        <p:spPr>
          <a:xfrm>
            <a:off x="841248" y="1975104"/>
            <a:ext cx="4700016" cy="1243584"/>
          </a:xfrm>
          <a:prstGeom prst="rect">
            <a:avLst/>
          </a:prstGeom>
          <a:noFill/>
          <a:ln/>
        </p:spPr>
        <p:txBody>
          <a:bodyPr wrap="square" lIns="0" tIns="0" rIns="0" bIns="0" rtlCol="0" anchor="ctr"/>
          <a:lstStyle/>
          <a:p>
            <a:pPr indent="0" marL="0">
              <a:lnSpc>
                <a:spcPts val="1700"/>
              </a:lnSpc>
              <a:buNone/>
            </a:pPr>
            <a:r>
              <a:rPr lang="en-US" sz="1200" b="1" dirty="0">
                <a:solidFill>
                  <a:srgbClr val="F87171"/>
                </a:solidFill>
                <a:latin typeface="Calibri" pitchFamily="34" charset="0"/>
                <a:ea typeface="Calibri" pitchFamily="34" charset="-122"/>
                <a:cs typeface="Calibri" pitchFamily="34" charset="-120"/>
              </a:rPr>
              <a:t>AED 14.50 </a:t>
            </a:r>
            <a:pPr indent="0" marL="0">
              <a:lnSpc>
                <a:spcPts val="1700"/>
              </a:lnSpc>
              <a:buNone/>
            </a:pPr>
            <a:r>
              <a:rPr lang="en-US" sz="1200" dirty="0">
                <a:solidFill>
                  <a:srgbClr val="CADCFC"/>
                </a:solidFill>
                <a:latin typeface="Calibri" pitchFamily="34" charset="0"/>
                <a:ea typeface="Calibri" pitchFamily="34" charset="-122"/>
                <a:cs typeface="Calibri" pitchFamily="34" charset="-120"/>
              </a:rPr>
              <a:t>direct cost per order, picked manually from store back-rooms</a:t>
            </a:r>
            <a:endParaRPr lang="en-US" sz="1200" dirty="0"/>
          </a:p>
          <a:p>
            <a:pPr indent="0" marL="0">
              <a:lnSpc>
                <a:spcPts val="1700"/>
              </a:lnSpc>
              <a:buNone/>
            </a:pPr>
            <a:r>
              <a:rPr lang="en-US" sz="1200" dirty="0">
                <a:solidFill>
                  <a:srgbClr val="CADCFC"/>
                </a:solidFill>
                <a:latin typeface="Calibri" pitchFamily="34" charset="0"/>
                <a:ea typeface="Calibri" pitchFamily="34" charset="-122"/>
                <a:cs typeface="Calibri" pitchFamily="34" charset="-120"/>
              </a:rPr>
              <a:t>Picking capacity now caps growth in the exact Dubai postcodes where demand is rising fastest</a:t>
            </a:r>
            <a:endParaRPr lang="en-US" sz="1200" dirty="0"/>
          </a:p>
          <a:p>
            <a:pPr indent="0" marL="0">
              <a:lnSpc>
                <a:spcPts val="1700"/>
              </a:lnSpc>
              <a:buNone/>
            </a:pPr>
            <a:r>
              <a:rPr lang="en-US" sz="1200" dirty="0">
                <a:solidFill>
                  <a:srgbClr val="CADCFC"/>
                </a:solidFill>
                <a:latin typeface="Calibri" pitchFamily="34" charset="0"/>
                <a:ea typeface="Calibri" pitchFamily="34" charset="-122"/>
                <a:cs typeface="Calibri" pitchFamily="34" charset="-120"/>
              </a:rPr>
              <a:t>Automation takes cost to </a:t>
            </a:r>
            <a:pPr indent="0" marL="0">
              <a:lnSpc>
                <a:spcPts val="1700"/>
              </a:lnSpc>
              <a:buNone/>
            </a:pPr>
            <a:r>
              <a:rPr lang="en-US" sz="1200" b="1" dirty="0">
                <a:solidFill>
                  <a:srgbClr val="34D399"/>
                </a:solidFill>
                <a:latin typeface="Calibri" pitchFamily="34" charset="0"/>
                <a:ea typeface="Calibri" pitchFamily="34" charset="-122"/>
                <a:cs typeface="Calibri" pitchFamily="34" charset="-120"/>
              </a:rPr>
              <a:t>AED 4.20 </a:t>
            </a:r>
            <a:pPr indent="0" marL="0">
              <a:lnSpc>
                <a:spcPts val="1700"/>
              </a:lnSpc>
              <a:buNone/>
            </a:pPr>
            <a:r>
              <a:rPr lang="en-US" sz="1200" dirty="0">
                <a:solidFill>
                  <a:srgbClr val="CADCFC"/>
                </a:solidFill>
                <a:latin typeface="Calibri" pitchFamily="34" charset="0"/>
                <a:ea typeface="Calibri" pitchFamily="34" charset="-122"/>
                <a:cs typeface="Calibri" pitchFamily="34" charset="-120"/>
              </a:rPr>
              <a:t>and capacity to 8,000 orders a day</a:t>
            </a:r>
            <a:endParaRPr lang="en-US" sz="1200" dirty="0"/>
          </a:p>
        </p:txBody>
      </p:sp>
      <p:sp>
        <p:nvSpPr>
          <p:cNvPr id="11" name="Shape 9"/>
          <p:cNvSpPr/>
          <p:nvPr/>
        </p:nvSpPr>
        <p:spPr>
          <a:xfrm>
            <a:off x="5998464" y="1335024"/>
            <a:ext cx="5626303" cy="2011680"/>
          </a:xfrm>
          <a:prstGeom prst="roundRect">
            <a:avLst>
              <a:gd name="adj" fmla="val 454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2" name="Shape 10"/>
          <p:cNvSpPr/>
          <p:nvPr/>
        </p:nvSpPr>
        <p:spPr>
          <a:xfrm>
            <a:off x="6254496" y="1572768"/>
            <a:ext cx="310896" cy="310896"/>
          </a:xfrm>
          <a:prstGeom prst="ellipse">
            <a:avLst/>
          </a:prstGeom>
          <a:solidFill>
            <a:srgbClr val="22D3EE"/>
          </a:solidFill>
          <a:ln w="12700">
            <a:solidFill>
              <a:srgbClr val="22D3EE"/>
            </a:solidFill>
            <a:prstDash val="solid"/>
          </a:ln>
        </p:spPr>
      </p:sp>
      <p:sp>
        <p:nvSpPr>
          <p:cNvPr id="13" name="Text 11"/>
          <p:cNvSpPr/>
          <p:nvPr/>
        </p:nvSpPr>
        <p:spPr>
          <a:xfrm>
            <a:off x="6254496" y="1572768"/>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a:t>
            </a:r>
            <a:endParaRPr lang="en-US" sz="1300" dirty="0"/>
          </a:p>
        </p:txBody>
      </p:sp>
      <p:sp>
        <p:nvSpPr>
          <p:cNvPr id="14" name="Text 12"/>
          <p:cNvSpPr/>
          <p:nvPr/>
        </p:nvSpPr>
        <p:spPr>
          <a:xfrm>
            <a:off x="6693408" y="1554480"/>
            <a:ext cx="4572000" cy="310896"/>
          </a:xfrm>
          <a:prstGeom prst="rect">
            <a:avLst/>
          </a:prstGeom>
          <a:noFill/>
          <a:ln/>
        </p:spPr>
        <p:txBody>
          <a:bodyPr wrap="square" lIns="0" tIns="0" rIns="0" bIns="0" rtlCol="0" anchor="ctr"/>
          <a:lstStyle/>
          <a:p>
            <a:pPr indent="0" marL="0">
              <a:buNone/>
            </a:pPr>
            <a:r>
              <a:rPr lang="en-US" sz="1450" b="1" dirty="0">
                <a:solidFill>
                  <a:srgbClr val="F8FAFC"/>
                </a:solidFill>
                <a:latin typeface="Calibri" pitchFamily="34" charset="0"/>
                <a:ea typeface="Calibri" pitchFamily="34" charset="-122"/>
                <a:cs typeface="Calibri" pitchFamily="34" charset="-120"/>
              </a:rPr>
              <a:t>Four mutually exclusive options</a:t>
            </a:r>
            <a:endParaRPr lang="en-US" sz="1450" dirty="0"/>
          </a:p>
        </p:txBody>
      </p:sp>
      <p:sp>
        <p:nvSpPr>
          <p:cNvPr id="15" name="Text 13"/>
          <p:cNvSpPr/>
          <p:nvPr/>
        </p:nvSpPr>
        <p:spPr>
          <a:xfrm>
            <a:off x="6272784" y="2011680"/>
            <a:ext cx="237744" cy="274320"/>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1</a:t>
            </a:r>
            <a:endParaRPr lang="en-US" sz="1150" dirty="0"/>
          </a:p>
        </p:txBody>
      </p:sp>
      <p:sp>
        <p:nvSpPr>
          <p:cNvPr id="16" name="Text 14"/>
          <p:cNvSpPr/>
          <p:nvPr/>
        </p:nvSpPr>
        <p:spPr>
          <a:xfrm>
            <a:off x="6565392" y="2011680"/>
            <a:ext cx="466344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Commit the full AED 24.0M now</a:t>
            </a:r>
            <a:endParaRPr lang="en-US" sz="1200" dirty="0"/>
          </a:p>
        </p:txBody>
      </p:sp>
      <p:sp>
        <p:nvSpPr>
          <p:cNvPr id="17" name="Text 15"/>
          <p:cNvSpPr/>
          <p:nvPr/>
        </p:nvSpPr>
        <p:spPr>
          <a:xfrm>
            <a:off x="6272784" y="2331720"/>
            <a:ext cx="237744" cy="274320"/>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2</a:t>
            </a:r>
            <a:endParaRPr lang="en-US" sz="1150" dirty="0"/>
          </a:p>
        </p:txBody>
      </p:sp>
      <p:sp>
        <p:nvSpPr>
          <p:cNvPr id="18" name="Text 16"/>
          <p:cNvSpPr/>
          <p:nvPr/>
        </p:nvSpPr>
        <p:spPr>
          <a:xfrm>
            <a:off x="6565392" y="2331720"/>
            <a:ext cx="466344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Release AED 14.0M, gate AED 10.0M on Year-1 savings</a:t>
            </a:r>
            <a:endParaRPr lang="en-US" sz="1200" dirty="0"/>
          </a:p>
        </p:txBody>
      </p:sp>
      <p:sp>
        <p:nvSpPr>
          <p:cNvPr id="19" name="Text 17"/>
          <p:cNvSpPr/>
          <p:nvPr/>
        </p:nvSpPr>
        <p:spPr>
          <a:xfrm>
            <a:off x="6272784" y="2651760"/>
            <a:ext cx="237744" cy="274320"/>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3</a:t>
            </a:r>
            <a:endParaRPr lang="en-US" sz="1150" dirty="0"/>
          </a:p>
        </p:txBody>
      </p:sp>
      <p:sp>
        <p:nvSpPr>
          <p:cNvPr id="20" name="Text 18"/>
          <p:cNvSpPr/>
          <p:nvPr/>
        </p:nvSpPr>
        <p:spPr>
          <a:xfrm>
            <a:off x="6565392" y="2651760"/>
            <a:ext cx="466344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Defer 12 months pending vendor evidence</a:t>
            </a:r>
            <a:endParaRPr lang="en-US" sz="1200" dirty="0"/>
          </a:p>
        </p:txBody>
      </p:sp>
      <p:sp>
        <p:nvSpPr>
          <p:cNvPr id="21" name="Text 19"/>
          <p:cNvSpPr/>
          <p:nvPr/>
        </p:nvSpPr>
        <p:spPr>
          <a:xfrm>
            <a:off x="6272784" y="2971800"/>
            <a:ext cx="237744" cy="274320"/>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4</a:t>
            </a:r>
            <a:endParaRPr lang="en-US" sz="1150" dirty="0"/>
          </a:p>
        </p:txBody>
      </p:sp>
      <p:sp>
        <p:nvSpPr>
          <p:cNvPr id="22" name="Text 20"/>
          <p:cNvSpPr/>
          <p:nvPr/>
        </p:nvSpPr>
        <p:spPr>
          <a:xfrm>
            <a:off x="6565392" y="2971800"/>
            <a:ext cx="4663440" cy="27432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Reject and retain manual fulfilment</a:t>
            </a:r>
            <a:endParaRPr lang="en-US" sz="1200" dirty="0"/>
          </a:p>
        </p:txBody>
      </p:sp>
      <p:sp>
        <p:nvSpPr>
          <p:cNvPr id="23" name="Shape 21"/>
          <p:cNvSpPr/>
          <p:nvPr/>
        </p:nvSpPr>
        <p:spPr>
          <a:xfrm>
            <a:off x="566928" y="3529584"/>
            <a:ext cx="11057839" cy="1188720"/>
          </a:xfrm>
          <a:prstGeom prst="roundRect">
            <a:avLst>
              <a:gd name="adj" fmla="val 7692"/>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4" name="Text 22"/>
          <p:cNvSpPr/>
          <p:nvPr/>
        </p:nvSpPr>
        <p:spPr>
          <a:xfrm>
            <a:off x="841248" y="3657600"/>
            <a:ext cx="2743200" cy="274320"/>
          </a:xfrm>
          <a:prstGeom prst="rect">
            <a:avLst/>
          </a:prstGeom>
          <a:noFill/>
          <a:ln/>
        </p:spPr>
        <p:txBody>
          <a:bodyPr wrap="square" lIns="0" tIns="0" rIns="0" bIns="0" rtlCol="0" anchor="ctr"/>
          <a:lstStyle/>
          <a:p>
            <a:pPr indent="0" marL="0">
              <a:buNone/>
            </a:pPr>
            <a:r>
              <a:rPr lang="en-US" sz="1450" b="1" dirty="0">
                <a:solidFill>
                  <a:srgbClr val="22D3EE"/>
                </a:solidFill>
                <a:latin typeface="Calibri" pitchFamily="34" charset="0"/>
                <a:ea typeface="Calibri" pitchFamily="34" charset="-122"/>
                <a:cs typeface="Calibri" pitchFamily="34" charset="-120"/>
              </a:rPr>
              <a:t>Why it matters</a:t>
            </a:r>
            <a:endParaRPr lang="en-US" sz="1450" dirty="0"/>
          </a:p>
        </p:txBody>
      </p:sp>
      <p:sp>
        <p:nvSpPr>
          <p:cNvPr id="25" name="Text 23"/>
          <p:cNvSpPr/>
          <p:nvPr/>
        </p:nvSpPr>
        <p:spPr>
          <a:xfrm>
            <a:off x="841248" y="3968496"/>
            <a:ext cx="10509199" cy="65836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AED 24.0M is a material share of the annual capital budget, the assets are highly specific and hard to redeploy, and the error is asymmetric in both directions — approving a weak case strands capital in illiquid robotics, while rejecting a strong one forfeits a defensible position in a market that is consolidating.</a:t>
            </a:r>
            <a:endParaRPr lang="en-US" sz="1300" dirty="0"/>
          </a:p>
        </p:txBody>
      </p:sp>
      <p:sp>
        <p:nvSpPr>
          <p:cNvPr id="26" name="Shape 24"/>
          <p:cNvSpPr/>
          <p:nvPr/>
        </p:nvSpPr>
        <p:spPr>
          <a:xfrm>
            <a:off x="566928" y="4901184"/>
            <a:ext cx="2613584"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7" name="Text 25"/>
          <p:cNvSpPr/>
          <p:nvPr/>
        </p:nvSpPr>
        <p:spPr>
          <a:xfrm>
            <a:off x="585216" y="5029200"/>
            <a:ext cx="2577008" cy="566928"/>
          </a:xfrm>
          <a:prstGeom prst="rect">
            <a:avLst/>
          </a:prstGeom>
          <a:noFill/>
          <a:ln/>
        </p:spPr>
        <p:txBody>
          <a:bodyPr wrap="square" lIns="0" tIns="0" rIns="0" bIns="0" rtlCol="0" anchor="ctr"/>
          <a:lstStyle/>
          <a:p>
            <a:pPr algn="ctr" indent="0" marL="0">
              <a:buNone/>
            </a:pPr>
            <a:r>
              <a:rPr lang="en-US" sz="2700" b="1" dirty="0">
                <a:solidFill>
                  <a:srgbClr val="F8FAFC"/>
                </a:solidFill>
                <a:latin typeface="Cambria" pitchFamily="34" charset="0"/>
                <a:ea typeface="Cambria" pitchFamily="34" charset="-122"/>
                <a:cs typeface="Cambria" pitchFamily="34" charset="-120"/>
              </a:rPr>
              <a:t>AED 22.0M</a:t>
            </a:r>
            <a:endParaRPr lang="en-US" sz="2700" dirty="0"/>
          </a:p>
        </p:txBody>
      </p:sp>
      <p:sp>
        <p:nvSpPr>
          <p:cNvPr id="28" name="Text 26"/>
          <p:cNvSpPr/>
          <p:nvPr/>
        </p:nvSpPr>
        <p:spPr>
          <a:xfrm>
            <a:off x="585216" y="5614416"/>
            <a:ext cx="2577008"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Capital expenditure</a:t>
            </a:r>
            <a:endParaRPr lang="en-US" sz="1050" dirty="0"/>
          </a:p>
        </p:txBody>
      </p:sp>
      <p:sp>
        <p:nvSpPr>
          <p:cNvPr id="29" name="Shape 27"/>
          <p:cNvSpPr/>
          <p:nvPr/>
        </p:nvSpPr>
        <p:spPr>
          <a:xfrm>
            <a:off x="3381680" y="4901184"/>
            <a:ext cx="2613584"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0" name="Text 28"/>
          <p:cNvSpPr/>
          <p:nvPr/>
        </p:nvSpPr>
        <p:spPr>
          <a:xfrm>
            <a:off x="3399968" y="5029200"/>
            <a:ext cx="2577008" cy="566928"/>
          </a:xfrm>
          <a:prstGeom prst="rect">
            <a:avLst/>
          </a:prstGeom>
          <a:noFill/>
          <a:ln/>
        </p:spPr>
        <p:txBody>
          <a:bodyPr wrap="square" lIns="0" tIns="0" rIns="0" bIns="0" rtlCol="0" anchor="ctr"/>
          <a:lstStyle/>
          <a:p>
            <a:pPr algn="ctr" indent="0" marL="0">
              <a:buNone/>
            </a:pPr>
            <a:r>
              <a:rPr lang="en-US" sz="2700" b="1" dirty="0">
                <a:solidFill>
                  <a:srgbClr val="F8FAFC"/>
                </a:solidFill>
                <a:latin typeface="Cambria" pitchFamily="34" charset="0"/>
                <a:ea typeface="Cambria" pitchFamily="34" charset="-122"/>
                <a:cs typeface="Cambria" pitchFamily="34" charset="-120"/>
              </a:rPr>
              <a:t>AED 2.0M</a:t>
            </a:r>
            <a:endParaRPr lang="en-US" sz="2700" dirty="0"/>
          </a:p>
        </p:txBody>
      </p:sp>
      <p:sp>
        <p:nvSpPr>
          <p:cNvPr id="31" name="Text 29"/>
          <p:cNvSpPr/>
          <p:nvPr/>
        </p:nvSpPr>
        <p:spPr>
          <a:xfrm>
            <a:off x="3399968" y="5614416"/>
            <a:ext cx="2577008"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Working capital</a:t>
            </a:r>
            <a:endParaRPr lang="en-US" sz="1050" dirty="0"/>
          </a:p>
        </p:txBody>
      </p:sp>
      <p:sp>
        <p:nvSpPr>
          <p:cNvPr id="32" name="Shape 30"/>
          <p:cNvSpPr/>
          <p:nvPr/>
        </p:nvSpPr>
        <p:spPr>
          <a:xfrm>
            <a:off x="6196432" y="4901184"/>
            <a:ext cx="2613584"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3" name="Text 31"/>
          <p:cNvSpPr/>
          <p:nvPr/>
        </p:nvSpPr>
        <p:spPr>
          <a:xfrm>
            <a:off x="6214720" y="5029200"/>
            <a:ext cx="2577008" cy="566928"/>
          </a:xfrm>
          <a:prstGeom prst="rect">
            <a:avLst/>
          </a:prstGeom>
          <a:noFill/>
          <a:ln/>
        </p:spPr>
        <p:txBody>
          <a:bodyPr wrap="square" lIns="0" tIns="0" rIns="0" bIns="0" rtlCol="0" anchor="ctr"/>
          <a:lstStyle/>
          <a:p>
            <a:pPr algn="ctr" indent="0" marL="0">
              <a:buNone/>
            </a:pPr>
            <a:r>
              <a:rPr lang="en-US" sz="2700" b="1" dirty="0">
                <a:solidFill>
                  <a:srgbClr val="F8FAFC"/>
                </a:solidFill>
                <a:latin typeface="Cambria" pitchFamily="34" charset="0"/>
                <a:ea typeface="Cambria" pitchFamily="34" charset="-122"/>
                <a:cs typeface="Cambria" pitchFamily="34" charset="-120"/>
              </a:rPr>
              <a:t>6 years</a:t>
            </a:r>
            <a:endParaRPr lang="en-US" sz="2700" dirty="0"/>
          </a:p>
        </p:txBody>
      </p:sp>
      <p:sp>
        <p:nvSpPr>
          <p:cNvPr id="34" name="Text 32"/>
          <p:cNvSpPr/>
          <p:nvPr/>
        </p:nvSpPr>
        <p:spPr>
          <a:xfrm>
            <a:off x="6214720" y="5614416"/>
            <a:ext cx="2577008"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Economic life</a:t>
            </a:r>
            <a:endParaRPr lang="en-US" sz="1050" dirty="0"/>
          </a:p>
        </p:txBody>
      </p:sp>
      <p:sp>
        <p:nvSpPr>
          <p:cNvPr id="35" name="Shape 33"/>
          <p:cNvSpPr/>
          <p:nvPr/>
        </p:nvSpPr>
        <p:spPr>
          <a:xfrm>
            <a:off x="9011183" y="4901184"/>
            <a:ext cx="2613584"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6" name="Text 34"/>
          <p:cNvSpPr/>
          <p:nvPr/>
        </p:nvSpPr>
        <p:spPr>
          <a:xfrm>
            <a:off x="9029471" y="5029200"/>
            <a:ext cx="2577008" cy="566928"/>
          </a:xfrm>
          <a:prstGeom prst="rect">
            <a:avLst/>
          </a:prstGeom>
          <a:noFill/>
          <a:ln/>
        </p:spPr>
        <p:txBody>
          <a:bodyPr wrap="square" lIns="0" tIns="0" rIns="0" bIns="0" rtlCol="0" anchor="ctr"/>
          <a:lstStyle/>
          <a:p>
            <a:pPr algn="ctr" indent="0" marL="0">
              <a:buNone/>
            </a:pPr>
            <a:r>
              <a:rPr lang="en-US" sz="2700" b="1" dirty="0">
                <a:solidFill>
                  <a:srgbClr val="F8FAFC"/>
                </a:solidFill>
                <a:latin typeface="Cambria" pitchFamily="34" charset="0"/>
                <a:ea typeface="Cambria" pitchFamily="34" charset="-122"/>
                <a:cs typeface="Cambria" pitchFamily="34" charset="-120"/>
              </a:rPr>
              <a:t>11.50%</a:t>
            </a:r>
            <a:endParaRPr lang="en-US" sz="2700" dirty="0"/>
          </a:p>
        </p:txBody>
      </p:sp>
      <p:sp>
        <p:nvSpPr>
          <p:cNvPr id="37" name="Text 35"/>
          <p:cNvSpPr/>
          <p:nvPr/>
        </p:nvSpPr>
        <p:spPr>
          <a:xfrm>
            <a:off x="9029471" y="5614416"/>
            <a:ext cx="2577008"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Hurdle rate (derived)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CORPORATE FINANCE METHOD</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Five formulas carry the decision</a:t>
            </a:r>
            <a:endParaRPr lang="en-US" sz="3000" dirty="0"/>
          </a:p>
        </p:txBody>
      </p:sp>
      <p:sp>
        <p:nvSpPr>
          <p:cNvPr id="4" name="Shape 2"/>
          <p:cNvSpPr/>
          <p:nvPr/>
        </p:nvSpPr>
        <p:spPr>
          <a:xfrm>
            <a:off x="9475927" y="384048"/>
            <a:ext cx="2148840" cy="384048"/>
          </a:xfrm>
          <a:prstGeom prst="roundRect">
            <a:avLst>
              <a:gd name="adj" fmla="val 50000"/>
            </a:avLst>
          </a:prstGeom>
          <a:solidFill>
            <a:srgbClr val="13314E"/>
          </a:solidFill>
          <a:ln w="12700">
            <a:solidFill>
              <a:srgbClr val="22D3EE"/>
            </a:solidFill>
            <a:prstDash val="solid"/>
          </a:ln>
        </p:spPr>
      </p:sp>
      <p:sp>
        <p:nvSpPr>
          <p:cNvPr id="5" name="Text 3"/>
          <p:cNvSpPr/>
          <p:nvPr/>
        </p:nvSpPr>
        <p:spPr>
          <a:xfrm>
            <a:off x="9475927" y="384048"/>
            <a:ext cx="2148840" cy="384048"/>
          </a:xfrm>
          <a:prstGeom prst="rect">
            <a:avLst/>
          </a:prstGeom>
          <a:noFill/>
          <a:ln/>
        </p:spPr>
        <p:txBody>
          <a:bodyPr wrap="square" lIns="0" tIns="0" rIns="0" bIns="0" rtlCol="0" anchor="ctr"/>
          <a:lstStyle/>
          <a:p>
            <a:pPr algn="ctr" indent="0" marL="0">
              <a:buNone/>
            </a:pPr>
            <a:r>
              <a:rPr lang="en-US" sz="1150" b="1" dirty="0">
                <a:solidFill>
                  <a:srgbClr val="22D3EE"/>
                </a:solidFill>
                <a:latin typeface="Calibri" pitchFamily="34" charset="0"/>
                <a:ea typeface="Calibri" pitchFamily="34" charset="-122"/>
                <a:cs typeface="Calibri" pitchFamily="34" charset="-120"/>
              </a:rPr>
              <a:t>QUESTION 2 · A</a:t>
            </a:r>
            <a:endParaRPr lang="en-US" sz="1150" dirty="0"/>
          </a:p>
        </p:txBody>
      </p:sp>
      <p:sp>
        <p:nvSpPr>
          <p:cNvPr id="6" name="Shape 4"/>
          <p:cNvSpPr/>
          <p:nvPr/>
        </p:nvSpPr>
        <p:spPr>
          <a:xfrm>
            <a:off x="566928" y="1335024"/>
            <a:ext cx="11057839" cy="621792"/>
          </a:xfrm>
          <a:prstGeom prst="roundRect">
            <a:avLst>
              <a:gd name="adj" fmla="val 14706"/>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7" name="Text 5"/>
          <p:cNvSpPr/>
          <p:nvPr/>
        </p:nvSpPr>
        <p:spPr>
          <a:xfrm>
            <a:off x="804672" y="1389888"/>
            <a:ext cx="969264" cy="512064"/>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NPV</a:t>
            </a:r>
            <a:endParaRPr lang="en-US" sz="1600" dirty="0"/>
          </a:p>
        </p:txBody>
      </p:sp>
      <p:sp>
        <p:nvSpPr>
          <p:cNvPr id="8" name="Text 6"/>
          <p:cNvSpPr/>
          <p:nvPr/>
        </p:nvSpPr>
        <p:spPr>
          <a:xfrm>
            <a:off x="1847088" y="1389888"/>
            <a:ext cx="3529584" cy="512064"/>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Σ FCFt ÷ (1 + r)^t</a:t>
            </a:r>
            <a:endParaRPr lang="en-US" sz="1200" dirty="0"/>
          </a:p>
        </p:txBody>
      </p:sp>
      <p:sp>
        <p:nvSpPr>
          <p:cNvPr id="9" name="Text 7"/>
          <p:cNvSpPr/>
          <p:nvPr/>
        </p:nvSpPr>
        <p:spPr>
          <a:xfrm>
            <a:off x="5468112" y="1389888"/>
            <a:ext cx="4480560" cy="51206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Accept above zero — the primary rule</a:t>
            </a:r>
            <a:endParaRPr lang="en-US" sz="1150" dirty="0"/>
          </a:p>
        </p:txBody>
      </p:sp>
      <p:sp>
        <p:nvSpPr>
          <p:cNvPr id="10" name="Text 8"/>
          <p:cNvSpPr/>
          <p:nvPr/>
        </p:nvSpPr>
        <p:spPr>
          <a:xfrm>
            <a:off x="10003536" y="1389888"/>
            <a:ext cx="1389888" cy="512064"/>
          </a:xfrm>
          <a:prstGeom prst="rect">
            <a:avLst/>
          </a:prstGeom>
          <a:noFill/>
          <a:ln/>
        </p:spPr>
        <p:txBody>
          <a:bodyPr wrap="square" lIns="0" tIns="0" rIns="0" bIns="0" rtlCol="0" anchor="ctr"/>
          <a:lstStyle/>
          <a:p>
            <a:pPr algn="r" indent="0" marL="0">
              <a:buNone/>
            </a:pPr>
            <a:r>
              <a:rPr lang="en-US" sz="1600" b="1" dirty="0">
                <a:solidFill>
                  <a:srgbClr val="34D399"/>
                </a:solidFill>
                <a:latin typeface="Cambria" pitchFamily="34" charset="0"/>
                <a:ea typeface="Cambria" pitchFamily="34" charset="-122"/>
                <a:cs typeface="Cambria" pitchFamily="34" charset="-120"/>
              </a:rPr>
              <a:t>+AED 12.08M</a:t>
            </a:r>
            <a:endParaRPr lang="en-US" sz="1600" dirty="0"/>
          </a:p>
        </p:txBody>
      </p:sp>
      <p:sp>
        <p:nvSpPr>
          <p:cNvPr id="11" name="Shape 9"/>
          <p:cNvSpPr/>
          <p:nvPr/>
        </p:nvSpPr>
        <p:spPr>
          <a:xfrm>
            <a:off x="566928" y="2057400"/>
            <a:ext cx="11057839"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2" name="Text 10"/>
          <p:cNvSpPr/>
          <p:nvPr/>
        </p:nvSpPr>
        <p:spPr>
          <a:xfrm>
            <a:off x="804672" y="2112264"/>
            <a:ext cx="969264" cy="512064"/>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IRR</a:t>
            </a:r>
            <a:endParaRPr lang="en-US" sz="1600" dirty="0"/>
          </a:p>
        </p:txBody>
      </p:sp>
      <p:sp>
        <p:nvSpPr>
          <p:cNvPr id="13" name="Text 11"/>
          <p:cNvSpPr/>
          <p:nvPr/>
        </p:nvSpPr>
        <p:spPr>
          <a:xfrm>
            <a:off x="1847088" y="2112264"/>
            <a:ext cx="3529584" cy="512064"/>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The rate r* where NPV(r*) = 0</a:t>
            </a:r>
            <a:endParaRPr lang="en-US" sz="1200" dirty="0"/>
          </a:p>
        </p:txBody>
      </p:sp>
      <p:sp>
        <p:nvSpPr>
          <p:cNvPr id="14" name="Text 12"/>
          <p:cNvSpPr/>
          <p:nvPr/>
        </p:nvSpPr>
        <p:spPr>
          <a:xfrm>
            <a:off x="5468112" y="2112264"/>
            <a:ext cx="4480560" cy="51206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Accept above the hurdle rate</a:t>
            </a:r>
            <a:endParaRPr lang="en-US" sz="1150" dirty="0"/>
          </a:p>
        </p:txBody>
      </p:sp>
      <p:sp>
        <p:nvSpPr>
          <p:cNvPr id="15" name="Text 13"/>
          <p:cNvSpPr/>
          <p:nvPr/>
        </p:nvSpPr>
        <p:spPr>
          <a:xfrm>
            <a:off x="10003536" y="2112264"/>
            <a:ext cx="1389888" cy="512064"/>
          </a:xfrm>
          <a:prstGeom prst="rect">
            <a:avLst/>
          </a:prstGeom>
          <a:noFill/>
          <a:ln/>
        </p:spPr>
        <p:txBody>
          <a:bodyPr wrap="square" lIns="0" tIns="0" rIns="0" bIns="0" rtlCol="0" anchor="ctr"/>
          <a:lstStyle/>
          <a:p>
            <a:pPr algn="r" indent="0" marL="0">
              <a:buNone/>
            </a:pPr>
            <a:r>
              <a:rPr lang="en-US" sz="1600" b="1" dirty="0">
                <a:solidFill>
                  <a:srgbClr val="34D399"/>
                </a:solidFill>
                <a:latin typeface="Cambria" pitchFamily="34" charset="0"/>
                <a:ea typeface="Cambria" pitchFamily="34" charset="-122"/>
                <a:cs typeface="Cambria" pitchFamily="34" charset="-120"/>
              </a:rPr>
              <a:t>26.30%</a:t>
            </a:r>
            <a:endParaRPr lang="en-US" sz="1600" dirty="0"/>
          </a:p>
        </p:txBody>
      </p:sp>
      <p:sp>
        <p:nvSpPr>
          <p:cNvPr id="16" name="Shape 14"/>
          <p:cNvSpPr/>
          <p:nvPr/>
        </p:nvSpPr>
        <p:spPr>
          <a:xfrm>
            <a:off x="566928" y="2779776"/>
            <a:ext cx="11057839" cy="621792"/>
          </a:xfrm>
          <a:prstGeom prst="roundRect">
            <a:avLst>
              <a:gd name="adj" fmla="val 14706"/>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7" name="Text 15"/>
          <p:cNvSpPr/>
          <p:nvPr/>
        </p:nvSpPr>
        <p:spPr>
          <a:xfrm>
            <a:off x="804672" y="2834640"/>
            <a:ext cx="969264" cy="512064"/>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MIRR</a:t>
            </a:r>
            <a:endParaRPr lang="en-US" sz="1600" dirty="0"/>
          </a:p>
        </p:txBody>
      </p:sp>
      <p:sp>
        <p:nvSpPr>
          <p:cNvPr id="18" name="Text 16"/>
          <p:cNvSpPr/>
          <p:nvPr/>
        </p:nvSpPr>
        <p:spPr>
          <a:xfrm>
            <a:off x="1847088" y="2834640"/>
            <a:ext cx="3529584" cy="512064"/>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(FV inflows ÷ PV outflows)^(1/N) − 1</a:t>
            </a:r>
            <a:endParaRPr lang="en-US" sz="1200" dirty="0"/>
          </a:p>
        </p:txBody>
      </p:sp>
      <p:sp>
        <p:nvSpPr>
          <p:cNvPr id="19" name="Text 17"/>
          <p:cNvSpPr/>
          <p:nvPr/>
        </p:nvSpPr>
        <p:spPr>
          <a:xfrm>
            <a:off x="5468112" y="2834640"/>
            <a:ext cx="4480560" cy="51206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Reinvests interim flows at WACC, not at the project return</a:t>
            </a:r>
            <a:endParaRPr lang="en-US" sz="1150" dirty="0"/>
          </a:p>
        </p:txBody>
      </p:sp>
      <p:sp>
        <p:nvSpPr>
          <p:cNvPr id="20" name="Text 18"/>
          <p:cNvSpPr/>
          <p:nvPr/>
        </p:nvSpPr>
        <p:spPr>
          <a:xfrm>
            <a:off x="10003536" y="2834640"/>
            <a:ext cx="1389888" cy="512064"/>
          </a:xfrm>
          <a:prstGeom prst="rect">
            <a:avLst/>
          </a:prstGeom>
          <a:noFill/>
          <a:ln/>
        </p:spPr>
        <p:txBody>
          <a:bodyPr wrap="square" lIns="0" tIns="0" rIns="0" bIns="0" rtlCol="0" anchor="ctr"/>
          <a:lstStyle/>
          <a:p>
            <a:pPr algn="r" indent="0" marL="0">
              <a:buNone/>
            </a:pPr>
            <a:r>
              <a:rPr lang="en-US" sz="1600" b="1" dirty="0">
                <a:solidFill>
                  <a:srgbClr val="34D399"/>
                </a:solidFill>
                <a:latin typeface="Cambria" pitchFamily="34" charset="0"/>
                <a:ea typeface="Cambria" pitchFamily="34" charset="-122"/>
                <a:cs typeface="Cambria" pitchFamily="34" charset="-120"/>
              </a:rPr>
              <a:t>19.34%</a:t>
            </a:r>
            <a:endParaRPr lang="en-US" sz="1600" dirty="0"/>
          </a:p>
        </p:txBody>
      </p:sp>
      <p:sp>
        <p:nvSpPr>
          <p:cNvPr id="21" name="Shape 19"/>
          <p:cNvSpPr/>
          <p:nvPr/>
        </p:nvSpPr>
        <p:spPr>
          <a:xfrm>
            <a:off x="566928" y="3502152"/>
            <a:ext cx="11057839"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2" name="Text 20"/>
          <p:cNvSpPr/>
          <p:nvPr/>
        </p:nvSpPr>
        <p:spPr>
          <a:xfrm>
            <a:off x="804672" y="3557016"/>
            <a:ext cx="969264" cy="512064"/>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PI</a:t>
            </a:r>
            <a:endParaRPr lang="en-US" sz="1600" dirty="0"/>
          </a:p>
        </p:txBody>
      </p:sp>
      <p:sp>
        <p:nvSpPr>
          <p:cNvPr id="23" name="Text 21"/>
          <p:cNvSpPr/>
          <p:nvPr/>
        </p:nvSpPr>
        <p:spPr>
          <a:xfrm>
            <a:off x="1847088" y="3557016"/>
            <a:ext cx="3529584" cy="512064"/>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PV of inflows ÷ initial outlay</a:t>
            </a:r>
            <a:endParaRPr lang="en-US" sz="1200" dirty="0"/>
          </a:p>
        </p:txBody>
      </p:sp>
      <p:sp>
        <p:nvSpPr>
          <p:cNvPr id="24" name="Text 22"/>
          <p:cNvSpPr/>
          <p:nvPr/>
        </p:nvSpPr>
        <p:spPr>
          <a:xfrm>
            <a:off x="5468112" y="3557016"/>
            <a:ext cx="4480560" cy="51206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Accept above 1.0 — ranks under capital rationing</a:t>
            </a:r>
            <a:endParaRPr lang="en-US" sz="1150" dirty="0"/>
          </a:p>
        </p:txBody>
      </p:sp>
      <p:sp>
        <p:nvSpPr>
          <p:cNvPr id="25" name="Text 23"/>
          <p:cNvSpPr/>
          <p:nvPr/>
        </p:nvSpPr>
        <p:spPr>
          <a:xfrm>
            <a:off x="10003536" y="3557016"/>
            <a:ext cx="1389888" cy="512064"/>
          </a:xfrm>
          <a:prstGeom prst="rect">
            <a:avLst/>
          </a:prstGeom>
          <a:noFill/>
          <a:ln/>
        </p:spPr>
        <p:txBody>
          <a:bodyPr wrap="square" lIns="0" tIns="0" rIns="0" bIns="0" rtlCol="0" anchor="ctr"/>
          <a:lstStyle/>
          <a:p>
            <a:pPr algn="r" indent="0" marL="0">
              <a:buNone/>
            </a:pPr>
            <a:r>
              <a:rPr lang="en-US" sz="1600" b="1" dirty="0">
                <a:solidFill>
                  <a:srgbClr val="34D399"/>
                </a:solidFill>
                <a:latin typeface="Cambria" pitchFamily="34" charset="0"/>
                <a:ea typeface="Cambria" pitchFamily="34" charset="-122"/>
                <a:cs typeface="Cambria" pitchFamily="34" charset="-120"/>
              </a:rPr>
              <a:t>1.5035x</a:t>
            </a:r>
            <a:endParaRPr lang="en-US" sz="1600" dirty="0"/>
          </a:p>
        </p:txBody>
      </p:sp>
      <p:sp>
        <p:nvSpPr>
          <p:cNvPr id="26" name="Shape 24"/>
          <p:cNvSpPr/>
          <p:nvPr/>
        </p:nvSpPr>
        <p:spPr>
          <a:xfrm>
            <a:off x="566928" y="4224528"/>
            <a:ext cx="11057839" cy="621792"/>
          </a:xfrm>
          <a:prstGeom prst="roundRect">
            <a:avLst>
              <a:gd name="adj" fmla="val 14706"/>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7" name="Text 25"/>
          <p:cNvSpPr/>
          <p:nvPr/>
        </p:nvSpPr>
        <p:spPr>
          <a:xfrm>
            <a:off x="804672" y="4279392"/>
            <a:ext cx="969264" cy="512064"/>
          </a:xfrm>
          <a:prstGeom prst="rect">
            <a:avLst/>
          </a:prstGeom>
          <a:noFill/>
          <a:ln/>
        </p:spPr>
        <p:txBody>
          <a:bodyPr wrap="square" lIns="0" tIns="0" rIns="0" bIns="0" rtlCol="0" anchor="ctr"/>
          <a:lstStyle/>
          <a:p>
            <a:pPr indent="0" marL="0">
              <a:buNone/>
            </a:pPr>
            <a:r>
              <a:rPr lang="en-US" sz="1600" b="1" dirty="0">
                <a:solidFill>
                  <a:srgbClr val="22D3EE"/>
                </a:solidFill>
                <a:latin typeface="Cambria" pitchFamily="34" charset="0"/>
                <a:ea typeface="Cambria" pitchFamily="34" charset="-122"/>
                <a:cs typeface="Cambria" pitchFamily="34" charset="-120"/>
              </a:rPr>
              <a:t>Payback</a:t>
            </a:r>
            <a:endParaRPr lang="en-US" sz="1600" dirty="0"/>
          </a:p>
        </p:txBody>
      </p:sp>
      <p:sp>
        <p:nvSpPr>
          <p:cNvPr id="28" name="Text 26"/>
          <p:cNvSpPr/>
          <p:nvPr/>
        </p:nvSpPr>
        <p:spPr>
          <a:xfrm>
            <a:off x="1847088" y="4279392"/>
            <a:ext cx="3529584" cy="512064"/>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Years until cumulative flow turns positive</a:t>
            </a:r>
            <a:endParaRPr lang="en-US" sz="1200" dirty="0"/>
          </a:p>
        </p:txBody>
      </p:sp>
      <p:sp>
        <p:nvSpPr>
          <p:cNvPr id="29" name="Text 27"/>
          <p:cNvSpPr/>
          <p:nvPr/>
        </p:nvSpPr>
        <p:spPr>
          <a:xfrm>
            <a:off x="5468112" y="4279392"/>
            <a:ext cx="4480560" cy="512064"/>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Liquidity screen only — measures exposure, not value</a:t>
            </a:r>
            <a:endParaRPr lang="en-US" sz="1150" dirty="0"/>
          </a:p>
        </p:txBody>
      </p:sp>
      <p:sp>
        <p:nvSpPr>
          <p:cNvPr id="30" name="Text 28"/>
          <p:cNvSpPr/>
          <p:nvPr/>
        </p:nvSpPr>
        <p:spPr>
          <a:xfrm>
            <a:off x="10003536" y="4279392"/>
            <a:ext cx="1389888" cy="512064"/>
          </a:xfrm>
          <a:prstGeom prst="rect">
            <a:avLst/>
          </a:prstGeom>
          <a:noFill/>
          <a:ln/>
        </p:spPr>
        <p:txBody>
          <a:bodyPr wrap="square" lIns="0" tIns="0" rIns="0" bIns="0" rtlCol="0" anchor="ctr"/>
          <a:lstStyle/>
          <a:p>
            <a:pPr algn="r" indent="0" marL="0">
              <a:buNone/>
            </a:pPr>
            <a:r>
              <a:rPr lang="en-US" sz="1600" b="1" dirty="0">
                <a:solidFill>
                  <a:srgbClr val="F8FAFC"/>
                </a:solidFill>
                <a:latin typeface="Cambria" pitchFamily="34" charset="0"/>
                <a:ea typeface="Cambria" pitchFamily="34" charset="-122"/>
                <a:cs typeface="Cambria" pitchFamily="34" charset="-120"/>
              </a:rPr>
              <a:t>3.10 yrs</a:t>
            </a:r>
            <a:endParaRPr lang="en-US" sz="1600" dirty="0"/>
          </a:p>
        </p:txBody>
      </p:sp>
      <p:sp>
        <p:nvSpPr>
          <p:cNvPr id="31" name="Text 29"/>
          <p:cNvSpPr/>
          <p:nvPr/>
        </p:nvSpPr>
        <p:spPr>
          <a:xfrm>
            <a:off x="566928" y="5047488"/>
            <a:ext cx="11057839" cy="310896"/>
          </a:xfrm>
          <a:prstGeom prst="rect">
            <a:avLst/>
          </a:prstGeom>
          <a:noFill/>
          <a:ln/>
        </p:spPr>
        <p:txBody>
          <a:bodyPr wrap="square" lIns="0" tIns="0" rIns="0" bIns="0"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FCFt = (EBITDAt − Dt)(1 − τ) + Dt − ΔNWCt − CapExt + Terminalt      ·      depreciation is deducted for tax, then added back as a non-cash charge</a:t>
            </a:r>
            <a:endParaRPr lang="en-US" sz="1150" dirty="0"/>
          </a:p>
        </p:txBody>
      </p:sp>
      <p:sp>
        <p:nvSpPr>
          <p:cNvPr id="32" name="Text 30"/>
          <p:cNvSpPr/>
          <p:nvPr/>
        </p:nvSpPr>
        <p:spPr>
          <a:xfrm>
            <a:off x="566928" y="5413248"/>
            <a:ext cx="11057839" cy="310896"/>
          </a:xfrm>
          <a:prstGeom prst="rect">
            <a:avLst/>
          </a:prstGeom>
          <a:noFill/>
          <a:ln/>
        </p:spPr>
        <p:txBody>
          <a:bodyPr wrap="square" lIns="0" tIns="0" rIns="0" bIns="0" rtlCol="0" anchor="ctr"/>
          <a:lstStyle/>
          <a:p>
            <a:pPr algn="ctr" indent="0" marL="0">
              <a:buNone/>
            </a:pPr>
            <a:r>
              <a:rPr lang="en-US" sz="1150" i="1" dirty="0">
                <a:solidFill>
                  <a:srgbClr val="94A3B8"/>
                </a:solidFill>
                <a:latin typeface="Calibri" pitchFamily="34" charset="0"/>
                <a:ea typeface="Calibri" pitchFamily="34" charset="-122"/>
                <a:cs typeface="Calibri" pitchFamily="34" charset="-120"/>
              </a:rPr>
              <a:t>These formulas are archetype-independent — which is exactly why the platform generalises to eight investment types without forking the engine.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DATA AND ASSUMPTIONS</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Every input is classified by provenance</a:t>
            </a:r>
            <a:endParaRPr lang="en-US" sz="3000" dirty="0"/>
          </a:p>
        </p:txBody>
      </p:sp>
      <p:sp>
        <p:nvSpPr>
          <p:cNvPr id="4" name="Shape 2"/>
          <p:cNvSpPr/>
          <p:nvPr/>
        </p:nvSpPr>
        <p:spPr>
          <a:xfrm>
            <a:off x="9475927" y="384048"/>
            <a:ext cx="2148840" cy="384048"/>
          </a:xfrm>
          <a:prstGeom prst="roundRect">
            <a:avLst>
              <a:gd name="adj" fmla="val 50000"/>
            </a:avLst>
          </a:prstGeom>
          <a:solidFill>
            <a:srgbClr val="13314E"/>
          </a:solidFill>
          <a:ln w="12700">
            <a:solidFill>
              <a:srgbClr val="22D3EE"/>
            </a:solidFill>
            <a:prstDash val="solid"/>
          </a:ln>
        </p:spPr>
      </p:sp>
      <p:sp>
        <p:nvSpPr>
          <p:cNvPr id="5" name="Text 3"/>
          <p:cNvSpPr/>
          <p:nvPr/>
        </p:nvSpPr>
        <p:spPr>
          <a:xfrm>
            <a:off x="9475927" y="384048"/>
            <a:ext cx="2148840" cy="384048"/>
          </a:xfrm>
          <a:prstGeom prst="rect">
            <a:avLst/>
          </a:prstGeom>
          <a:noFill/>
          <a:ln/>
        </p:spPr>
        <p:txBody>
          <a:bodyPr wrap="square" lIns="0" tIns="0" rIns="0" bIns="0" rtlCol="0" anchor="ctr"/>
          <a:lstStyle/>
          <a:p>
            <a:pPr algn="ctr" indent="0" marL="0">
              <a:buNone/>
            </a:pPr>
            <a:r>
              <a:rPr lang="en-US" sz="1150" b="1" dirty="0">
                <a:solidFill>
                  <a:srgbClr val="22D3EE"/>
                </a:solidFill>
                <a:latin typeface="Calibri" pitchFamily="34" charset="0"/>
                <a:ea typeface="Calibri" pitchFamily="34" charset="-122"/>
                <a:cs typeface="Calibri" pitchFamily="34" charset="-120"/>
              </a:rPr>
              <a:t>QUESTION 2 · B</a:t>
            </a:r>
            <a:endParaRPr lang="en-US" sz="1150" dirty="0"/>
          </a:p>
        </p:txBody>
      </p:sp>
      <p:sp>
        <p:nvSpPr>
          <p:cNvPr id="6" name="Shape 4"/>
          <p:cNvSpPr/>
          <p:nvPr/>
        </p:nvSpPr>
        <p:spPr>
          <a:xfrm>
            <a:off x="566928" y="1335024"/>
            <a:ext cx="6903720" cy="493776"/>
          </a:xfrm>
          <a:prstGeom prst="roundRect">
            <a:avLst>
              <a:gd name="adj" fmla="val 18519"/>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7" name="Text 5"/>
          <p:cNvSpPr/>
          <p:nvPr/>
        </p:nvSpPr>
        <p:spPr>
          <a:xfrm>
            <a:off x="768096" y="1371600"/>
            <a:ext cx="1481328" cy="42062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Historical</a:t>
            </a:r>
            <a:endParaRPr lang="en-US" sz="1150" dirty="0"/>
          </a:p>
        </p:txBody>
      </p:sp>
      <p:sp>
        <p:nvSpPr>
          <p:cNvPr id="8" name="Text 6"/>
          <p:cNvSpPr/>
          <p:nvPr/>
        </p:nvSpPr>
        <p:spPr>
          <a:xfrm>
            <a:off x="2304288" y="1371600"/>
            <a:ext cx="4983480" cy="42062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Shipping performance, delivery lateness, order profitability</a:t>
            </a:r>
            <a:endParaRPr lang="en-US" sz="1050" dirty="0"/>
          </a:p>
        </p:txBody>
      </p:sp>
      <p:sp>
        <p:nvSpPr>
          <p:cNvPr id="9" name="Shape 7"/>
          <p:cNvSpPr/>
          <p:nvPr/>
        </p:nvSpPr>
        <p:spPr>
          <a:xfrm>
            <a:off x="566928" y="1901952"/>
            <a:ext cx="6903720" cy="493776"/>
          </a:xfrm>
          <a:prstGeom prst="roundRect">
            <a:avLst>
              <a:gd name="adj" fmla="val 18519"/>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0" name="Text 8"/>
          <p:cNvSpPr/>
          <p:nvPr/>
        </p:nvSpPr>
        <p:spPr>
          <a:xfrm>
            <a:off x="768096" y="1938528"/>
            <a:ext cx="1481328" cy="42062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Current external</a:t>
            </a:r>
            <a:endParaRPr lang="en-US" sz="1150" dirty="0"/>
          </a:p>
        </p:txBody>
      </p:sp>
      <p:sp>
        <p:nvSpPr>
          <p:cNvPr id="11" name="Text 9"/>
          <p:cNvSpPr/>
          <p:nvPr/>
        </p:nvSpPr>
        <p:spPr>
          <a:xfrm>
            <a:off x="2304288" y="1938528"/>
            <a:ext cx="4983480" cy="42062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UAE tax 9% above AED 375k · DEWA 23/28/32/38 fils per kWh · EIBOR 3.79%</a:t>
            </a:r>
            <a:endParaRPr lang="en-US" sz="1050" dirty="0"/>
          </a:p>
        </p:txBody>
      </p:sp>
      <p:sp>
        <p:nvSpPr>
          <p:cNvPr id="12" name="Shape 10"/>
          <p:cNvSpPr/>
          <p:nvPr/>
        </p:nvSpPr>
        <p:spPr>
          <a:xfrm>
            <a:off x="566928" y="2468880"/>
            <a:ext cx="6903720" cy="493776"/>
          </a:xfrm>
          <a:prstGeom prst="roundRect">
            <a:avLst>
              <a:gd name="adj" fmla="val 18519"/>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3" name="Text 11"/>
          <p:cNvSpPr/>
          <p:nvPr/>
        </p:nvSpPr>
        <p:spPr>
          <a:xfrm>
            <a:off x="768096" y="2505456"/>
            <a:ext cx="1481328" cy="42062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Forecast</a:t>
            </a:r>
            <a:endParaRPr lang="en-US" sz="1150" dirty="0"/>
          </a:p>
        </p:txBody>
      </p:sp>
      <p:sp>
        <p:nvSpPr>
          <p:cNvPr id="14" name="Text 12"/>
          <p:cNvSpPr/>
          <p:nvPr/>
        </p:nvSpPr>
        <p:spPr>
          <a:xfrm>
            <a:off x="2304288" y="2505456"/>
            <a:ext cx="4983480" cy="42062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Savings AED 7.5M (+4%) · margin AED 2.5M (+5%) · OpEx AED 2.2M (+3%)</a:t>
            </a:r>
            <a:endParaRPr lang="en-US" sz="1050" dirty="0"/>
          </a:p>
        </p:txBody>
      </p:sp>
      <p:sp>
        <p:nvSpPr>
          <p:cNvPr id="15" name="Shape 13"/>
          <p:cNvSpPr/>
          <p:nvPr/>
        </p:nvSpPr>
        <p:spPr>
          <a:xfrm>
            <a:off x="566928" y="3035808"/>
            <a:ext cx="6903720" cy="493776"/>
          </a:xfrm>
          <a:prstGeom prst="roundRect">
            <a:avLst>
              <a:gd name="adj" fmla="val 18519"/>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6" name="Text 14"/>
          <p:cNvSpPr/>
          <p:nvPr/>
        </p:nvSpPr>
        <p:spPr>
          <a:xfrm>
            <a:off x="768096" y="3072384"/>
            <a:ext cx="1481328" cy="42062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User-entered</a:t>
            </a:r>
            <a:endParaRPr lang="en-US" sz="1150" dirty="0"/>
          </a:p>
        </p:txBody>
      </p:sp>
      <p:sp>
        <p:nvSpPr>
          <p:cNvPr id="17" name="Text 15"/>
          <p:cNvSpPr/>
          <p:nvPr/>
        </p:nvSpPr>
        <p:spPr>
          <a:xfrm>
            <a:off x="2304288" y="3072384"/>
            <a:ext cx="4983480" cy="42062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CapEx AED 22.0M · working capital AED 2.0M · life 6 years · WACC 11.50%</a:t>
            </a:r>
            <a:endParaRPr lang="en-US" sz="1050" dirty="0"/>
          </a:p>
        </p:txBody>
      </p:sp>
      <p:sp>
        <p:nvSpPr>
          <p:cNvPr id="18" name="Shape 16"/>
          <p:cNvSpPr/>
          <p:nvPr/>
        </p:nvSpPr>
        <p:spPr>
          <a:xfrm>
            <a:off x="566928" y="3602736"/>
            <a:ext cx="6903720" cy="493776"/>
          </a:xfrm>
          <a:prstGeom prst="roundRect">
            <a:avLst>
              <a:gd name="adj" fmla="val 18519"/>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9" name="Text 17"/>
          <p:cNvSpPr/>
          <p:nvPr/>
        </p:nvSpPr>
        <p:spPr>
          <a:xfrm>
            <a:off x="768096" y="3639312"/>
            <a:ext cx="1481328" cy="42062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AI-generated</a:t>
            </a:r>
            <a:endParaRPr lang="en-US" sz="1150" dirty="0"/>
          </a:p>
        </p:txBody>
      </p:sp>
      <p:sp>
        <p:nvSpPr>
          <p:cNvPr id="20" name="Text 18"/>
          <p:cNvSpPr/>
          <p:nvPr/>
        </p:nvSpPr>
        <p:spPr>
          <a:xfrm>
            <a:off x="2304288" y="3639312"/>
            <a:ext cx="4983480" cy="420624"/>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Narrative, risk framing, scenario proposals, memo drafts</a:t>
            </a:r>
            <a:endParaRPr lang="en-US" sz="1050" dirty="0"/>
          </a:p>
        </p:txBody>
      </p:sp>
      <p:sp>
        <p:nvSpPr>
          <p:cNvPr id="21" name="Shape 19"/>
          <p:cNvSpPr/>
          <p:nvPr/>
        </p:nvSpPr>
        <p:spPr>
          <a:xfrm>
            <a:off x="7653528" y="1335024"/>
            <a:ext cx="3971239" cy="2724912"/>
          </a:xfrm>
          <a:prstGeom prst="roundRect">
            <a:avLst>
              <a:gd name="adj" fmla="val 335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2" name="Text 20"/>
          <p:cNvSpPr/>
          <p:nvPr/>
        </p:nvSpPr>
        <p:spPr>
          <a:xfrm>
            <a:off x="7872984" y="1481328"/>
            <a:ext cx="3657600" cy="292608"/>
          </a:xfrm>
          <a:prstGeom prst="rect">
            <a:avLst/>
          </a:prstGeom>
          <a:noFill/>
          <a:ln/>
        </p:spPr>
        <p:txBody>
          <a:bodyPr wrap="square" lIns="0" tIns="0" rIns="0" bIns="0"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The hurdle rate is derived, not asserted</a:t>
            </a:r>
            <a:endParaRPr lang="en-US" sz="1350" dirty="0"/>
          </a:p>
        </p:txBody>
      </p:sp>
      <p:sp>
        <p:nvSpPr>
          <p:cNvPr id="23" name="Text 21"/>
          <p:cNvSpPr/>
          <p:nvPr/>
        </p:nvSpPr>
        <p:spPr>
          <a:xfrm>
            <a:off x="7872984" y="1847088"/>
            <a:ext cx="260604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Risk-free rate</a:t>
            </a:r>
            <a:endParaRPr lang="en-US" sz="1100" dirty="0"/>
          </a:p>
        </p:txBody>
      </p:sp>
      <p:sp>
        <p:nvSpPr>
          <p:cNvPr id="24" name="Text 22"/>
          <p:cNvSpPr/>
          <p:nvPr/>
        </p:nvSpPr>
        <p:spPr>
          <a:xfrm>
            <a:off x="10479024" y="1847088"/>
            <a:ext cx="960120" cy="274320"/>
          </a:xfrm>
          <a:prstGeom prst="rect">
            <a:avLst/>
          </a:prstGeom>
          <a:noFill/>
          <a:ln/>
        </p:spPr>
        <p:txBody>
          <a:bodyPr wrap="square" lIns="0" tIns="0" rIns="0" bIns="0"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4.20%</a:t>
            </a:r>
            <a:endParaRPr lang="en-US" sz="1100" dirty="0"/>
          </a:p>
        </p:txBody>
      </p:sp>
      <p:sp>
        <p:nvSpPr>
          <p:cNvPr id="25" name="Text 23"/>
          <p:cNvSpPr/>
          <p:nvPr/>
        </p:nvSpPr>
        <p:spPr>
          <a:xfrm>
            <a:off x="7872984" y="2153412"/>
            <a:ext cx="260604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Beta 1.15 × ERP 6.00%</a:t>
            </a:r>
            <a:endParaRPr lang="en-US" sz="1100" dirty="0"/>
          </a:p>
        </p:txBody>
      </p:sp>
      <p:sp>
        <p:nvSpPr>
          <p:cNvPr id="26" name="Text 24"/>
          <p:cNvSpPr/>
          <p:nvPr/>
        </p:nvSpPr>
        <p:spPr>
          <a:xfrm>
            <a:off x="10479024" y="2153412"/>
            <a:ext cx="960120" cy="274320"/>
          </a:xfrm>
          <a:prstGeom prst="rect">
            <a:avLst/>
          </a:prstGeom>
          <a:noFill/>
          <a:ln/>
        </p:spPr>
        <p:txBody>
          <a:bodyPr wrap="square" lIns="0" tIns="0" rIns="0" bIns="0"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6.90%</a:t>
            </a:r>
            <a:endParaRPr lang="en-US" sz="1100" dirty="0"/>
          </a:p>
        </p:txBody>
      </p:sp>
      <p:sp>
        <p:nvSpPr>
          <p:cNvPr id="27" name="Text 25"/>
          <p:cNvSpPr/>
          <p:nvPr/>
        </p:nvSpPr>
        <p:spPr>
          <a:xfrm>
            <a:off x="7872984" y="2459736"/>
            <a:ext cx="260604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UAE country risk premium</a:t>
            </a:r>
            <a:endParaRPr lang="en-US" sz="1100" dirty="0"/>
          </a:p>
        </p:txBody>
      </p:sp>
      <p:sp>
        <p:nvSpPr>
          <p:cNvPr id="28" name="Text 26"/>
          <p:cNvSpPr/>
          <p:nvPr/>
        </p:nvSpPr>
        <p:spPr>
          <a:xfrm>
            <a:off x="10479024" y="2459736"/>
            <a:ext cx="960120" cy="274320"/>
          </a:xfrm>
          <a:prstGeom prst="rect">
            <a:avLst/>
          </a:prstGeom>
          <a:noFill/>
          <a:ln/>
        </p:spPr>
        <p:txBody>
          <a:bodyPr wrap="square" lIns="0" tIns="0" rIns="0" bIns="0"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0.75%</a:t>
            </a:r>
            <a:endParaRPr lang="en-US" sz="1100" dirty="0"/>
          </a:p>
        </p:txBody>
      </p:sp>
      <p:sp>
        <p:nvSpPr>
          <p:cNvPr id="29" name="Text 27"/>
          <p:cNvSpPr/>
          <p:nvPr/>
        </p:nvSpPr>
        <p:spPr>
          <a:xfrm>
            <a:off x="7872984" y="2766060"/>
            <a:ext cx="260604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Project execution premium</a:t>
            </a:r>
            <a:endParaRPr lang="en-US" sz="1100" dirty="0"/>
          </a:p>
        </p:txBody>
      </p:sp>
      <p:sp>
        <p:nvSpPr>
          <p:cNvPr id="30" name="Text 28"/>
          <p:cNvSpPr/>
          <p:nvPr/>
        </p:nvSpPr>
        <p:spPr>
          <a:xfrm>
            <a:off x="10479024" y="2766060"/>
            <a:ext cx="960120" cy="274320"/>
          </a:xfrm>
          <a:prstGeom prst="rect">
            <a:avLst/>
          </a:prstGeom>
          <a:noFill/>
          <a:ln/>
        </p:spPr>
        <p:txBody>
          <a:bodyPr wrap="square" lIns="0" tIns="0" rIns="0" bIns="0" rtlCol="0" anchor="ctr"/>
          <a:lstStyle/>
          <a:p>
            <a:pPr algn="r" indent="0" marL="0">
              <a:buNone/>
            </a:pPr>
            <a:r>
              <a:rPr lang="en-US" sz="1100" dirty="0">
                <a:solidFill>
                  <a:srgbClr val="CADCFC"/>
                </a:solidFill>
                <a:latin typeface="Calibri" pitchFamily="34" charset="0"/>
                <a:ea typeface="Calibri" pitchFamily="34" charset="-122"/>
                <a:cs typeface="Calibri" pitchFamily="34" charset="-120"/>
              </a:rPr>
              <a:t>3.50%</a:t>
            </a:r>
            <a:endParaRPr lang="en-US" sz="1100" dirty="0"/>
          </a:p>
        </p:txBody>
      </p:sp>
      <p:sp>
        <p:nvSpPr>
          <p:cNvPr id="31" name="Text 29"/>
          <p:cNvSpPr/>
          <p:nvPr/>
        </p:nvSpPr>
        <p:spPr>
          <a:xfrm>
            <a:off x="7872984" y="3072384"/>
            <a:ext cx="2606040" cy="27432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Cost of equity</a:t>
            </a:r>
            <a:endParaRPr lang="en-US" sz="1100" dirty="0"/>
          </a:p>
        </p:txBody>
      </p:sp>
      <p:sp>
        <p:nvSpPr>
          <p:cNvPr id="32" name="Text 30"/>
          <p:cNvSpPr/>
          <p:nvPr/>
        </p:nvSpPr>
        <p:spPr>
          <a:xfrm>
            <a:off x="10479024" y="3072384"/>
            <a:ext cx="960120" cy="274320"/>
          </a:xfrm>
          <a:prstGeom prst="rect">
            <a:avLst/>
          </a:prstGeom>
          <a:noFill/>
          <a:ln/>
        </p:spPr>
        <p:txBody>
          <a:bodyPr wrap="square" lIns="0" tIns="0" rIns="0" bIns="0" rtlCol="0" anchor="ctr"/>
          <a:lstStyle/>
          <a:p>
            <a:pPr algn="r" indent="0" marL="0">
              <a:buNone/>
            </a:pPr>
            <a:r>
              <a:rPr lang="en-US" sz="1100" b="1" dirty="0">
                <a:solidFill>
                  <a:srgbClr val="22D3EE"/>
                </a:solidFill>
                <a:latin typeface="Calibri" pitchFamily="34" charset="0"/>
                <a:ea typeface="Calibri" pitchFamily="34" charset="-122"/>
                <a:cs typeface="Calibri" pitchFamily="34" charset="-120"/>
              </a:rPr>
              <a:t>15.35%</a:t>
            </a:r>
            <a:endParaRPr lang="en-US" sz="1100" dirty="0"/>
          </a:p>
        </p:txBody>
      </p:sp>
      <p:sp>
        <p:nvSpPr>
          <p:cNvPr id="33" name="Text 31"/>
          <p:cNvSpPr/>
          <p:nvPr/>
        </p:nvSpPr>
        <p:spPr>
          <a:xfrm>
            <a:off x="7872984" y="3378708"/>
            <a:ext cx="2606040" cy="27432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After-tax cost of debt</a:t>
            </a:r>
            <a:endParaRPr lang="en-US" sz="1100" dirty="0"/>
          </a:p>
        </p:txBody>
      </p:sp>
      <p:sp>
        <p:nvSpPr>
          <p:cNvPr id="34" name="Text 32"/>
          <p:cNvSpPr/>
          <p:nvPr/>
        </p:nvSpPr>
        <p:spPr>
          <a:xfrm>
            <a:off x="10479024" y="3378708"/>
            <a:ext cx="960120" cy="274320"/>
          </a:xfrm>
          <a:prstGeom prst="rect">
            <a:avLst/>
          </a:prstGeom>
          <a:noFill/>
          <a:ln/>
        </p:spPr>
        <p:txBody>
          <a:bodyPr wrap="square" lIns="0" tIns="0" rIns="0" bIns="0" rtlCol="0" anchor="ctr"/>
          <a:lstStyle/>
          <a:p>
            <a:pPr algn="r" indent="0" marL="0">
              <a:buNone/>
            </a:pPr>
            <a:r>
              <a:rPr lang="en-US" sz="1100" b="1" dirty="0">
                <a:solidFill>
                  <a:srgbClr val="22D3EE"/>
                </a:solidFill>
                <a:latin typeface="Calibri" pitchFamily="34" charset="0"/>
                <a:ea typeface="Calibri" pitchFamily="34" charset="-122"/>
                <a:cs typeface="Calibri" pitchFamily="34" charset="-120"/>
              </a:rPr>
              <a:t>5.72%</a:t>
            </a:r>
            <a:endParaRPr lang="en-US" sz="1100" dirty="0"/>
          </a:p>
        </p:txBody>
      </p:sp>
      <p:sp>
        <p:nvSpPr>
          <p:cNvPr id="35" name="Text 33"/>
          <p:cNvSpPr/>
          <p:nvPr/>
        </p:nvSpPr>
        <p:spPr>
          <a:xfrm>
            <a:off x="7872984" y="3685032"/>
            <a:ext cx="2606040" cy="27432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WACC at 60/40 equity–debt</a:t>
            </a:r>
            <a:endParaRPr lang="en-US" sz="1100" dirty="0"/>
          </a:p>
        </p:txBody>
      </p:sp>
      <p:sp>
        <p:nvSpPr>
          <p:cNvPr id="36" name="Text 34"/>
          <p:cNvSpPr/>
          <p:nvPr/>
        </p:nvSpPr>
        <p:spPr>
          <a:xfrm>
            <a:off x="10479024" y="3685032"/>
            <a:ext cx="960120" cy="274320"/>
          </a:xfrm>
          <a:prstGeom prst="rect">
            <a:avLst/>
          </a:prstGeom>
          <a:noFill/>
          <a:ln/>
        </p:spPr>
        <p:txBody>
          <a:bodyPr wrap="square" lIns="0" tIns="0" rIns="0" bIns="0" rtlCol="0" anchor="ctr"/>
          <a:lstStyle/>
          <a:p>
            <a:pPr algn="r" indent="0" marL="0">
              <a:buNone/>
            </a:pPr>
            <a:r>
              <a:rPr lang="en-US" sz="1100" b="1" dirty="0">
                <a:solidFill>
                  <a:srgbClr val="22D3EE"/>
                </a:solidFill>
                <a:latin typeface="Calibri" pitchFamily="34" charset="0"/>
                <a:ea typeface="Calibri" pitchFamily="34" charset="-122"/>
                <a:cs typeface="Calibri" pitchFamily="34" charset="-120"/>
              </a:rPr>
              <a:t>11.50%</a:t>
            </a:r>
            <a:endParaRPr lang="en-US" sz="1100" dirty="0"/>
          </a:p>
        </p:txBody>
      </p:sp>
      <p:sp>
        <p:nvSpPr>
          <p:cNvPr id="37" name="Shape 35"/>
          <p:cNvSpPr/>
          <p:nvPr/>
        </p:nvSpPr>
        <p:spPr>
          <a:xfrm>
            <a:off x="566928" y="4224528"/>
            <a:ext cx="11057839" cy="1207008"/>
          </a:xfrm>
          <a:prstGeom prst="roundRect">
            <a:avLst>
              <a:gd name="adj" fmla="val 7576"/>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8" name="Shape 36"/>
          <p:cNvSpPr/>
          <p:nvPr/>
        </p:nvSpPr>
        <p:spPr>
          <a:xfrm>
            <a:off x="822960" y="4443984"/>
            <a:ext cx="310896" cy="310896"/>
          </a:xfrm>
          <a:prstGeom prst="ellipse">
            <a:avLst/>
          </a:prstGeom>
          <a:solidFill>
            <a:srgbClr val="22D3EE"/>
          </a:solidFill>
          <a:ln w="12700">
            <a:solidFill>
              <a:srgbClr val="22D3EE"/>
            </a:solidFill>
            <a:prstDash val="solid"/>
          </a:ln>
        </p:spPr>
      </p:sp>
      <p:sp>
        <p:nvSpPr>
          <p:cNvPr id="39" name="Text 37"/>
          <p:cNvSpPr/>
          <p:nvPr/>
        </p:nvSpPr>
        <p:spPr>
          <a:xfrm>
            <a:off x="822960" y="444398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a:t>
            </a:r>
            <a:endParaRPr lang="en-US" sz="1300" dirty="0"/>
          </a:p>
        </p:txBody>
      </p:sp>
      <p:sp>
        <p:nvSpPr>
          <p:cNvPr id="40" name="Text 38"/>
          <p:cNvSpPr/>
          <p:nvPr/>
        </p:nvSpPr>
        <p:spPr>
          <a:xfrm>
            <a:off x="1261872" y="4425696"/>
            <a:ext cx="5486400" cy="292608"/>
          </a:xfrm>
          <a:prstGeom prst="rect">
            <a:avLst/>
          </a:prstGeom>
          <a:noFill/>
          <a:ln/>
        </p:spPr>
        <p:txBody>
          <a:bodyPr wrap="square" lIns="0" tIns="0" rIns="0" bIns="0" rtlCol="0" anchor="ctr"/>
          <a:lstStyle/>
          <a:p>
            <a:pPr indent="0" marL="0">
              <a:buNone/>
            </a:pPr>
            <a:r>
              <a:rPr lang="en-US" sz="1400" b="1" dirty="0">
                <a:solidFill>
                  <a:srgbClr val="F8FAFC"/>
                </a:solidFill>
                <a:latin typeface="Calibri" pitchFamily="34" charset="0"/>
                <a:ea typeface="Calibri" pitchFamily="34" charset="-122"/>
                <a:cs typeface="Calibri" pitchFamily="34" charset="-120"/>
              </a:rPr>
              <a:t>The AED 7.5M savings figure is derived, not assumed</a:t>
            </a:r>
            <a:endParaRPr lang="en-US" sz="1400" dirty="0"/>
          </a:p>
        </p:txBody>
      </p:sp>
      <p:sp>
        <p:nvSpPr>
          <p:cNvPr id="41" name="Text 39"/>
          <p:cNvSpPr/>
          <p:nvPr/>
        </p:nvSpPr>
        <p:spPr>
          <a:xfrm>
            <a:off x="841248" y="4754880"/>
            <a:ext cx="10509199" cy="566928"/>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75.2 manual full-time equivalents against 8.3 automated  →  66.9 displaced  ×  AED 112,000 all-in loaded cost  =  AED 7,491,556 — within 0.11% of the forecast. This single input drives roughly three-quarters of the project value, so it is the one number that must not be asserted.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ENGINE</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Six years of after-tax free cash flow</a:t>
            </a:r>
            <a:endParaRPr lang="en-US" sz="3000" dirty="0"/>
          </a:p>
        </p:txBody>
      </p:sp>
      <p:graphicFrame>
        <p:nvGraphicFramePr>
          <p:cNvPr id="4" name="Chart 0" descr=""/>
          <p:cNvGraphicFramePr/>
          <p:nvPr/>
        </p:nvGraphicFramePr>
        <p:xfrm>
          <a:off x="566928" y="1298448"/>
          <a:ext cx="6812280" cy="331012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71232" y="1298448"/>
            <a:ext cx="4053535" cy="3310128"/>
          </a:xfrm>
          <a:prstGeom prst="roundRect">
            <a:avLst>
              <a:gd name="adj" fmla="val 2762"/>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6" name="Text 3"/>
          <p:cNvSpPr/>
          <p:nvPr/>
        </p:nvSpPr>
        <p:spPr>
          <a:xfrm>
            <a:off x="7808976" y="1444752"/>
            <a:ext cx="3657600" cy="292608"/>
          </a:xfrm>
          <a:prstGeom prst="rect">
            <a:avLst/>
          </a:prstGeom>
          <a:noFill/>
          <a:ln/>
        </p:spPr>
        <p:txBody>
          <a:bodyPr wrap="square" lIns="0" tIns="0" rIns="0" bIns="0"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How the Year-1 line is built</a:t>
            </a:r>
            <a:endParaRPr lang="en-US" sz="1350" dirty="0"/>
          </a:p>
        </p:txBody>
      </p:sp>
      <p:sp>
        <p:nvSpPr>
          <p:cNvPr id="7" name="Text 4"/>
          <p:cNvSpPr/>
          <p:nvPr/>
        </p:nvSpPr>
        <p:spPr>
          <a:xfrm>
            <a:off x="7808976" y="1810512"/>
            <a:ext cx="233172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Operating savings</a:t>
            </a:r>
            <a:endParaRPr lang="en-US" sz="1050" dirty="0"/>
          </a:p>
        </p:txBody>
      </p:sp>
      <p:sp>
        <p:nvSpPr>
          <p:cNvPr id="8" name="Text 5"/>
          <p:cNvSpPr/>
          <p:nvPr/>
        </p:nvSpPr>
        <p:spPr>
          <a:xfrm>
            <a:off x="10003536" y="1810512"/>
            <a:ext cx="1417320" cy="274320"/>
          </a:xfrm>
          <a:prstGeom prst="rect">
            <a:avLst/>
          </a:prstGeom>
          <a:noFill/>
          <a:ln/>
        </p:spPr>
        <p:txBody>
          <a:bodyPr wrap="square" lIns="0" tIns="0" rIns="0" bIns="0"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7,500,000</a:t>
            </a:r>
            <a:endParaRPr lang="en-US" sz="1050" dirty="0"/>
          </a:p>
        </p:txBody>
      </p:sp>
      <p:sp>
        <p:nvSpPr>
          <p:cNvPr id="9" name="Text 6"/>
          <p:cNvSpPr/>
          <p:nvPr/>
        </p:nvSpPr>
        <p:spPr>
          <a:xfrm>
            <a:off x="7808976" y="2107692"/>
            <a:ext cx="233172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Contribution margin</a:t>
            </a:r>
            <a:endParaRPr lang="en-US" sz="1050" dirty="0"/>
          </a:p>
        </p:txBody>
      </p:sp>
      <p:sp>
        <p:nvSpPr>
          <p:cNvPr id="10" name="Text 7"/>
          <p:cNvSpPr/>
          <p:nvPr/>
        </p:nvSpPr>
        <p:spPr>
          <a:xfrm>
            <a:off x="10003536" y="2107692"/>
            <a:ext cx="1417320" cy="274320"/>
          </a:xfrm>
          <a:prstGeom prst="rect">
            <a:avLst/>
          </a:prstGeom>
          <a:noFill/>
          <a:ln/>
        </p:spPr>
        <p:txBody>
          <a:bodyPr wrap="square" lIns="0" tIns="0" rIns="0" bIns="0"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2,500,000</a:t>
            </a:r>
            <a:endParaRPr lang="en-US" sz="1050" dirty="0"/>
          </a:p>
        </p:txBody>
      </p:sp>
      <p:sp>
        <p:nvSpPr>
          <p:cNvPr id="11" name="Text 8"/>
          <p:cNvSpPr/>
          <p:nvPr/>
        </p:nvSpPr>
        <p:spPr>
          <a:xfrm>
            <a:off x="7808976" y="2404872"/>
            <a:ext cx="233172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Less operating cost</a:t>
            </a:r>
            <a:endParaRPr lang="en-US" sz="1050" dirty="0"/>
          </a:p>
        </p:txBody>
      </p:sp>
      <p:sp>
        <p:nvSpPr>
          <p:cNvPr id="12" name="Text 9"/>
          <p:cNvSpPr/>
          <p:nvPr/>
        </p:nvSpPr>
        <p:spPr>
          <a:xfrm>
            <a:off x="10003536" y="2404872"/>
            <a:ext cx="1417320" cy="274320"/>
          </a:xfrm>
          <a:prstGeom prst="rect">
            <a:avLst/>
          </a:prstGeom>
          <a:noFill/>
          <a:ln/>
        </p:spPr>
        <p:txBody>
          <a:bodyPr wrap="square" lIns="0" tIns="0" rIns="0" bIns="0"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(2,200,000)</a:t>
            </a:r>
            <a:endParaRPr lang="en-US" sz="1050" dirty="0"/>
          </a:p>
        </p:txBody>
      </p:sp>
      <p:sp>
        <p:nvSpPr>
          <p:cNvPr id="13" name="Text 10"/>
          <p:cNvSpPr/>
          <p:nvPr/>
        </p:nvSpPr>
        <p:spPr>
          <a:xfrm>
            <a:off x="7808976" y="2702052"/>
            <a:ext cx="2331720" cy="274320"/>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EBITDA</a:t>
            </a:r>
            <a:endParaRPr lang="en-US" sz="1050" dirty="0"/>
          </a:p>
        </p:txBody>
      </p:sp>
      <p:sp>
        <p:nvSpPr>
          <p:cNvPr id="14" name="Text 11"/>
          <p:cNvSpPr/>
          <p:nvPr/>
        </p:nvSpPr>
        <p:spPr>
          <a:xfrm>
            <a:off x="10003536" y="2702052"/>
            <a:ext cx="1417320" cy="274320"/>
          </a:xfrm>
          <a:prstGeom prst="rect">
            <a:avLst/>
          </a:prstGeom>
          <a:noFill/>
          <a:ln/>
        </p:spPr>
        <p:txBody>
          <a:bodyPr wrap="square" lIns="0" tIns="0" rIns="0" bIns="0" rtlCol="0" anchor="ctr"/>
          <a:lstStyle/>
          <a:p>
            <a:pPr algn="r" indent="0" marL="0">
              <a:buNone/>
            </a:pPr>
            <a:r>
              <a:rPr lang="en-US" sz="1050" b="1" dirty="0">
                <a:solidFill>
                  <a:srgbClr val="22D3EE"/>
                </a:solidFill>
                <a:latin typeface="Calibri" pitchFamily="34" charset="0"/>
                <a:ea typeface="Calibri" pitchFamily="34" charset="-122"/>
                <a:cs typeface="Calibri" pitchFamily="34" charset="-120"/>
              </a:rPr>
              <a:t>7,800,000</a:t>
            </a:r>
            <a:endParaRPr lang="en-US" sz="1050" dirty="0"/>
          </a:p>
        </p:txBody>
      </p:sp>
      <p:sp>
        <p:nvSpPr>
          <p:cNvPr id="15" name="Text 12"/>
          <p:cNvSpPr/>
          <p:nvPr/>
        </p:nvSpPr>
        <p:spPr>
          <a:xfrm>
            <a:off x="7808976" y="2999232"/>
            <a:ext cx="233172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Less depreciation</a:t>
            </a:r>
            <a:endParaRPr lang="en-US" sz="1050" dirty="0"/>
          </a:p>
        </p:txBody>
      </p:sp>
      <p:sp>
        <p:nvSpPr>
          <p:cNvPr id="16" name="Text 13"/>
          <p:cNvSpPr/>
          <p:nvPr/>
        </p:nvSpPr>
        <p:spPr>
          <a:xfrm>
            <a:off x="10003536" y="2999232"/>
            <a:ext cx="1417320" cy="274320"/>
          </a:xfrm>
          <a:prstGeom prst="rect">
            <a:avLst/>
          </a:prstGeom>
          <a:noFill/>
          <a:ln/>
        </p:spPr>
        <p:txBody>
          <a:bodyPr wrap="square" lIns="0" tIns="0" rIns="0" bIns="0"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(3,333,333)</a:t>
            </a:r>
            <a:endParaRPr lang="en-US" sz="1050" dirty="0"/>
          </a:p>
        </p:txBody>
      </p:sp>
      <p:sp>
        <p:nvSpPr>
          <p:cNvPr id="17" name="Text 14"/>
          <p:cNvSpPr/>
          <p:nvPr/>
        </p:nvSpPr>
        <p:spPr>
          <a:xfrm>
            <a:off x="7808976" y="3296412"/>
            <a:ext cx="2331720" cy="274320"/>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EBIT</a:t>
            </a:r>
            <a:endParaRPr lang="en-US" sz="1050" dirty="0"/>
          </a:p>
        </p:txBody>
      </p:sp>
      <p:sp>
        <p:nvSpPr>
          <p:cNvPr id="18" name="Text 15"/>
          <p:cNvSpPr/>
          <p:nvPr/>
        </p:nvSpPr>
        <p:spPr>
          <a:xfrm>
            <a:off x="10003536" y="3296412"/>
            <a:ext cx="1417320" cy="274320"/>
          </a:xfrm>
          <a:prstGeom prst="rect">
            <a:avLst/>
          </a:prstGeom>
          <a:noFill/>
          <a:ln/>
        </p:spPr>
        <p:txBody>
          <a:bodyPr wrap="square" lIns="0" tIns="0" rIns="0" bIns="0" rtlCol="0" anchor="ctr"/>
          <a:lstStyle/>
          <a:p>
            <a:pPr algn="r" indent="0" marL="0">
              <a:buNone/>
            </a:pPr>
            <a:r>
              <a:rPr lang="en-US" sz="1050" b="1" dirty="0">
                <a:solidFill>
                  <a:srgbClr val="22D3EE"/>
                </a:solidFill>
                <a:latin typeface="Calibri" pitchFamily="34" charset="0"/>
                <a:ea typeface="Calibri" pitchFamily="34" charset="-122"/>
                <a:cs typeface="Calibri" pitchFamily="34" charset="-120"/>
              </a:rPr>
              <a:t>4,466,667</a:t>
            </a:r>
            <a:endParaRPr lang="en-US" sz="1050" dirty="0"/>
          </a:p>
        </p:txBody>
      </p:sp>
      <p:sp>
        <p:nvSpPr>
          <p:cNvPr id="19" name="Text 16"/>
          <p:cNvSpPr/>
          <p:nvPr/>
        </p:nvSpPr>
        <p:spPr>
          <a:xfrm>
            <a:off x="7808976" y="3593592"/>
            <a:ext cx="233172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Less tax at 9%</a:t>
            </a:r>
            <a:endParaRPr lang="en-US" sz="1050" dirty="0"/>
          </a:p>
        </p:txBody>
      </p:sp>
      <p:sp>
        <p:nvSpPr>
          <p:cNvPr id="20" name="Text 17"/>
          <p:cNvSpPr/>
          <p:nvPr/>
        </p:nvSpPr>
        <p:spPr>
          <a:xfrm>
            <a:off x="10003536" y="3593592"/>
            <a:ext cx="1417320" cy="274320"/>
          </a:xfrm>
          <a:prstGeom prst="rect">
            <a:avLst/>
          </a:prstGeom>
          <a:noFill/>
          <a:ln/>
        </p:spPr>
        <p:txBody>
          <a:bodyPr wrap="square" lIns="0" tIns="0" rIns="0" bIns="0"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(402,000)</a:t>
            </a:r>
            <a:endParaRPr lang="en-US" sz="1050" dirty="0"/>
          </a:p>
        </p:txBody>
      </p:sp>
      <p:sp>
        <p:nvSpPr>
          <p:cNvPr id="21" name="Text 18"/>
          <p:cNvSpPr/>
          <p:nvPr/>
        </p:nvSpPr>
        <p:spPr>
          <a:xfrm>
            <a:off x="7808976" y="3890772"/>
            <a:ext cx="2331720" cy="27432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Add back depreciation</a:t>
            </a:r>
            <a:endParaRPr lang="en-US" sz="1050" dirty="0"/>
          </a:p>
        </p:txBody>
      </p:sp>
      <p:sp>
        <p:nvSpPr>
          <p:cNvPr id="22" name="Text 19"/>
          <p:cNvSpPr/>
          <p:nvPr/>
        </p:nvSpPr>
        <p:spPr>
          <a:xfrm>
            <a:off x="10003536" y="3890772"/>
            <a:ext cx="1417320" cy="274320"/>
          </a:xfrm>
          <a:prstGeom prst="rect">
            <a:avLst/>
          </a:prstGeom>
          <a:noFill/>
          <a:ln/>
        </p:spPr>
        <p:txBody>
          <a:bodyPr wrap="square" lIns="0" tIns="0" rIns="0" bIns="0" rtlCol="0" anchor="ctr"/>
          <a:lstStyle/>
          <a:p>
            <a:pPr algn="r" indent="0" marL="0">
              <a:buNone/>
            </a:pPr>
            <a:r>
              <a:rPr lang="en-US" sz="1050" dirty="0">
                <a:solidFill>
                  <a:srgbClr val="CADCFC"/>
                </a:solidFill>
                <a:latin typeface="Calibri" pitchFamily="34" charset="0"/>
                <a:ea typeface="Calibri" pitchFamily="34" charset="-122"/>
                <a:cs typeface="Calibri" pitchFamily="34" charset="-120"/>
              </a:rPr>
              <a:t>3,333,333</a:t>
            </a:r>
            <a:endParaRPr lang="en-US" sz="1050" dirty="0"/>
          </a:p>
        </p:txBody>
      </p:sp>
      <p:sp>
        <p:nvSpPr>
          <p:cNvPr id="23" name="Text 20"/>
          <p:cNvSpPr/>
          <p:nvPr/>
        </p:nvSpPr>
        <p:spPr>
          <a:xfrm>
            <a:off x="7808976" y="4187952"/>
            <a:ext cx="2331720" cy="274320"/>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Free cash flow, Year 1</a:t>
            </a:r>
            <a:endParaRPr lang="en-US" sz="1050" dirty="0"/>
          </a:p>
        </p:txBody>
      </p:sp>
      <p:sp>
        <p:nvSpPr>
          <p:cNvPr id="24" name="Text 21"/>
          <p:cNvSpPr/>
          <p:nvPr/>
        </p:nvSpPr>
        <p:spPr>
          <a:xfrm>
            <a:off x="10003536" y="4187952"/>
            <a:ext cx="1417320" cy="274320"/>
          </a:xfrm>
          <a:prstGeom prst="rect">
            <a:avLst/>
          </a:prstGeom>
          <a:noFill/>
          <a:ln/>
        </p:spPr>
        <p:txBody>
          <a:bodyPr wrap="square" lIns="0" tIns="0" rIns="0" bIns="0" rtlCol="0" anchor="ctr"/>
          <a:lstStyle/>
          <a:p>
            <a:pPr algn="r" indent="0" marL="0">
              <a:buNone/>
            </a:pPr>
            <a:r>
              <a:rPr lang="en-US" sz="1050" b="1" dirty="0">
                <a:solidFill>
                  <a:srgbClr val="22D3EE"/>
                </a:solidFill>
                <a:latin typeface="Calibri" pitchFamily="34" charset="0"/>
                <a:ea typeface="Calibri" pitchFamily="34" charset="-122"/>
                <a:cs typeface="Calibri" pitchFamily="34" charset="-120"/>
              </a:rPr>
              <a:t>7,398,000</a:t>
            </a:r>
            <a:endParaRPr lang="en-US" sz="1050" dirty="0"/>
          </a:p>
        </p:txBody>
      </p:sp>
      <p:sp>
        <p:nvSpPr>
          <p:cNvPr id="25" name="Shape 22"/>
          <p:cNvSpPr/>
          <p:nvPr/>
        </p:nvSpPr>
        <p:spPr>
          <a:xfrm>
            <a:off x="566928" y="4773168"/>
            <a:ext cx="11057839" cy="841248"/>
          </a:xfrm>
          <a:prstGeom prst="roundRect">
            <a:avLst>
              <a:gd name="adj" fmla="val 10870"/>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6" name="Text 23"/>
          <p:cNvSpPr/>
          <p:nvPr/>
        </p:nvSpPr>
        <p:spPr>
          <a:xfrm>
            <a:off x="841248" y="4901184"/>
            <a:ext cx="10509199" cy="585216"/>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Depreciation is straight-line to salvage — (AED 22.0M − 2.0M) ÷ 6 = AED 3,333,333 a year, shielding AED 300,000 of tax.  Year 6 adds AED 2.0M salvage and AED 2.0M of recovered working capital.  Present value of inflows AED 36,083,628 against a AED 24,000,000 outlay.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VERDICT</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Every decision rule agrees</a:t>
            </a:r>
            <a:endParaRPr lang="en-US" sz="3000" dirty="0"/>
          </a:p>
        </p:txBody>
      </p:sp>
      <p:sp>
        <p:nvSpPr>
          <p:cNvPr id="4" name="Shape 2"/>
          <p:cNvSpPr/>
          <p:nvPr/>
        </p:nvSpPr>
        <p:spPr>
          <a:xfrm>
            <a:off x="566928" y="1316736"/>
            <a:ext cx="4617720" cy="4224528"/>
          </a:xfrm>
          <a:prstGeom prst="roundRect">
            <a:avLst>
              <a:gd name="adj" fmla="val 2165"/>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5" name="Text 3"/>
          <p:cNvSpPr/>
          <p:nvPr/>
        </p:nvSpPr>
        <p:spPr>
          <a:xfrm>
            <a:off x="877824" y="1627632"/>
            <a:ext cx="4023360" cy="274320"/>
          </a:xfrm>
          <a:prstGeom prst="rect">
            <a:avLst/>
          </a:prstGeom>
          <a:noFill/>
          <a:ln/>
        </p:spPr>
        <p:txBody>
          <a:bodyPr wrap="square" lIns="0" tIns="0" rIns="0" bIns="0" rtlCol="0" anchor="ctr"/>
          <a:lstStyle/>
          <a:p>
            <a:pPr indent="0" marL="0">
              <a:buNone/>
            </a:pPr>
            <a:r>
              <a:rPr lang="en-US" sz="1150" b="1" spc="200" kern="0" dirty="0">
                <a:solidFill>
                  <a:srgbClr val="22D3EE"/>
                </a:solidFill>
                <a:latin typeface="Calibri" pitchFamily="34" charset="0"/>
                <a:ea typeface="Calibri" pitchFamily="34" charset="-122"/>
                <a:cs typeface="Calibri" pitchFamily="34" charset="-120"/>
              </a:rPr>
              <a:t>NET PRESENT VALUE</a:t>
            </a:r>
            <a:endParaRPr lang="en-US" sz="1150" dirty="0"/>
          </a:p>
        </p:txBody>
      </p:sp>
      <p:sp>
        <p:nvSpPr>
          <p:cNvPr id="6" name="Text 4"/>
          <p:cNvSpPr/>
          <p:nvPr/>
        </p:nvSpPr>
        <p:spPr>
          <a:xfrm>
            <a:off x="877824" y="2011680"/>
            <a:ext cx="4023360" cy="310896"/>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AED</a:t>
            </a:r>
            <a:endParaRPr lang="en-US" sz="1600" dirty="0"/>
          </a:p>
        </p:txBody>
      </p:sp>
      <p:sp>
        <p:nvSpPr>
          <p:cNvPr id="7" name="Text 5"/>
          <p:cNvSpPr/>
          <p:nvPr/>
        </p:nvSpPr>
        <p:spPr>
          <a:xfrm>
            <a:off x="877824" y="2304288"/>
            <a:ext cx="4023360" cy="932688"/>
          </a:xfrm>
          <a:prstGeom prst="rect">
            <a:avLst/>
          </a:prstGeom>
          <a:noFill/>
          <a:ln/>
        </p:spPr>
        <p:txBody>
          <a:bodyPr wrap="square" lIns="0" tIns="0" rIns="0" bIns="0" rtlCol="0" anchor="ctr"/>
          <a:lstStyle/>
          <a:p>
            <a:pPr indent="0" marL="0">
              <a:buNone/>
            </a:pPr>
            <a:r>
              <a:rPr lang="en-US" sz="4300" b="1" dirty="0">
                <a:solidFill>
                  <a:srgbClr val="34D399"/>
                </a:solidFill>
                <a:latin typeface="Cambria" pitchFamily="34" charset="0"/>
                <a:ea typeface="Cambria" pitchFamily="34" charset="-122"/>
                <a:cs typeface="Cambria" pitchFamily="34" charset="-120"/>
              </a:rPr>
              <a:t>12,083,628</a:t>
            </a:r>
            <a:endParaRPr lang="en-US" sz="4300" dirty="0"/>
          </a:p>
        </p:txBody>
      </p:sp>
      <p:sp>
        <p:nvSpPr>
          <p:cNvPr id="8" name="Text 6"/>
          <p:cNvSpPr/>
          <p:nvPr/>
        </p:nvSpPr>
        <p:spPr>
          <a:xfrm>
            <a:off x="877824" y="3291840"/>
            <a:ext cx="4023360" cy="512064"/>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of value created after paying every capital provider 11.50%</a:t>
            </a:r>
            <a:endParaRPr lang="en-US" sz="1250" dirty="0"/>
          </a:p>
        </p:txBody>
      </p:sp>
      <p:sp>
        <p:nvSpPr>
          <p:cNvPr id="9" name="Shape 7"/>
          <p:cNvSpPr/>
          <p:nvPr/>
        </p:nvSpPr>
        <p:spPr>
          <a:xfrm>
            <a:off x="877824" y="3913632"/>
            <a:ext cx="2103120" cy="420624"/>
          </a:xfrm>
          <a:prstGeom prst="roundRect">
            <a:avLst>
              <a:gd name="adj" fmla="val 21739"/>
            </a:avLst>
          </a:prstGeom>
          <a:solidFill>
            <a:srgbClr val="0F3B2E"/>
          </a:solidFill>
          <a:ln w="12700">
            <a:solidFill>
              <a:srgbClr val="34D399"/>
            </a:solidFill>
            <a:prstDash val="solid"/>
          </a:ln>
        </p:spPr>
      </p:sp>
      <p:sp>
        <p:nvSpPr>
          <p:cNvPr id="10" name="Text 8"/>
          <p:cNvSpPr/>
          <p:nvPr/>
        </p:nvSpPr>
        <p:spPr>
          <a:xfrm>
            <a:off x="877824" y="3913632"/>
            <a:ext cx="2103120" cy="420624"/>
          </a:xfrm>
          <a:prstGeom prst="rect">
            <a:avLst/>
          </a:prstGeom>
          <a:noFill/>
          <a:ln/>
        </p:spPr>
        <p:txBody>
          <a:bodyPr wrap="square" lIns="0" tIns="0" rIns="0" bIns="0" rtlCol="0" anchor="ctr"/>
          <a:lstStyle/>
          <a:p>
            <a:pPr algn="ctr" indent="0" marL="0">
              <a:buNone/>
            </a:pPr>
            <a:r>
              <a:rPr lang="en-US" sz="1150" b="1" dirty="0">
                <a:solidFill>
                  <a:srgbClr val="34D399"/>
                </a:solidFill>
                <a:latin typeface="Calibri" pitchFamily="34" charset="0"/>
                <a:ea typeface="Calibri" pitchFamily="34" charset="-122"/>
                <a:cs typeface="Calibri" pitchFamily="34" charset="-120"/>
              </a:rPr>
              <a:t>ENGINE: APPROVE</a:t>
            </a:r>
            <a:endParaRPr lang="en-US" sz="1150" dirty="0"/>
          </a:p>
        </p:txBody>
      </p:sp>
      <p:sp>
        <p:nvSpPr>
          <p:cNvPr id="11" name="Text 9"/>
          <p:cNvSpPr/>
          <p:nvPr/>
        </p:nvSpPr>
        <p:spPr>
          <a:xfrm>
            <a:off x="877824" y="4498848"/>
            <a:ext cx="4023360" cy="566928"/>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Pinned by an automated golden-value regression test, so no published figure can drift from the engine.</a:t>
            </a:r>
            <a:endParaRPr lang="en-US" sz="1100" dirty="0"/>
          </a:p>
        </p:txBody>
      </p:sp>
      <p:sp>
        <p:nvSpPr>
          <p:cNvPr id="12" name="Shape 10"/>
          <p:cNvSpPr/>
          <p:nvPr/>
        </p:nvSpPr>
        <p:spPr>
          <a:xfrm>
            <a:off x="5385816" y="1316736"/>
            <a:ext cx="6238951" cy="4224528"/>
          </a:xfrm>
          <a:prstGeom prst="roundRect">
            <a:avLst>
              <a:gd name="adj" fmla="val 21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3" name="Text 11"/>
          <p:cNvSpPr/>
          <p:nvPr/>
        </p:nvSpPr>
        <p:spPr>
          <a:xfrm>
            <a:off x="5596128" y="1517904"/>
            <a:ext cx="2011680" cy="274320"/>
          </a:xfrm>
          <a:prstGeom prst="rect">
            <a:avLst/>
          </a:prstGeom>
          <a:noFill/>
          <a:ln/>
        </p:spPr>
        <p:txBody>
          <a:bodyPr wrap="square" lIns="0" tIns="0" rIns="0" bIns="0" rtlCol="0" anchor="ctr"/>
          <a:lstStyle/>
          <a:p>
            <a:pPr algn="l" indent="0" marL="0">
              <a:buNone/>
            </a:pPr>
            <a:r>
              <a:rPr lang="en-US" sz="1000" b="1" spc="100" kern="0" dirty="0">
                <a:solidFill>
                  <a:srgbClr val="94A3B8"/>
                </a:solidFill>
                <a:latin typeface="Calibri" pitchFamily="34" charset="0"/>
                <a:ea typeface="Calibri" pitchFamily="34" charset="-122"/>
                <a:cs typeface="Calibri" pitchFamily="34" charset="-120"/>
              </a:rPr>
              <a:t>Metric</a:t>
            </a:r>
            <a:endParaRPr lang="en-US" sz="1000" dirty="0"/>
          </a:p>
        </p:txBody>
      </p:sp>
      <p:sp>
        <p:nvSpPr>
          <p:cNvPr id="14" name="Text 12"/>
          <p:cNvSpPr/>
          <p:nvPr/>
        </p:nvSpPr>
        <p:spPr>
          <a:xfrm>
            <a:off x="7653528" y="1517904"/>
            <a:ext cx="1417320" cy="274320"/>
          </a:xfrm>
          <a:prstGeom prst="rect">
            <a:avLst/>
          </a:prstGeom>
          <a:noFill/>
          <a:ln/>
        </p:spPr>
        <p:txBody>
          <a:bodyPr wrap="square" lIns="0" tIns="0" rIns="0" bIns="0" rtlCol="0" anchor="ctr"/>
          <a:lstStyle/>
          <a:p>
            <a:pPr algn="r" indent="0" marL="0">
              <a:buNone/>
            </a:pPr>
            <a:r>
              <a:rPr lang="en-US" sz="1000" b="1" spc="100" kern="0" dirty="0">
                <a:solidFill>
                  <a:srgbClr val="94A3B8"/>
                </a:solidFill>
                <a:latin typeface="Calibri" pitchFamily="34" charset="0"/>
                <a:ea typeface="Calibri" pitchFamily="34" charset="-122"/>
                <a:cs typeface="Calibri" pitchFamily="34" charset="-120"/>
              </a:rPr>
              <a:t>Result</a:t>
            </a:r>
            <a:endParaRPr lang="en-US" sz="1000" dirty="0"/>
          </a:p>
        </p:txBody>
      </p:sp>
      <p:sp>
        <p:nvSpPr>
          <p:cNvPr id="15" name="Text 13"/>
          <p:cNvSpPr/>
          <p:nvPr/>
        </p:nvSpPr>
        <p:spPr>
          <a:xfrm>
            <a:off x="9162288" y="1517904"/>
            <a:ext cx="1097280" cy="274320"/>
          </a:xfrm>
          <a:prstGeom prst="rect">
            <a:avLst/>
          </a:prstGeom>
          <a:noFill/>
          <a:ln/>
        </p:spPr>
        <p:txBody>
          <a:bodyPr wrap="square" lIns="0" tIns="0" rIns="0" bIns="0" rtlCol="0" anchor="ctr"/>
          <a:lstStyle/>
          <a:p>
            <a:pPr algn="r" indent="0" marL="0">
              <a:buNone/>
            </a:pPr>
            <a:r>
              <a:rPr lang="en-US" sz="1000" b="1" spc="100" kern="0" dirty="0">
                <a:solidFill>
                  <a:srgbClr val="94A3B8"/>
                </a:solidFill>
                <a:latin typeface="Calibri" pitchFamily="34" charset="0"/>
                <a:ea typeface="Calibri" pitchFamily="34" charset="-122"/>
                <a:cs typeface="Calibri" pitchFamily="34" charset="-120"/>
              </a:rPr>
              <a:t>Benchmark</a:t>
            </a:r>
            <a:endParaRPr lang="en-US" sz="1000" dirty="0"/>
          </a:p>
        </p:txBody>
      </p:sp>
      <p:sp>
        <p:nvSpPr>
          <p:cNvPr id="16" name="Text 14"/>
          <p:cNvSpPr/>
          <p:nvPr/>
        </p:nvSpPr>
        <p:spPr>
          <a:xfrm>
            <a:off x="10287000" y="1517904"/>
            <a:ext cx="1097280" cy="274320"/>
          </a:xfrm>
          <a:prstGeom prst="rect">
            <a:avLst/>
          </a:prstGeom>
          <a:noFill/>
          <a:ln/>
        </p:spPr>
        <p:txBody>
          <a:bodyPr wrap="square" lIns="0" tIns="0" rIns="0" bIns="0" rtlCol="0" anchor="ctr"/>
          <a:lstStyle/>
          <a:p>
            <a:pPr algn="r" indent="0" marL="0">
              <a:buNone/>
            </a:pPr>
            <a:r>
              <a:rPr lang="en-US" sz="1000" b="1" spc="100" kern="0" dirty="0">
                <a:solidFill>
                  <a:srgbClr val="94A3B8"/>
                </a:solidFill>
                <a:latin typeface="Calibri" pitchFamily="34" charset="0"/>
                <a:ea typeface="Calibri" pitchFamily="34" charset="-122"/>
                <a:cs typeface="Calibri" pitchFamily="34" charset="-120"/>
              </a:rPr>
              <a:t>Margin</a:t>
            </a:r>
            <a:endParaRPr lang="en-US" sz="1000" dirty="0"/>
          </a:p>
        </p:txBody>
      </p:sp>
      <p:sp>
        <p:nvSpPr>
          <p:cNvPr id="17" name="Shape 15"/>
          <p:cNvSpPr/>
          <p:nvPr/>
        </p:nvSpPr>
        <p:spPr>
          <a:xfrm>
            <a:off x="5550408" y="1828800"/>
            <a:ext cx="5909767" cy="493776"/>
          </a:xfrm>
          <a:prstGeom prst="rect">
            <a:avLst/>
          </a:prstGeom>
          <a:solidFill>
            <a:srgbClr val="13314E"/>
          </a:solidFill>
          <a:ln w="12700">
            <a:solidFill>
              <a:srgbClr val="333333"/>
            </a:solidFill>
            <a:prstDash val="solid"/>
          </a:ln>
        </p:spPr>
      </p:sp>
      <p:sp>
        <p:nvSpPr>
          <p:cNvPr id="18" name="Text 16"/>
          <p:cNvSpPr/>
          <p:nvPr/>
        </p:nvSpPr>
        <p:spPr>
          <a:xfrm>
            <a:off x="5596128" y="1883664"/>
            <a:ext cx="2011680" cy="384048"/>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Internal rate of return</a:t>
            </a:r>
            <a:endParaRPr lang="en-US" sz="1200" dirty="0"/>
          </a:p>
        </p:txBody>
      </p:sp>
      <p:sp>
        <p:nvSpPr>
          <p:cNvPr id="19" name="Text 17"/>
          <p:cNvSpPr/>
          <p:nvPr/>
        </p:nvSpPr>
        <p:spPr>
          <a:xfrm>
            <a:off x="7653528" y="1883664"/>
            <a:ext cx="1417320" cy="384048"/>
          </a:xfrm>
          <a:prstGeom prst="rect">
            <a:avLst/>
          </a:prstGeom>
          <a:noFill/>
          <a:ln/>
        </p:spPr>
        <p:txBody>
          <a:bodyPr wrap="square" lIns="0" tIns="0" rIns="0" bIns="0" rtlCol="0" anchor="ctr"/>
          <a:lstStyle/>
          <a:p>
            <a:pPr algn="r" indent="0" marL="0">
              <a:buNone/>
            </a:pPr>
            <a:r>
              <a:rPr lang="en-US" sz="1400" b="1" dirty="0">
                <a:solidFill>
                  <a:srgbClr val="34D399"/>
                </a:solidFill>
                <a:latin typeface="Cambria" pitchFamily="34" charset="0"/>
                <a:ea typeface="Cambria" pitchFamily="34" charset="-122"/>
                <a:cs typeface="Cambria" pitchFamily="34" charset="-120"/>
              </a:rPr>
              <a:t>26.30%</a:t>
            </a:r>
            <a:endParaRPr lang="en-US" sz="1400" dirty="0"/>
          </a:p>
        </p:txBody>
      </p:sp>
      <p:sp>
        <p:nvSpPr>
          <p:cNvPr id="20" name="Text 18"/>
          <p:cNvSpPr/>
          <p:nvPr/>
        </p:nvSpPr>
        <p:spPr>
          <a:xfrm>
            <a:off x="9162288" y="1883664"/>
            <a:ext cx="1097280" cy="384048"/>
          </a:xfrm>
          <a:prstGeom prst="rect">
            <a:avLst/>
          </a:prstGeom>
          <a:noFill/>
          <a:ln/>
        </p:spPr>
        <p:txBody>
          <a:bodyPr wrap="square" lIns="0" tIns="0" rIns="0" bIns="0" rtlCol="0" anchor="ctr"/>
          <a:lstStyle/>
          <a:p>
            <a:pPr algn="r" indent="0" marL="0">
              <a:buNone/>
            </a:pPr>
            <a:r>
              <a:rPr lang="en-US" sz="1150" dirty="0">
                <a:solidFill>
                  <a:srgbClr val="94A3B8"/>
                </a:solidFill>
                <a:latin typeface="Calibri" pitchFamily="34" charset="0"/>
                <a:ea typeface="Calibri" pitchFamily="34" charset="-122"/>
                <a:cs typeface="Calibri" pitchFamily="34" charset="-120"/>
              </a:rPr>
              <a:t>11.50%</a:t>
            </a:r>
            <a:endParaRPr lang="en-US" sz="1150" dirty="0"/>
          </a:p>
        </p:txBody>
      </p:sp>
      <p:sp>
        <p:nvSpPr>
          <p:cNvPr id="21" name="Text 19"/>
          <p:cNvSpPr/>
          <p:nvPr/>
        </p:nvSpPr>
        <p:spPr>
          <a:xfrm>
            <a:off x="10287000" y="1883664"/>
            <a:ext cx="1097280" cy="384048"/>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+14.80 pp</a:t>
            </a:r>
            <a:endParaRPr lang="en-US" sz="1150" dirty="0"/>
          </a:p>
        </p:txBody>
      </p:sp>
      <p:sp>
        <p:nvSpPr>
          <p:cNvPr id="22" name="Shape 20"/>
          <p:cNvSpPr/>
          <p:nvPr/>
        </p:nvSpPr>
        <p:spPr>
          <a:xfrm>
            <a:off x="5550408" y="2404872"/>
            <a:ext cx="5909767" cy="493776"/>
          </a:xfrm>
          <a:prstGeom prst="rect">
            <a:avLst/>
          </a:prstGeom>
          <a:solidFill>
            <a:srgbClr val="0F2740"/>
          </a:solidFill>
          <a:ln w="12700">
            <a:solidFill>
              <a:srgbClr val="333333"/>
            </a:solidFill>
            <a:prstDash val="solid"/>
          </a:ln>
        </p:spPr>
      </p:sp>
      <p:sp>
        <p:nvSpPr>
          <p:cNvPr id="23" name="Text 21"/>
          <p:cNvSpPr/>
          <p:nvPr/>
        </p:nvSpPr>
        <p:spPr>
          <a:xfrm>
            <a:off x="5596128" y="2459736"/>
            <a:ext cx="2011680" cy="384048"/>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Modified IRR</a:t>
            </a:r>
            <a:endParaRPr lang="en-US" sz="1200" dirty="0"/>
          </a:p>
        </p:txBody>
      </p:sp>
      <p:sp>
        <p:nvSpPr>
          <p:cNvPr id="24" name="Text 22"/>
          <p:cNvSpPr/>
          <p:nvPr/>
        </p:nvSpPr>
        <p:spPr>
          <a:xfrm>
            <a:off x="7653528" y="2459736"/>
            <a:ext cx="1417320" cy="384048"/>
          </a:xfrm>
          <a:prstGeom prst="rect">
            <a:avLst/>
          </a:prstGeom>
          <a:noFill/>
          <a:ln/>
        </p:spPr>
        <p:txBody>
          <a:bodyPr wrap="square" lIns="0" tIns="0" rIns="0" bIns="0" rtlCol="0" anchor="ctr"/>
          <a:lstStyle/>
          <a:p>
            <a:pPr algn="r" indent="0" marL="0">
              <a:buNone/>
            </a:pPr>
            <a:r>
              <a:rPr lang="en-US" sz="1400" b="1" dirty="0">
                <a:solidFill>
                  <a:srgbClr val="34D399"/>
                </a:solidFill>
                <a:latin typeface="Cambria" pitchFamily="34" charset="0"/>
                <a:ea typeface="Cambria" pitchFamily="34" charset="-122"/>
                <a:cs typeface="Cambria" pitchFamily="34" charset="-120"/>
              </a:rPr>
              <a:t>19.34%</a:t>
            </a:r>
            <a:endParaRPr lang="en-US" sz="1400" dirty="0"/>
          </a:p>
        </p:txBody>
      </p:sp>
      <p:sp>
        <p:nvSpPr>
          <p:cNvPr id="25" name="Text 23"/>
          <p:cNvSpPr/>
          <p:nvPr/>
        </p:nvSpPr>
        <p:spPr>
          <a:xfrm>
            <a:off x="9162288" y="2459736"/>
            <a:ext cx="1097280" cy="384048"/>
          </a:xfrm>
          <a:prstGeom prst="rect">
            <a:avLst/>
          </a:prstGeom>
          <a:noFill/>
          <a:ln/>
        </p:spPr>
        <p:txBody>
          <a:bodyPr wrap="square" lIns="0" tIns="0" rIns="0" bIns="0" rtlCol="0" anchor="ctr"/>
          <a:lstStyle/>
          <a:p>
            <a:pPr algn="r" indent="0" marL="0">
              <a:buNone/>
            </a:pPr>
            <a:r>
              <a:rPr lang="en-US" sz="1150" dirty="0">
                <a:solidFill>
                  <a:srgbClr val="94A3B8"/>
                </a:solidFill>
                <a:latin typeface="Calibri" pitchFamily="34" charset="0"/>
                <a:ea typeface="Calibri" pitchFamily="34" charset="-122"/>
                <a:cs typeface="Calibri" pitchFamily="34" charset="-120"/>
              </a:rPr>
              <a:t>11.50%</a:t>
            </a:r>
            <a:endParaRPr lang="en-US" sz="1150" dirty="0"/>
          </a:p>
        </p:txBody>
      </p:sp>
      <p:sp>
        <p:nvSpPr>
          <p:cNvPr id="26" name="Text 24"/>
          <p:cNvSpPr/>
          <p:nvPr/>
        </p:nvSpPr>
        <p:spPr>
          <a:xfrm>
            <a:off x="10287000" y="2459736"/>
            <a:ext cx="1097280" cy="384048"/>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+7.84 pp</a:t>
            </a:r>
            <a:endParaRPr lang="en-US" sz="1150" dirty="0"/>
          </a:p>
        </p:txBody>
      </p:sp>
      <p:sp>
        <p:nvSpPr>
          <p:cNvPr id="27" name="Shape 25"/>
          <p:cNvSpPr/>
          <p:nvPr/>
        </p:nvSpPr>
        <p:spPr>
          <a:xfrm>
            <a:off x="5550408" y="2980944"/>
            <a:ext cx="5909767" cy="493776"/>
          </a:xfrm>
          <a:prstGeom prst="rect">
            <a:avLst/>
          </a:prstGeom>
          <a:solidFill>
            <a:srgbClr val="13314E"/>
          </a:solidFill>
          <a:ln w="12700">
            <a:solidFill>
              <a:srgbClr val="333333"/>
            </a:solidFill>
            <a:prstDash val="solid"/>
          </a:ln>
        </p:spPr>
      </p:sp>
      <p:sp>
        <p:nvSpPr>
          <p:cNvPr id="28" name="Text 26"/>
          <p:cNvSpPr/>
          <p:nvPr/>
        </p:nvSpPr>
        <p:spPr>
          <a:xfrm>
            <a:off x="5596128" y="3035808"/>
            <a:ext cx="2011680" cy="384048"/>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Profitability index</a:t>
            </a:r>
            <a:endParaRPr lang="en-US" sz="1200" dirty="0"/>
          </a:p>
        </p:txBody>
      </p:sp>
      <p:sp>
        <p:nvSpPr>
          <p:cNvPr id="29" name="Text 27"/>
          <p:cNvSpPr/>
          <p:nvPr/>
        </p:nvSpPr>
        <p:spPr>
          <a:xfrm>
            <a:off x="7653528" y="3035808"/>
            <a:ext cx="1417320" cy="384048"/>
          </a:xfrm>
          <a:prstGeom prst="rect">
            <a:avLst/>
          </a:prstGeom>
          <a:noFill/>
          <a:ln/>
        </p:spPr>
        <p:txBody>
          <a:bodyPr wrap="square" lIns="0" tIns="0" rIns="0" bIns="0" rtlCol="0" anchor="ctr"/>
          <a:lstStyle/>
          <a:p>
            <a:pPr algn="r" indent="0" marL="0">
              <a:buNone/>
            </a:pPr>
            <a:r>
              <a:rPr lang="en-US" sz="1400" b="1" dirty="0">
                <a:solidFill>
                  <a:srgbClr val="34D399"/>
                </a:solidFill>
                <a:latin typeface="Cambria" pitchFamily="34" charset="0"/>
                <a:ea typeface="Cambria" pitchFamily="34" charset="-122"/>
                <a:cs typeface="Cambria" pitchFamily="34" charset="-120"/>
              </a:rPr>
              <a:t>1.5035x</a:t>
            </a:r>
            <a:endParaRPr lang="en-US" sz="1400" dirty="0"/>
          </a:p>
        </p:txBody>
      </p:sp>
      <p:sp>
        <p:nvSpPr>
          <p:cNvPr id="30" name="Text 28"/>
          <p:cNvSpPr/>
          <p:nvPr/>
        </p:nvSpPr>
        <p:spPr>
          <a:xfrm>
            <a:off x="9162288" y="3035808"/>
            <a:ext cx="1097280" cy="384048"/>
          </a:xfrm>
          <a:prstGeom prst="rect">
            <a:avLst/>
          </a:prstGeom>
          <a:noFill/>
          <a:ln/>
        </p:spPr>
        <p:txBody>
          <a:bodyPr wrap="square" lIns="0" tIns="0" rIns="0" bIns="0" rtlCol="0" anchor="ctr"/>
          <a:lstStyle/>
          <a:p>
            <a:pPr algn="r" indent="0" marL="0">
              <a:buNone/>
            </a:pPr>
            <a:r>
              <a:rPr lang="en-US" sz="1150" dirty="0">
                <a:solidFill>
                  <a:srgbClr val="94A3B8"/>
                </a:solidFill>
                <a:latin typeface="Calibri" pitchFamily="34" charset="0"/>
                <a:ea typeface="Calibri" pitchFamily="34" charset="-122"/>
                <a:cs typeface="Calibri" pitchFamily="34" charset="-120"/>
              </a:rPr>
              <a:t>1.00x</a:t>
            </a:r>
            <a:endParaRPr lang="en-US" sz="1150" dirty="0"/>
          </a:p>
        </p:txBody>
      </p:sp>
      <p:sp>
        <p:nvSpPr>
          <p:cNvPr id="31" name="Text 29"/>
          <p:cNvSpPr/>
          <p:nvPr/>
        </p:nvSpPr>
        <p:spPr>
          <a:xfrm>
            <a:off x="10287000" y="3035808"/>
            <a:ext cx="1097280" cy="384048"/>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+0.50x</a:t>
            </a:r>
            <a:endParaRPr lang="en-US" sz="1150" dirty="0"/>
          </a:p>
        </p:txBody>
      </p:sp>
      <p:sp>
        <p:nvSpPr>
          <p:cNvPr id="32" name="Shape 30"/>
          <p:cNvSpPr/>
          <p:nvPr/>
        </p:nvSpPr>
        <p:spPr>
          <a:xfrm>
            <a:off x="5550408" y="3557016"/>
            <a:ext cx="5909767" cy="493776"/>
          </a:xfrm>
          <a:prstGeom prst="rect">
            <a:avLst/>
          </a:prstGeom>
          <a:solidFill>
            <a:srgbClr val="0F2740"/>
          </a:solidFill>
          <a:ln w="12700">
            <a:solidFill>
              <a:srgbClr val="333333"/>
            </a:solidFill>
            <a:prstDash val="solid"/>
          </a:ln>
        </p:spPr>
      </p:sp>
      <p:sp>
        <p:nvSpPr>
          <p:cNvPr id="33" name="Text 31"/>
          <p:cNvSpPr/>
          <p:nvPr/>
        </p:nvSpPr>
        <p:spPr>
          <a:xfrm>
            <a:off x="5596128" y="3611880"/>
            <a:ext cx="2011680" cy="384048"/>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Payback</a:t>
            </a:r>
            <a:endParaRPr lang="en-US" sz="1200" dirty="0"/>
          </a:p>
        </p:txBody>
      </p:sp>
      <p:sp>
        <p:nvSpPr>
          <p:cNvPr id="34" name="Text 32"/>
          <p:cNvSpPr/>
          <p:nvPr/>
        </p:nvSpPr>
        <p:spPr>
          <a:xfrm>
            <a:off x="7653528" y="3611880"/>
            <a:ext cx="1417320" cy="384048"/>
          </a:xfrm>
          <a:prstGeom prst="rect">
            <a:avLst/>
          </a:prstGeom>
          <a:noFill/>
          <a:ln/>
        </p:spPr>
        <p:txBody>
          <a:bodyPr wrap="square" lIns="0" tIns="0" rIns="0" bIns="0" rtlCol="0" anchor="ctr"/>
          <a:lstStyle/>
          <a:p>
            <a:pPr algn="r" indent="0" marL="0">
              <a:buNone/>
            </a:pPr>
            <a:r>
              <a:rPr lang="en-US" sz="1400" b="1" dirty="0">
                <a:solidFill>
                  <a:srgbClr val="34D399"/>
                </a:solidFill>
                <a:latin typeface="Cambria" pitchFamily="34" charset="0"/>
                <a:ea typeface="Cambria" pitchFamily="34" charset="-122"/>
                <a:cs typeface="Cambria" pitchFamily="34" charset="-120"/>
              </a:rPr>
              <a:t>3.10 yrs</a:t>
            </a:r>
            <a:endParaRPr lang="en-US" sz="1400" dirty="0"/>
          </a:p>
        </p:txBody>
      </p:sp>
      <p:sp>
        <p:nvSpPr>
          <p:cNvPr id="35" name="Text 33"/>
          <p:cNvSpPr/>
          <p:nvPr/>
        </p:nvSpPr>
        <p:spPr>
          <a:xfrm>
            <a:off x="9162288" y="3611880"/>
            <a:ext cx="1097280" cy="384048"/>
          </a:xfrm>
          <a:prstGeom prst="rect">
            <a:avLst/>
          </a:prstGeom>
          <a:noFill/>
          <a:ln/>
        </p:spPr>
        <p:txBody>
          <a:bodyPr wrap="square" lIns="0" tIns="0" rIns="0" bIns="0" rtlCol="0" anchor="ctr"/>
          <a:lstStyle/>
          <a:p>
            <a:pPr algn="r" indent="0" marL="0">
              <a:buNone/>
            </a:pPr>
            <a:r>
              <a:rPr lang="en-US" sz="1150" dirty="0">
                <a:solidFill>
                  <a:srgbClr val="94A3B8"/>
                </a:solidFill>
                <a:latin typeface="Calibri" pitchFamily="34" charset="0"/>
                <a:ea typeface="Calibri" pitchFamily="34" charset="-122"/>
                <a:cs typeface="Calibri" pitchFamily="34" charset="-120"/>
              </a:rPr>
              <a:t>4.00 yrs</a:t>
            </a:r>
            <a:endParaRPr lang="en-US" sz="1150" dirty="0"/>
          </a:p>
        </p:txBody>
      </p:sp>
      <p:sp>
        <p:nvSpPr>
          <p:cNvPr id="36" name="Text 34"/>
          <p:cNvSpPr/>
          <p:nvPr/>
        </p:nvSpPr>
        <p:spPr>
          <a:xfrm>
            <a:off x="10287000" y="3611880"/>
            <a:ext cx="1097280" cy="384048"/>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0.90 yr</a:t>
            </a:r>
            <a:endParaRPr lang="en-US" sz="1150" dirty="0"/>
          </a:p>
        </p:txBody>
      </p:sp>
      <p:sp>
        <p:nvSpPr>
          <p:cNvPr id="37" name="Shape 35"/>
          <p:cNvSpPr/>
          <p:nvPr/>
        </p:nvSpPr>
        <p:spPr>
          <a:xfrm>
            <a:off x="5550408" y="4133088"/>
            <a:ext cx="5909767" cy="493776"/>
          </a:xfrm>
          <a:prstGeom prst="rect">
            <a:avLst/>
          </a:prstGeom>
          <a:solidFill>
            <a:srgbClr val="13314E"/>
          </a:solidFill>
          <a:ln w="12700">
            <a:solidFill>
              <a:srgbClr val="333333"/>
            </a:solidFill>
            <a:prstDash val="solid"/>
          </a:ln>
        </p:spPr>
      </p:sp>
      <p:sp>
        <p:nvSpPr>
          <p:cNvPr id="38" name="Text 36"/>
          <p:cNvSpPr/>
          <p:nvPr/>
        </p:nvSpPr>
        <p:spPr>
          <a:xfrm>
            <a:off x="5596128" y="4187952"/>
            <a:ext cx="2011680" cy="384048"/>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Discounted payback</a:t>
            </a:r>
            <a:endParaRPr lang="en-US" sz="1200" dirty="0"/>
          </a:p>
        </p:txBody>
      </p:sp>
      <p:sp>
        <p:nvSpPr>
          <p:cNvPr id="39" name="Text 37"/>
          <p:cNvSpPr/>
          <p:nvPr/>
        </p:nvSpPr>
        <p:spPr>
          <a:xfrm>
            <a:off x="7653528" y="4187952"/>
            <a:ext cx="1417320" cy="384048"/>
          </a:xfrm>
          <a:prstGeom prst="rect">
            <a:avLst/>
          </a:prstGeom>
          <a:noFill/>
          <a:ln/>
        </p:spPr>
        <p:txBody>
          <a:bodyPr wrap="square" lIns="0" tIns="0" rIns="0" bIns="0" rtlCol="0" anchor="ctr"/>
          <a:lstStyle/>
          <a:p>
            <a:pPr algn="r" indent="0" marL="0">
              <a:buNone/>
            </a:pPr>
            <a:r>
              <a:rPr lang="en-US" sz="1400" b="1" dirty="0">
                <a:solidFill>
                  <a:srgbClr val="34D399"/>
                </a:solidFill>
                <a:latin typeface="Cambria" pitchFamily="34" charset="0"/>
                <a:ea typeface="Cambria" pitchFamily="34" charset="-122"/>
                <a:cs typeface="Cambria" pitchFamily="34" charset="-120"/>
              </a:rPr>
              <a:t>3.98 yrs</a:t>
            </a:r>
            <a:endParaRPr lang="en-US" sz="1400" dirty="0"/>
          </a:p>
        </p:txBody>
      </p:sp>
      <p:sp>
        <p:nvSpPr>
          <p:cNvPr id="40" name="Text 38"/>
          <p:cNvSpPr/>
          <p:nvPr/>
        </p:nvSpPr>
        <p:spPr>
          <a:xfrm>
            <a:off x="9162288" y="4187952"/>
            <a:ext cx="1097280" cy="384048"/>
          </a:xfrm>
          <a:prstGeom prst="rect">
            <a:avLst/>
          </a:prstGeom>
          <a:noFill/>
          <a:ln/>
        </p:spPr>
        <p:txBody>
          <a:bodyPr wrap="square" lIns="0" tIns="0" rIns="0" bIns="0" rtlCol="0" anchor="ctr"/>
          <a:lstStyle/>
          <a:p>
            <a:pPr algn="r" indent="0" marL="0">
              <a:buNone/>
            </a:pPr>
            <a:r>
              <a:rPr lang="en-US" sz="1150" dirty="0">
                <a:solidFill>
                  <a:srgbClr val="94A3B8"/>
                </a:solidFill>
                <a:latin typeface="Calibri" pitchFamily="34" charset="0"/>
                <a:ea typeface="Calibri" pitchFamily="34" charset="-122"/>
                <a:cs typeface="Calibri" pitchFamily="34" charset="-120"/>
              </a:rPr>
              <a:t>4.50 yrs</a:t>
            </a:r>
            <a:endParaRPr lang="en-US" sz="1150" dirty="0"/>
          </a:p>
        </p:txBody>
      </p:sp>
      <p:sp>
        <p:nvSpPr>
          <p:cNvPr id="41" name="Text 39"/>
          <p:cNvSpPr/>
          <p:nvPr/>
        </p:nvSpPr>
        <p:spPr>
          <a:xfrm>
            <a:off x="10287000" y="4187952"/>
            <a:ext cx="1097280" cy="384048"/>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0.52 yr</a:t>
            </a:r>
            <a:endParaRPr lang="en-US" sz="1150" dirty="0"/>
          </a:p>
        </p:txBody>
      </p:sp>
      <p:sp>
        <p:nvSpPr>
          <p:cNvPr id="42" name="Shape 40"/>
          <p:cNvSpPr/>
          <p:nvPr/>
        </p:nvSpPr>
        <p:spPr>
          <a:xfrm>
            <a:off x="5550408" y="4709160"/>
            <a:ext cx="5909767" cy="493776"/>
          </a:xfrm>
          <a:prstGeom prst="rect">
            <a:avLst/>
          </a:prstGeom>
          <a:solidFill>
            <a:srgbClr val="0F2740"/>
          </a:solidFill>
          <a:ln w="12700">
            <a:solidFill>
              <a:srgbClr val="333333"/>
            </a:solidFill>
            <a:prstDash val="solid"/>
          </a:ln>
        </p:spPr>
      </p:sp>
      <p:sp>
        <p:nvSpPr>
          <p:cNvPr id="43" name="Text 41"/>
          <p:cNvSpPr/>
          <p:nvPr/>
        </p:nvSpPr>
        <p:spPr>
          <a:xfrm>
            <a:off x="5596128" y="4764024"/>
            <a:ext cx="2011680" cy="384048"/>
          </a:xfrm>
          <a:prstGeom prst="rect">
            <a:avLst/>
          </a:prstGeom>
          <a:noFill/>
          <a:ln/>
        </p:spPr>
        <p:txBody>
          <a:bodyPr wrap="square" lIns="0" tIns="0" rIns="0" bIns="0" rtlCol="0" anchor="ctr"/>
          <a:lstStyle/>
          <a:p>
            <a:pPr indent="0" marL="0">
              <a:buNone/>
            </a:pPr>
            <a:r>
              <a:rPr lang="en-US" sz="1200" dirty="0">
                <a:solidFill>
                  <a:srgbClr val="F8FAFC"/>
                </a:solidFill>
                <a:latin typeface="Calibri" pitchFamily="34" charset="0"/>
                <a:ea typeface="Calibri" pitchFamily="34" charset="-122"/>
                <a:cs typeface="Calibri" pitchFamily="34" charset="-120"/>
              </a:rPr>
              <a:t>Return on investment</a:t>
            </a:r>
            <a:endParaRPr lang="en-US" sz="1200" dirty="0"/>
          </a:p>
        </p:txBody>
      </p:sp>
      <p:sp>
        <p:nvSpPr>
          <p:cNvPr id="44" name="Text 42"/>
          <p:cNvSpPr/>
          <p:nvPr/>
        </p:nvSpPr>
        <p:spPr>
          <a:xfrm>
            <a:off x="7653528" y="4764024"/>
            <a:ext cx="1417320" cy="384048"/>
          </a:xfrm>
          <a:prstGeom prst="rect">
            <a:avLst/>
          </a:prstGeom>
          <a:noFill/>
          <a:ln/>
        </p:spPr>
        <p:txBody>
          <a:bodyPr wrap="square" lIns="0" tIns="0" rIns="0" bIns="0" rtlCol="0" anchor="ctr"/>
          <a:lstStyle/>
          <a:p>
            <a:pPr algn="r" indent="0" marL="0">
              <a:buNone/>
            </a:pPr>
            <a:r>
              <a:rPr lang="en-US" sz="1400" b="1" dirty="0">
                <a:solidFill>
                  <a:srgbClr val="34D399"/>
                </a:solidFill>
                <a:latin typeface="Cambria" pitchFamily="34" charset="0"/>
                <a:ea typeface="Cambria" pitchFamily="34" charset="-122"/>
                <a:cs typeface="Cambria" pitchFamily="34" charset="-120"/>
              </a:rPr>
              <a:t>123.3%</a:t>
            </a:r>
            <a:endParaRPr lang="en-US" sz="1400" dirty="0"/>
          </a:p>
        </p:txBody>
      </p:sp>
      <p:sp>
        <p:nvSpPr>
          <p:cNvPr id="45" name="Text 43"/>
          <p:cNvSpPr/>
          <p:nvPr/>
        </p:nvSpPr>
        <p:spPr>
          <a:xfrm>
            <a:off x="9162288" y="4764024"/>
            <a:ext cx="1097280" cy="384048"/>
          </a:xfrm>
          <a:prstGeom prst="rect">
            <a:avLst/>
          </a:prstGeom>
          <a:noFill/>
          <a:ln/>
        </p:spPr>
        <p:txBody>
          <a:bodyPr wrap="square" lIns="0" tIns="0" rIns="0" bIns="0" rtlCol="0" anchor="ctr"/>
          <a:lstStyle/>
          <a:p>
            <a:pPr algn="r" indent="0" marL="0">
              <a:buNone/>
            </a:pPr>
            <a:r>
              <a:rPr lang="en-US" sz="1150" dirty="0">
                <a:solidFill>
                  <a:srgbClr val="94A3B8"/>
                </a:solidFill>
                <a:latin typeface="Calibri" pitchFamily="34" charset="0"/>
                <a:ea typeface="Calibri" pitchFamily="34" charset="-122"/>
                <a:cs typeface="Calibri" pitchFamily="34" charset="-120"/>
              </a:rPr>
              <a:t>—</a:t>
            </a:r>
            <a:endParaRPr lang="en-US" sz="1150" dirty="0"/>
          </a:p>
        </p:txBody>
      </p:sp>
      <p:sp>
        <p:nvSpPr>
          <p:cNvPr id="46" name="Text 44"/>
          <p:cNvSpPr/>
          <p:nvPr/>
        </p:nvSpPr>
        <p:spPr>
          <a:xfrm>
            <a:off x="10287000" y="4764024"/>
            <a:ext cx="1097280" cy="384048"/>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SCENARIO ANALYSIS</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The downside is real, and the engine says so</a:t>
            </a:r>
            <a:endParaRPr lang="en-US" sz="3000" dirty="0"/>
          </a:p>
        </p:txBody>
      </p:sp>
      <p:sp>
        <p:nvSpPr>
          <p:cNvPr id="4" name="Shape 2"/>
          <p:cNvSpPr/>
          <p:nvPr/>
        </p:nvSpPr>
        <p:spPr>
          <a:xfrm>
            <a:off x="9475927" y="384048"/>
            <a:ext cx="2148840" cy="384048"/>
          </a:xfrm>
          <a:prstGeom prst="roundRect">
            <a:avLst>
              <a:gd name="adj" fmla="val 50000"/>
            </a:avLst>
          </a:prstGeom>
          <a:solidFill>
            <a:srgbClr val="13314E"/>
          </a:solidFill>
          <a:ln w="12700">
            <a:solidFill>
              <a:srgbClr val="22D3EE"/>
            </a:solidFill>
            <a:prstDash val="solid"/>
          </a:ln>
        </p:spPr>
      </p:sp>
      <p:sp>
        <p:nvSpPr>
          <p:cNvPr id="5" name="Text 3"/>
          <p:cNvSpPr/>
          <p:nvPr/>
        </p:nvSpPr>
        <p:spPr>
          <a:xfrm>
            <a:off x="9475927" y="384048"/>
            <a:ext cx="2148840" cy="384048"/>
          </a:xfrm>
          <a:prstGeom prst="rect">
            <a:avLst/>
          </a:prstGeom>
          <a:noFill/>
          <a:ln/>
        </p:spPr>
        <p:txBody>
          <a:bodyPr wrap="square" lIns="0" tIns="0" rIns="0" bIns="0" rtlCol="0" anchor="ctr"/>
          <a:lstStyle/>
          <a:p>
            <a:pPr algn="ctr" indent="0" marL="0">
              <a:buNone/>
            </a:pPr>
            <a:r>
              <a:rPr lang="en-US" sz="1150" b="1" dirty="0">
                <a:solidFill>
                  <a:srgbClr val="22D3EE"/>
                </a:solidFill>
                <a:latin typeface="Calibri" pitchFamily="34" charset="0"/>
                <a:ea typeface="Calibri" pitchFamily="34" charset="-122"/>
                <a:cs typeface="Calibri" pitchFamily="34" charset="-120"/>
              </a:rPr>
              <a:t>QUESTION 3</a:t>
            </a:r>
            <a:endParaRPr lang="en-US" sz="1150" dirty="0"/>
          </a:p>
        </p:txBody>
      </p:sp>
      <p:sp>
        <p:nvSpPr>
          <p:cNvPr id="6" name="Shape 4"/>
          <p:cNvSpPr/>
          <p:nvPr/>
        </p:nvSpPr>
        <p:spPr>
          <a:xfrm>
            <a:off x="566928" y="1316736"/>
            <a:ext cx="3551834" cy="3346704"/>
          </a:xfrm>
          <a:prstGeom prst="roundRect">
            <a:avLst>
              <a:gd name="adj" fmla="val 2732"/>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7" name="Text 5"/>
          <p:cNvSpPr/>
          <p:nvPr/>
        </p:nvSpPr>
        <p:spPr>
          <a:xfrm>
            <a:off x="786384" y="1481328"/>
            <a:ext cx="3112922" cy="274320"/>
          </a:xfrm>
          <a:prstGeom prst="rect">
            <a:avLst/>
          </a:prstGeom>
          <a:noFill/>
          <a:ln/>
        </p:spPr>
        <p:txBody>
          <a:bodyPr wrap="square" lIns="0" tIns="0" rIns="0" bIns="0" rtlCol="0" anchor="ctr"/>
          <a:lstStyle/>
          <a:p>
            <a:pPr indent="0" marL="0">
              <a:buNone/>
            </a:pPr>
            <a:r>
              <a:rPr lang="en-US" sz="1200" b="1" spc="160" kern="0" dirty="0">
                <a:solidFill>
                  <a:srgbClr val="34D399"/>
                </a:solidFill>
                <a:latin typeface="Calibri" pitchFamily="34" charset="0"/>
                <a:ea typeface="Calibri" pitchFamily="34" charset="-122"/>
                <a:cs typeface="Calibri" pitchFamily="34" charset="-120"/>
              </a:rPr>
              <a:t>OPTIMISTIC</a:t>
            </a:r>
            <a:endParaRPr lang="en-US" sz="1200" dirty="0"/>
          </a:p>
        </p:txBody>
      </p:sp>
      <p:sp>
        <p:nvSpPr>
          <p:cNvPr id="8" name="Text 6"/>
          <p:cNvSpPr/>
          <p:nvPr/>
        </p:nvSpPr>
        <p:spPr>
          <a:xfrm>
            <a:off x="786384" y="1737360"/>
            <a:ext cx="3112922" cy="237744"/>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25% weight</a:t>
            </a:r>
            <a:endParaRPr lang="en-US" sz="1050" dirty="0"/>
          </a:p>
        </p:txBody>
      </p:sp>
      <p:sp>
        <p:nvSpPr>
          <p:cNvPr id="9" name="Text 7"/>
          <p:cNvSpPr/>
          <p:nvPr/>
        </p:nvSpPr>
        <p:spPr>
          <a:xfrm>
            <a:off x="786384" y="2066544"/>
            <a:ext cx="3112922" cy="566928"/>
          </a:xfrm>
          <a:prstGeom prst="rect">
            <a:avLst/>
          </a:prstGeom>
          <a:noFill/>
          <a:ln/>
        </p:spPr>
        <p:txBody>
          <a:bodyPr wrap="square" lIns="0" tIns="0" rIns="0" bIns="0" rtlCol="0" anchor="ctr"/>
          <a:lstStyle/>
          <a:p>
            <a:pPr indent="0" marL="0">
              <a:buNone/>
            </a:pPr>
            <a:r>
              <a:rPr lang="en-US" sz="2700" b="1" dirty="0">
                <a:solidFill>
                  <a:srgbClr val="34D399"/>
                </a:solidFill>
                <a:latin typeface="Cambria" pitchFamily="34" charset="0"/>
                <a:ea typeface="Cambria" pitchFamily="34" charset="-122"/>
                <a:cs typeface="Cambria" pitchFamily="34" charset="-120"/>
              </a:rPr>
              <a:t>AED 19.01M</a:t>
            </a:r>
            <a:endParaRPr lang="en-US" sz="2700" dirty="0"/>
          </a:p>
        </p:txBody>
      </p:sp>
      <p:sp>
        <p:nvSpPr>
          <p:cNvPr id="10" name="Text 8"/>
          <p:cNvSpPr/>
          <p:nvPr/>
        </p:nvSpPr>
        <p:spPr>
          <a:xfrm>
            <a:off x="786384" y="2761488"/>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IRR</a:t>
            </a:r>
            <a:endParaRPr lang="en-US" sz="1100" dirty="0"/>
          </a:p>
        </p:txBody>
      </p:sp>
      <p:sp>
        <p:nvSpPr>
          <p:cNvPr id="11" name="Text 9"/>
          <p:cNvSpPr/>
          <p:nvPr/>
        </p:nvSpPr>
        <p:spPr>
          <a:xfrm>
            <a:off x="2344826" y="2761488"/>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33.59%</a:t>
            </a:r>
            <a:endParaRPr lang="en-US" sz="1150" dirty="0"/>
          </a:p>
        </p:txBody>
      </p:sp>
      <p:sp>
        <p:nvSpPr>
          <p:cNvPr id="12" name="Text 10"/>
          <p:cNvSpPr/>
          <p:nvPr/>
        </p:nvSpPr>
        <p:spPr>
          <a:xfrm>
            <a:off x="786384" y="3072384"/>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PI</a:t>
            </a:r>
            <a:endParaRPr lang="en-US" sz="1100" dirty="0"/>
          </a:p>
        </p:txBody>
      </p:sp>
      <p:sp>
        <p:nvSpPr>
          <p:cNvPr id="13" name="Text 11"/>
          <p:cNvSpPr/>
          <p:nvPr/>
        </p:nvSpPr>
        <p:spPr>
          <a:xfrm>
            <a:off x="2344826" y="3072384"/>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1.830x</a:t>
            </a:r>
            <a:endParaRPr lang="en-US" sz="1150" dirty="0"/>
          </a:p>
        </p:txBody>
      </p:sp>
      <p:sp>
        <p:nvSpPr>
          <p:cNvPr id="14" name="Text 12"/>
          <p:cNvSpPr/>
          <p:nvPr/>
        </p:nvSpPr>
        <p:spPr>
          <a:xfrm>
            <a:off x="786384" y="3383280"/>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Payback</a:t>
            </a:r>
            <a:endParaRPr lang="en-US" sz="1100" dirty="0"/>
          </a:p>
        </p:txBody>
      </p:sp>
      <p:sp>
        <p:nvSpPr>
          <p:cNvPr id="15" name="Text 13"/>
          <p:cNvSpPr/>
          <p:nvPr/>
        </p:nvSpPr>
        <p:spPr>
          <a:xfrm>
            <a:off x="2344826" y="3383280"/>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2.63 yrs</a:t>
            </a:r>
            <a:endParaRPr lang="en-US" sz="1150" dirty="0"/>
          </a:p>
        </p:txBody>
      </p:sp>
      <p:sp>
        <p:nvSpPr>
          <p:cNvPr id="16" name="Text 14"/>
          <p:cNvSpPr/>
          <p:nvPr/>
        </p:nvSpPr>
        <p:spPr>
          <a:xfrm>
            <a:off x="786384" y="3730752"/>
            <a:ext cx="3112922"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CapEx ×0.95 · benefits ×1.10 · WACC 10.5%</a:t>
            </a:r>
            <a:endParaRPr lang="en-US" sz="1000" dirty="0"/>
          </a:p>
        </p:txBody>
      </p:sp>
      <p:sp>
        <p:nvSpPr>
          <p:cNvPr id="17" name="Shape 15"/>
          <p:cNvSpPr/>
          <p:nvPr/>
        </p:nvSpPr>
        <p:spPr>
          <a:xfrm>
            <a:off x="786384" y="4169664"/>
            <a:ext cx="3112922" cy="365760"/>
          </a:xfrm>
          <a:prstGeom prst="roundRect">
            <a:avLst>
              <a:gd name="adj" fmla="val 22500"/>
            </a:avLst>
          </a:prstGeom>
          <a:solidFill>
            <a:srgbClr val="0F3B2E"/>
          </a:solidFill>
          <a:ln w="12700">
            <a:solidFill>
              <a:srgbClr val="34D399"/>
            </a:solidFill>
            <a:prstDash val="solid"/>
          </a:ln>
        </p:spPr>
      </p:sp>
      <p:sp>
        <p:nvSpPr>
          <p:cNvPr id="18" name="Text 16"/>
          <p:cNvSpPr/>
          <p:nvPr/>
        </p:nvSpPr>
        <p:spPr>
          <a:xfrm>
            <a:off x="786384" y="4169664"/>
            <a:ext cx="3112922" cy="365760"/>
          </a:xfrm>
          <a:prstGeom prst="rect">
            <a:avLst/>
          </a:prstGeom>
          <a:noFill/>
          <a:ln/>
        </p:spPr>
        <p:txBody>
          <a:bodyPr wrap="square" lIns="0" tIns="0" rIns="0" bIns="0" rtlCol="0" anchor="ctr"/>
          <a:lstStyle/>
          <a:p>
            <a:pPr algn="ctr" indent="0" marL="0">
              <a:buNone/>
            </a:pPr>
            <a:r>
              <a:rPr lang="en-US" sz="1150" b="1" dirty="0">
                <a:solidFill>
                  <a:srgbClr val="34D399"/>
                </a:solidFill>
                <a:latin typeface="Calibri" pitchFamily="34" charset="0"/>
                <a:ea typeface="Calibri" pitchFamily="34" charset="-122"/>
                <a:cs typeface="Calibri" pitchFamily="34" charset="-120"/>
              </a:rPr>
              <a:t>APPROVE</a:t>
            </a:r>
            <a:endParaRPr lang="en-US" sz="1150" dirty="0"/>
          </a:p>
        </p:txBody>
      </p:sp>
      <p:sp>
        <p:nvSpPr>
          <p:cNvPr id="19" name="Shape 17"/>
          <p:cNvSpPr/>
          <p:nvPr/>
        </p:nvSpPr>
        <p:spPr>
          <a:xfrm>
            <a:off x="4319930" y="1316736"/>
            <a:ext cx="3551834" cy="3346704"/>
          </a:xfrm>
          <a:prstGeom prst="roundRect">
            <a:avLst>
              <a:gd name="adj" fmla="val 2732"/>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0" name="Text 18"/>
          <p:cNvSpPr/>
          <p:nvPr/>
        </p:nvSpPr>
        <p:spPr>
          <a:xfrm>
            <a:off x="4539386" y="1481328"/>
            <a:ext cx="3112922" cy="274320"/>
          </a:xfrm>
          <a:prstGeom prst="rect">
            <a:avLst/>
          </a:prstGeom>
          <a:noFill/>
          <a:ln/>
        </p:spPr>
        <p:txBody>
          <a:bodyPr wrap="square" lIns="0" tIns="0" rIns="0" bIns="0" rtlCol="0" anchor="ctr"/>
          <a:lstStyle/>
          <a:p>
            <a:pPr indent="0" marL="0">
              <a:buNone/>
            </a:pPr>
            <a:r>
              <a:rPr lang="en-US" sz="1200" b="1" spc="160" kern="0" dirty="0">
                <a:solidFill>
                  <a:srgbClr val="34D399"/>
                </a:solidFill>
                <a:latin typeface="Calibri" pitchFamily="34" charset="0"/>
                <a:ea typeface="Calibri" pitchFamily="34" charset="-122"/>
                <a:cs typeface="Calibri" pitchFamily="34" charset="-120"/>
              </a:rPr>
              <a:t>BASE CASE</a:t>
            </a:r>
            <a:endParaRPr lang="en-US" sz="1200" dirty="0"/>
          </a:p>
        </p:txBody>
      </p:sp>
      <p:sp>
        <p:nvSpPr>
          <p:cNvPr id="21" name="Text 19"/>
          <p:cNvSpPr/>
          <p:nvPr/>
        </p:nvSpPr>
        <p:spPr>
          <a:xfrm>
            <a:off x="4539386" y="1737360"/>
            <a:ext cx="3112922" cy="237744"/>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50% weight</a:t>
            </a:r>
            <a:endParaRPr lang="en-US" sz="1050" dirty="0"/>
          </a:p>
        </p:txBody>
      </p:sp>
      <p:sp>
        <p:nvSpPr>
          <p:cNvPr id="22" name="Text 20"/>
          <p:cNvSpPr/>
          <p:nvPr/>
        </p:nvSpPr>
        <p:spPr>
          <a:xfrm>
            <a:off x="4539386" y="2066544"/>
            <a:ext cx="3112922" cy="566928"/>
          </a:xfrm>
          <a:prstGeom prst="rect">
            <a:avLst/>
          </a:prstGeom>
          <a:noFill/>
          <a:ln/>
        </p:spPr>
        <p:txBody>
          <a:bodyPr wrap="square" lIns="0" tIns="0" rIns="0" bIns="0" rtlCol="0" anchor="ctr"/>
          <a:lstStyle/>
          <a:p>
            <a:pPr indent="0" marL="0">
              <a:buNone/>
            </a:pPr>
            <a:r>
              <a:rPr lang="en-US" sz="2700" b="1" dirty="0">
                <a:solidFill>
                  <a:srgbClr val="34D399"/>
                </a:solidFill>
                <a:latin typeface="Cambria" pitchFamily="34" charset="0"/>
                <a:ea typeface="Cambria" pitchFamily="34" charset="-122"/>
                <a:cs typeface="Cambria" pitchFamily="34" charset="-120"/>
              </a:rPr>
              <a:t>AED 12.08M</a:t>
            </a:r>
            <a:endParaRPr lang="en-US" sz="2700" dirty="0"/>
          </a:p>
        </p:txBody>
      </p:sp>
      <p:sp>
        <p:nvSpPr>
          <p:cNvPr id="23" name="Text 21"/>
          <p:cNvSpPr/>
          <p:nvPr/>
        </p:nvSpPr>
        <p:spPr>
          <a:xfrm>
            <a:off x="4539386" y="2761488"/>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IRR</a:t>
            </a:r>
            <a:endParaRPr lang="en-US" sz="1100" dirty="0"/>
          </a:p>
        </p:txBody>
      </p:sp>
      <p:sp>
        <p:nvSpPr>
          <p:cNvPr id="24" name="Text 22"/>
          <p:cNvSpPr/>
          <p:nvPr/>
        </p:nvSpPr>
        <p:spPr>
          <a:xfrm>
            <a:off x="6097829" y="2761488"/>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26.30%</a:t>
            </a:r>
            <a:endParaRPr lang="en-US" sz="1150" dirty="0"/>
          </a:p>
        </p:txBody>
      </p:sp>
      <p:sp>
        <p:nvSpPr>
          <p:cNvPr id="25" name="Text 23"/>
          <p:cNvSpPr/>
          <p:nvPr/>
        </p:nvSpPr>
        <p:spPr>
          <a:xfrm>
            <a:off x="4539386" y="3072384"/>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PI</a:t>
            </a:r>
            <a:endParaRPr lang="en-US" sz="1100" dirty="0"/>
          </a:p>
        </p:txBody>
      </p:sp>
      <p:sp>
        <p:nvSpPr>
          <p:cNvPr id="26" name="Text 24"/>
          <p:cNvSpPr/>
          <p:nvPr/>
        </p:nvSpPr>
        <p:spPr>
          <a:xfrm>
            <a:off x="6097829" y="3072384"/>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1.504x</a:t>
            </a:r>
            <a:endParaRPr lang="en-US" sz="1150" dirty="0"/>
          </a:p>
        </p:txBody>
      </p:sp>
      <p:sp>
        <p:nvSpPr>
          <p:cNvPr id="27" name="Text 25"/>
          <p:cNvSpPr/>
          <p:nvPr/>
        </p:nvSpPr>
        <p:spPr>
          <a:xfrm>
            <a:off x="4539386" y="3383280"/>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Payback</a:t>
            </a:r>
            <a:endParaRPr lang="en-US" sz="1100" dirty="0"/>
          </a:p>
        </p:txBody>
      </p:sp>
      <p:sp>
        <p:nvSpPr>
          <p:cNvPr id="28" name="Text 26"/>
          <p:cNvSpPr/>
          <p:nvPr/>
        </p:nvSpPr>
        <p:spPr>
          <a:xfrm>
            <a:off x="6097829" y="3383280"/>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3.10 yrs</a:t>
            </a:r>
            <a:endParaRPr lang="en-US" sz="1150" dirty="0"/>
          </a:p>
        </p:txBody>
      </p:sp>
      <p:sp>
        <p:nvSpPr>
          <p:cNvPr id="29" name="Text 27"/>
          <p:cNvSpPr/>
          <p:nvPr/>
        </p:nvSpPr>
        <p:spPr>
          <a:xfrm>
            <a:off x="4539386" y="3730752"/>
            <a:ext cx="3112922"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Management baseline · WACC 11.5%</a:t>
            </a:r>
            <a:endParaRPr lang="en-US" sz="1000" dirty="0"/>
          </a:p>
        </p:txBody>
      </p:sp>
      <p:sp>
        <p:nvSpPr>
          <p:cNvPr id="30" name="Shape 28"/>
          <p:cNvSpPr/>
          <p:nvPr/>
        </p:nvSpPr>
        <p:spPr>
          <a:xfrm>
            <a:off x="4539386" y="4169664"/>
            <a:ext cx="3112922" cy="365760"/>
          </a:xfrm>
          <a:prstGeom prst="roundRect">
            <a:avLst>
              <a:gd name="adj" fmla="val 22500"/>
            </a:avLst>
          </a:prstGeom>
          <a:solidFill>
            <a:srgbClr val="0F3B2E"/>
          </a:solidFill>
          <a:ln w="12700">
            <a:solidFill>
              <a:srgbClr val="34D399"/>
            </a:solidFill>
            <a:prstDash val="solid"/>
          </a:ln>
        </p:spPr>
      </p:sp>
      <p:sp>
        <p:nvSpPr>
          <p:cNvPr id="31" name="Text 29"/>
          <p:cNvSpPr/>
          <p:nvPr/>
        </p:nvSpPr>
        <p:spPr>
          <a:xfrm>
            <a:off x="4539386" y="4169664"/>
            <a:ext cx="3112922" cy="365760"/>
          </a:xfrm>
          <a:prstGeom prst="rect">
            <a:avLst/>
          </a:prstGeom>
          <a:noFill/>
          <a:ln/>
        </p:spPr>
        <p:txBody>
          <a:bodyPr wrap="square" lIns="0" tIns="0" rIns="0" bIns="0" rtlCol="0" anchor="ctr"/>
          <a:lstStyle/>
          <a:p>
            <a:pPr algn="ctr" indent="0" marL="0">
              <a:buNone/>
            </a:pPr>
            <a:r>
              <a:rPr lang="en-US" sz="1150" b="1" dirty="0">
                <a:solidFill>
                  <a:srgbClr val="34D399"/>
                </a:solidFill>
                <a:latin typeface="Calibri" pitchFamily="34" charset="0"/>
                <a:ea typeface="Calibri" pitchFamily="34" charset="-122"/>
                <a:cs typeface="Calibri" pitchFamily="34" charset="-120"/>
              </a:rPr>
              <a:t>APPROVE</a:t>
            </a:r>
            <a:endParaRPr lang="en-US" sz="1150" dirty="0"/>
          </a:p>
        </p:txBody>
      </p:sp>
      <p:sp>
        <p:nvSpPr>
          <p:cNvPr id="32" name="Shape 30"/>
          <p:cNvSpPr/>
          <p:nvPr/>
        </p:nvSpPr>
        <p:spPr>
          <a:xfrm>
            <a:off x="8072933" y="1316736"/>
            <a:ext cx="3551834" cy="3346704"/>
          </a:xfrm>
          <a:prstGeom prst="roundRect">
            <a:avLst>
              <a:gd name="adj" fmla="val 2732"/>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3" name="Text 31"/>
          <p:cNvSpPr/>
          <p:nvPr/>
        </p:nvSpPr>
        <p:spPr>
          <a:xfrm>
            <a:off x="8292389" y="1481328"/>
            <a:ext cx="3112922" cy="274320"/>
          </a:xfrm>
          <a:prstGeom prst="rect">
            <a:avLst/>
          </a:prstGeom>
          <a:noFill/>
          <a:ln/>
        </p:spPr>
        <p:txBody>
          <a:bodyPr wrap="square" lIns="0" tIns="0" rIns="0" bIns="0" rtlCol="0" anchor="ctr"/>
          <a:lstStyle/>
          <a:p>
            <a:pPr indent="0" marL="0">
              <a:buNone/>
            </a:pPr>
            <a:r>
              <a:rPr lang="en-US" sz="1200" b="1" spc="160" kern="0" dirty="0">
                <a:solidFill>
                  <a:srgbClr val="F87171"/>
                </a:solidFill>
                <a:latin typeface="Calibri" pitchFamily="34" charset="0"/>
                <a:ea typeface="Calibri" pitchFamily="34" charset="-122"/>
                <a:cs typeface="Calibri" pitchFamily="34" charset="-120"/>
              </a:rPr>
              <a:t>PESSIMISTIC</a:t>
            </a:r>
            <a:endParaRPr lang="en-US" sz="1200" dirty="0"/>
          </a:p>
        </p:txBody>
      </p:sp>
      <p:sp>
        <p:nvSpPr>
          <p:cNvPr id="34" name="Text 32"/>
          <p:cNvSpPr/>
          <p:nvPr/>
        </p:nvSpPr>
        <p:spPr>
          <a:xfrm>
            <a:off x="8292389" y="1737360"/>
            <a:ext cx="3112922" cy="237744"/>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25% weight</a:t>
            </a:r>
            <a:endParaRPr lang="en-US" sz="1050" dirty="0"/>
          </a:p>
        </p:txBody>
      </p:sp>
      <p:sp>
        <p:nvSpPr>
          <p:cNvPr id="35" name="Text 33"/>
          <p:cNvSpPr/>
          <p:nvPr/>
        </p:nvSpPr>
        <p:spPr>
          <a:xfrm>
            <a:off x="8292389" y="2066544"/>
            <a:ext cx="3112922" cy="566928"/>
          </a:xfrm>
          <a:prstGeom prst="rect">
            <a:avLst/>
          </a:prstGeom>
          <a:noFill/>
          <a:ln/>
        </p:spPr>
        <p:txBody>
          <a:bodyPr wrap="square" lIns="0" tIns="0" rIns="0" bIns="0" rtlCol="0" anchor="ctr"/>
          <a:lstStyle/>
          <a:p>
            <a:pPr indent="0" marL="0">
              <a:buNone/>
            </a:pPr>
            <a:r>
              <a:rPr lang="en-US" sz="2700" b="1" dirty="0">
                <a:solidFill>
                  <a:srgbClr val="F87171"/>
                </a:solidFill>
                <a:latin typeface="Cambria" pitchFamily="34" charset="0"/>
                <a:ea typeface="Cambria" pitchFamily="34" charset="-122"/>
                <a:cs typeface="Cambria" pitchFamily="34" charset="-120"/>
              </a:rPr>
              <a:t>(AED 4.94M)</a:t>
            </a:r>
            <a:endParaRPr lang="en-US" sz="2700" dirty="0"/>
          </a:p>
        </p:txBody>
      </p:sp>
      <p:sp>
        <p:nvSpPr>
          <p:cNvPr id="36" name="Text 34"/>
          <p:cNvSpPr/>
          <p:nvPr/>
        </p:nvSpPr>
        <p:spPr>
          <a:xfrm>
            <a:off x="8292389" y="2761488"/>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IRR</a:t>
            </a:r>
            <a:endParaRPr lang="en-US" sz="1100" dirty="0"/>
          </a:p>
        </p:txBody>
      </p:sp>
      <p:sp>
        <p:nvSpPr>
          <p:cNvPr id="37" name="Text 35"/>
          <p:cNvSpPr/>
          <p:nvPr/>
        </p:nvSpPr>
        <p:spPr>
          <a:xfrm>
            <a:off x="9850831" y="2761488"/>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8.23%</a:t>
            </a:r>
            <a:endParaRPr lang="en-US" sz="1150" dirty="0"/>
          </a:p>
        </p:txBody>
      </p:sp>
      <p:sp>
        <p:nvSpPr>
          <p:cNvPr id="38" name="Text 36"/>
          <p:cNvSpPr/>
          <p:nvPr/>
        </p:nvSpPr>
        <p:spPr>
          <a:xfrm>
            <a:off x="8292389" y="3072384"/>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PI</a:t>
            </a:r>
            <a:endParaRPr lang="en-US" sz="1100" dirty="0"/>
          </a:p>
        </p:txBody>
      </p:sp>
      <p:sp>
        <p:nvSpPr>
          <p:cNvPr id="39" name="Text 37"/>
          <p:cNvSpPr/>
          <p:nvPr/>
        </p:nvSpPr>
        <p:spPr>
          <a:xfrm>
            <a:off x="9850831" y="3072384"/>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0.819x</a:t>
            </a:r>
            <a:endParaRPr lang="en-US" sz="1150" dirty="0"/>
          </a:p>
        </p:txBody>
      </p:sp>
      <p:sp>
        <p:nvSpPr>
          <p:cNvPr id="40" name="Text 38"/>
          <p:cNvSpPr/>
          <p:nvPr/>
        </p:nvSpPr>
        <p:spPr>
          <a:xfrm>
            <a:off x="8292389" y="3383280"/>
            <a:ext cx="1371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Payback</a:t>
            </a:r>
            <a:endParaRPr lang="en-US" sz="1100" dirty="0"/>
          </a:p>
        </p:txBody>
      </p:sp>
      <p:sp>
        <p:nvSpPr>
          <p:cNvPr id="41" name="Text 39"/>
          <p:cNvSpPr/>
          <p:nvPr/>
        </p:nvSpPr>
        <p:spPr>
          <a:xfrm>
            <a:off x="9850831" y="3383280"/>
            <a:ext cx="1554480" cy="274320"/>
          </a:xfrm>
          <a:prstGeom prst="rect">
            <a:avLst/>
          </a:prstGeom>
          <a:noFill/>
          <a:ln/>
        </p:spPr>
        <p:txBody>
          <a:bodyPr wrap="square" lIns="0" tIns="0" rIns="0" bIns="0" rtlCol="0" anchor="ctr"/>
          <a:lstStyle/>
          <a:p>
            <a:pPr algn="r" indent="0" marL="0">
              <a:buNone/>
            </a:pPr>
            <a:r>
              <a:rPr lang="en-US" sz="1150" b="1" dirty="0">
                <a:solidFill>
                  <a:srgbClr val="F8FAFC"/>
                </a:solidFill>
                <a:latin typeface="Calibri" pitchFamily="34" charset="0"/>
                <a:ea typeface="Calibri" pitchFamily="34" charset="-122"/>
                <a:cs typeface="Calibri" pitchFamily="34" charset="-120"/>
              </a:rPr>
              <a:t>5.06 yrs</a:t>
            </a:r>
            <a:endParaRPr lang="en-US" sz="1150" dirty="0"/>
          </a:p>
        </p:txBody>
      </p:sp>
      <p:sp>
        <p:nvSpPr>
          <p:cNvPr id="42" name="Text 40"/>
          <p:cNvSpPr/>
          <p:nvPr/>
        </p:nvSpPr>
        <p:spPr>
          <a:xfrm>
            <a:off x="8292389" y="3730752"/>
            <a:ext cx="3112922" cy="420624"/>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CapEx ×1.15 · benefits ×0.75 · WACC 14.5%</a:t>
            </a:r>
            <a:endParaRPr lang="en-US" sz="1000" dirty="0"/>
          </a:p>
        </p:txBody>
      </p:sp>
      <p:sp>
        <p:nvSpPr>
          <p:cNvPr id="43" name="Shape 41"/>
          <p:cNvSpPr/>
          <p:nvPr/>
        </p:nvSpPr>
        <p:spPr>
          <a:xfrm>
            <a:off x="8292389" y="4169664"/>
            <a:ext cx="3112922" cy="365760"/>
          </a:xfrm>
          <a:prstGeom prst="roundRect">
            <a:avLst>
              <a:gd name="adj" fmla="val 22500"/>
            </a:avLst>
          </a:prstGeom>
          <a:solidFill>
            <a:srgbClr val="3B1218"/>
          </a:solidFill>
          <a:ln w="12700">
            <a:solidFill>
              <a:srgbClr val="F87171"/>
            </a:solidFill>
            <a:prstDash val="solid"/>
          </a:ln>
        </p:spPr>
      </p:sp>
      <p:sp>
        <p:nvSpPr>
          <p:cNvPr id="44" name="Text 42"/>
          <p:cNvSpPr/>
          <p:nvPr/>
        </p:nvSpPr>
        <p:spPr>
          <a:xfrm>
            <a:off x="8292389" y="4169664"/>
            <a:ext cx="3112922" cy="365760"/>
          </a:xfrm>
          <a:prstGeom prst="rect">
            <a:avLst/>
          </a:prstGeom>
          <a:noFill/>
          <a:ln/>
        </p:spPr>
        <p:txBody>
          <a:bodyPr wrap="square" lIns="0" tIns="0" rIns="0" bIns="0" rtlCol="0" anchor="ctr"/>
          <a:lstStyle/>
          <a:p>
            <a:pPr algn="ctr" indent="0" marL="0">
              <a:buNone/>
            </a:pPr>
            <a:r>
              <a:rPr lang="en-US" sz="1150" b="1" dirty="0">
                <a:solidFill>
                  <a:srgbClr val="F87171"/>
                </a:solidFill>
                <a:latin typeface="Calibri" pitchFamily="34" charset="0"/>
                <a:ea typeface="Calibri" pitchFamily="34" charset="-122"/>
                <a:cs typeface="Calibri" pitchFamily="34" charset="-120"/>
              </a:rPr>
              <a:t>REJECT</a:t>
            </a:r>
            <a:endParaRPr lang="en-US" sz="1150" dirty="0"/>
          </a:p>
        </p:txBody>
      </p:sp>
      <p:sp>
        <p:nvSpPr>
          <p:cNvPr id="45" name="Shape 43"/>
          <p:cNvSpPr/>
          <p:nvPr/>
        </p:nvSpPr>
        <p:spPr>
          <a:xfrm>
            <a:off x="566928" y="4828032"/>
            <a:ext cx="11057839" cy="786384"/>
          </a:xfrm>
          <a:prstGeom prst="roundRect">
            <a:avLst>
              <a:gd name="adj" fmla="val 11628"/>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46" name="Text 44"/>
          <p:cNvSpPr/>
          <p:nvPr/>
        </p:nvSpPr>
        <p:spPr>
          <a:xfrm>
            <a:off x="841248" y="4956048"/>
            <a:ext cx="10509199" cy="530352"/>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Probability-weighted expected NPV at 50/25/25:  </a:t>
            </a:r>
            <a:pPr indent="0" marL="0">
              <a:buNone/>
            </a:pPr>
            <a:r>
              <a:rPr lang="en-US" sz="1200" b="1" dirty="0">
                <a:solidFill>
                  <a:srgbClr val="34D399"/>
                </a:solidFill>
                <a:latin typeface="Calibri" pitchFamily="34" charset="0"/>
                <a:ea typeface="Calibri" pitchFamily="34" charset="-122"/>
                <a:cs typeface="Calibri" pitchFamily="34" charset="-120"/>
              </a:rPr>
              <a:t>AED 9,560,152</a:t>
            </a:r>
            <a:pPr indent="0" marL="0">
              <a:buNone/>
            </a:pPr>
            <a:r>
              <a:rPr lang="en-US" sz="1200" dirty="0">
                <a:solidFill>
                  <a:srgbClr val="CADCFC"/>
                </a:solidFill>
                <a:latin typeface="Calibri" pitchFamily="34" charset="0"/>
                <a:ea typeface="Calibri" pitchFamily="34" charset="-122"/>
                <a:cs typeface="Calibri" pitchFamily="34" charset="-120"/>
              </a:rPr>
              <a:t>   —   the pessimistic case is not a mild downside. It stacks a 25% benefit shortfall, a 15% cost overrun and a 300 basis-point rate rise at once, and the engine returns a hard Reject.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SENSITIVITY</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One variable dominates everything else</a:t>
            </a:r>
            <a:endParaRPr lang="en-US" sz="3000" dirty="0"/>
          </a:p>
        </p:txBody>
      </p:sp>
      <p:graphicFrame>
        <p:nvGraphicFramePr>
          <p:cNvPr id="4" name="Chart 0" descr=""/>
          <p:cNvGraphicFramePr/>
          <p:nvPr/>
        </p:nvGraphicFramePr>
        <p:xfrm>
          <a:off x="566928" y="1261872"/>
          <a:ext cx="6812280" cy="44988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71232" y="1261872"/>
            <a:ext cx="4053535" cy="2139696"/>
          </a:xfrm>
          <a:prstGeom prst="roundRect">
            <a:avLst>
              <a:gd name="adj" fmla="val 4274"/>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6" name="Text 3"/>
          <p:cNvSpPr/>
          <p:nvPr/>
        </p:nvSpPr>
        <p:spPr>
          <a:xfrm>
            <a:off x="7808976" y="1463040"/>
            <a:ext cx="3657600" cy="292608"/>
          </a:xfrm>
          <a:prstGeom prst="rect">
            <a:avLst/>
          </a:prstGeom>
          <a:noFill/>
          <a:ln/>
        </p:spPr>
        <p:txBody>
          <a:bodyPr wrap="square" lIns="0" tIns="0" rIns="0" bIns="0"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Where the decision flips</a:t>
            </a:r>
            <a:endParaRPr lang="en-US" sz="1350" dirty="0"/>
          </a:p>
        </p:txBody>
      </p:sp>
      <p:sp>
        <p:nvSpPr>
          <p:cNvPr id="7" name="Text 4"/>
          <p:cNvSpPr/>
          <p:nvPr/>
        </p:nvSpPr>
        <p:spPr>
          <a:xfrm>
            <a:off x="7808976" y="1901952"/>
            <a:ext cx="2560320" cy="329184"/>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Benefits fall more than</a:t>
            </a:r>
            <a:endParaRPr lang="en-US" sz="1150" dirty="0"/>
          </a:p>
        </p:txBody>
      </p:sp>
      <p:sp>
        <p:nvSpPr>
          <p:cNvPr id="8" name="Text 5"/>
          <p:cNvSpPr/>
          <p:nvPr/>
        </p:nvSpPr>
        <p:spPr>
          <a:xfrm>
            <a:off x="10351008" y="1901952"/>
            <a:ext cx="1078992" cy="329184"/>
          </a:xfrm>
          <a:prstGeom prst="rect">
            <a:avLst/>
          </a:prstGeom>
          <a:noFill/>
          <a:ln/>
        </p:spPr>
        <p:txBody>
          <a:bodyPr wrap="square" lIns="0" tIns="0" rIns="0" bIns="0" rtlCol="0" anchor="ctr"/>
          <a:lstStyle/>
          <a:p>
            <a:pPr algn="r" indent="0" marL="0">
              <a:buNone/>
            </a:pPr>
            <a:r>
              <a:rPr lang="en-US" sz="1500" b="1" dirty="0">
                <a:solidFill>
                  <a:srgbClr val="FBBF24"/>
                </a:solidFill>
                <a:latin typeface="Cambria" pitchFamily="34" charset="0"/>
                <a:ea typeface="Cambria" pitchFamily="34" charset="-122"/>
                <a:cs typeface="Cambria" pitchFamily="34" charset="-120"/>
              </a:rPr>
              <a:t>29.0%</a:t>
            </a:r>
            <a:endParaRPr lang="en-US" sz="1500" dirty="0"/>
          </a:p>
        </p:txBody>
      </p:sp>
      <p:sp>
        <p:nvSpPr>
          <p:cNvPr id="9" name="Text 6"/>
          <p:cNvSpPr/>
          <p:nvPr/>
        </p:nvSpPr>
        <p:spPr>
          <a:xfrm>
            <a:off x="7808976" y="2304288"/>
            <a:ext cx="2560320" cy="329184"/>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Total outlay rises above</a:t>
            </a:r>
            <a:endParaRPr lang="en-US" sz="1150" dirty="0"/>
          </a:p>
        </p:txBody>
      </p:sp>
      <p:sp>
        <p:nvSpPr>
          <p:cNvPr id="10" name="Text 7"/>
          <p:cNvSpPr/>
          <p:nvPr/>
        </p:nvSpPr>
        <p:spPr>
          <a:xfrm>
            <a:off x="10351008" y="2304288"/>
            <a:ext cx="1078992" cy="329184"/>
          </a:xfrm>
          <a:prstGeom prst="rect">
            <a:avLst/>
          </a:prstGeom>
          <a:noFill/>
          <a:ln/>
        </p:spPr>
        <p:txBody>
          <a:bodyPr wrap="square" lIns="0" tIns="0" rIns="0" bIns="0" rtlCol="0" anchor="ctr"/>
          <a:lstStyle/>
          <a:p>
            <a:pPr algn="r" indent="0" marL="0">
              <a:buNone/>
            </a:pPr>
            <a:r>
              <a:rPr lang="en-US" sz="1500" b="1" dirty="0">
                <a:solidFill>
                  <a:srgbClr val="FBBF24"/>
                </a:solidFill>
                <a:latin typeface="Cambria" pitchFamily="34" charset="0"/>
                <a:ea typeface="Cambria" pitchFamily="34" charset="-122"/>
                <a:cs typeface="Cambria" pitchFamily="34" charset="-120"/>
              </a:rPr>
              <a:t>50.4%</a:t>
            </a:r>
            <a:endParaRPr lang="en-US" sz="1500" dirty="0"/>
          </a:p>
        </p:txBody>
      </p:sp>
      <p:sp>
        <p:nvSpPr>
          <p:cNvPr id="11" name="Text 8"/>
          <p:cNvSpPr/>
          <p:nvPr/>
        </p:nvSpPr>
        <p:spPr>
          <a:xfrm>
            <a:off x="7808976" y="2706624"/>
            <a:ext cx="2560320" cy="329184"/>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Discount rate exceeds</a:t>
            </a:r>
            <a:endParaRPr lang="en-US" sz="1150" dirty="0"/>
          </a:p>
        </p:txBody>
      </p:sp>
      <p:sp>
        <p:nvSpPr>
          <p:cNvPr id="12" name="Text 9"/>
          <p:cNvSpPr/>
          <p:nvPr/>
        </p:nvSpPr>
        <p:spPr>
          <a:xfrm>
            <a:off x="10351008" y="2706624"/>
            <a:ext cx="1078992" cy="329184"/>
          </a:xfrm>
          <a:prstGeom prst="rect">
            <a:avLst/>
          </a:prstGeom>
          <a:noFill/>
          <a:ln/>
        </p:spPr>
        <p:txBody>
          <a:bodyPr wrap="square" lIns="0" tIns="0" rIns="0" bIns="0" rtlCol="0" anchor="ctr"/>
          <a:lstStyle/>
          <a:p>
            <a:pPr algn="r" indent="0" marL="0">
              <a:buNone/>
            </a:pPr>
            <a:r>
              <a:rPr lang="en-US" sz="1500" b="1" dirty="0">
                <a:solidFill>
                  <a:srgbClr val="FBBF24"/>
                </a:solidFill>
                <a:latin typeface="Cambria" pitchFamily="34" charset="0"/>
                <a:ea typeface="Cambria" pitchFamily="34" charset="-122"/>
                <a:cs typeface="Cambria" pitchFamily="34" charset="-120"/>
              </a:rPr>
              <a:t>26.30%</a:t>
            </a:r>
            <a:endParaRPr lang="en-US" sz="1500" dirty="0"/>
          </a:p>
        </p:txBody>
      </p:sp>
      <p:sp>
        <p:nvSpPr>
          <p:cNvPr id="13" name="Shape 10"/>
          <p:cNvSpPr/>
          <p:nvPr/>
        </p:nvSpPr>
        <p:spPr>
          <a:xfrm>
            <a:off x="7571232" y="3602736"/>
            <a:ext cx="4053535" cy="2157984"/>
          </a:xfrm>
          <a:prstGeom prst="roundRect">
            <a:avLst>
              <a:gd name="adj" fmla="val 4237"/>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4" name="Shape 11"/>
          <p:cNvSpPr/>
          <p:nvPr/>
        </p:nvSpPr>
        <p:spPr>
          <a:xfrm>
            <a:off x="7808976" y="3822192"/>
            <a:ext cx="310896" cy="310896"/>
          </a:xfrm>
          <a:prstGeom prst="ellipse">
            <a:avLst/>
          </a:prstGeom>
          <a:solidFill>
            <a:srgbClr val="22D3EE"/>
          </a:solidFill>
          <a:ln w="12700">
            <a:solidFill>
              <a:srgbClr val="22D3EE"/>
            </a:solidFill>
            <a:prstDash val="solid"/>
          </a:ln>
        </p:spPr>
      </p:sp>
      <p:sp>
        <p:nvSpPr>
          <p:cNvPr id="15" name="Text 12"/>
          <p:cNvSpPr/>
          <p:nvPr/>
        </p:nvSpPr>
        <p:spPr>
          <a:xfrm>
            <a:off x="7808976" y="3822192"/>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a:t>
            </a:r>
            <a:endParaRPr lang="en-US" sz="1300" dirty="0"/>
          </a:p>
        </p:txBody>
      </p:sp>
      <p:sp>
        <p:nvSpPr>
          <p:cNvPr id="16" name="Text 13"/>
          <p:cNvSpPr/>
          <p:nvPr/>
        </p:nvSpPr>
        <p:spPr>
          <a:xfrm>
            <a:off x="8247888" y="3803904"/>
            <a:ext cx="3108960" cy="292608"/>
          </a:xfrm>
          <a:prstGeom prst="rect">
            <a:avLst/>
          </a:prstGeom>
          <a:noFill/>
          <a:ln/>
        </p:spPr>
        <p:txBody>
          <a:bodyPr wrap="square" lIns="0" tIns="0" rIns="0" bIns="0" rtlCol="0" anchor="ctr"/>
          <a:lstStyle/>
          <a:p>
            <a:pPr indent="0" marL="0">
              <a:buNone/>
            </a:pPr>
            <a:r>
              <a:rPr lang="en-US" sz="1350" b="1" dirty="0">
                <a:solidFill>
                  <a:srgbClr val="F8FAFC"/>
                </a:solidFill>
                <a:latin typeface="Calibri" pitchFamily="34" charset="0"/>
                <a:ea typeface="Calibri" pitchFamily="34" charset="-122"/>
                <a:cs typeface="Calibri" pitchFamily="34" charset="-120"/>
              </a:rPr>
              <a:t>The management response</a:t>
            </a:r>
            <a:endParaRPr lang="en-US" sz="1350" dirty="0"/>
          </a:p>
        </p:txBody>
      </p:sp>
      <p:sp>
        <p:nvSpPr>
          <p:cNvPr id="17" name="Text 14"/>
          <p:cNvSpPr/>
          <p:nvPr/>
        </p:nvSpPr>
        <p:spPr>
          <a:xfrm>
            <a:off x="7808976" y="4206240"/>
            <a:ext cx="3621024" cy="1426464"/>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Operating benefits swing NPV by AED 16.67M — more than the project’s entire base-case value, and twice the next driver. The principal risk is benefit realisation, not capital cost. So gate capital on measured savings rather than negotiating harder on equipment price.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RISK</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Five thousand runs, and a rules engine that fires</a:t>
            </a:r>
            <a:endParaRPr lang="en-US" sz="3000" dirty="0"/>
          </a:p>
        </p:txBody>
      </p:sp>
      <p:graphicFrame>
        <p:nvGraphicFramePr>
          <p:cNvPr id="4" name="Chart 0" descr=""/>
          <p:cNvGraphicFramePr/>
          <p:nvPr/>
        </p:nvGraphicFramePr>
        <p:xfrm>
          <a:off x="566928" y="1261872"/>
          <a:ext cx="5760720" cy="3255264"/>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 y="4663440"/>
            <a:ext cx="1786128"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6" name="Text 3"/>
          <p:cNvSpPr/>
          <p:nvPr/>
        </p:nvSpPr>
        <p:spPr>
          <a:xfrm>
            <a:off x="585216" y="4791456"/>
            <a:ext cx="1749552" cy="566928"/>
          </a:xfrm>
          <a:prstGeom prst="rect">
            <a:avLst/>
          </a:prstGeom>
          <a:noFill/>
          <a:ln/>
        </p:spPr>
        <p:txBody>
          <a:bodyPr wrap="square" lIns="0" tIns="0" rIns="0" bIns="0" rtlCol="0" anchor="ctr"/>
          <a:lstStyle/>
          <a:p>
            <a:pPr algn="ctr" indent="0" marL="0">
              <a:buNone/>
            </a:pPr>
            <a:r>
              <a:rPr lang="en-US" sz="2700" b="1" dirty="0">
                <a:solidFill>
                  <a:srgbClr val="F8FAFC"/>
                </a:solidFill>
                <a:latin typeface="Cambria" pitchFamily="34" charset="0"/>
                <a:ea typeface="Cambria" pitchFamily="34" charset="-122"/>
                <a:cs typeface="Cambria" pitchFamily="34" charset="-120"/>
              </a:rPr>
              <a:t>AED 10.5M</a:t>
            </a:r>
            <a:endParaRPr lang="en-US" sz="2700" dirty="0"/>
          </a:p>
        </p:txBody>
      </p:sp>
      <p:sp>
        <p:nvSpPr>
          <p:cNvPr id="7" name="Text 4"/>
          <p:cNvSpPr/>
          <p:nvPr/>
        </p:nvSpPr>
        <p:spPr>
          <a:xfrm>
            <a:off x="585216" y="5376672"/>
            <a:ext cx="1749552"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Mean NPV</a:t>
            </a:r>
            <a:endParaRPr lang="en-US" sz="1050" dirty="0"/>
          </a:p>
        </p:txBody>
      </p:sp>
      <p:sp>
        <p:nvSpPr>
          <p:cNvPr id="8" name="Shape 5"/>
          <p:cNvSpPr/>
          <p:nvPr/>
        </p:nvSpPr>
        <p:spPr>
          <a:xfrm>
            <a:off x="2554224" y="4663440"/>
            <a:ext cx="1786128"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9" name="Text 6"/>
          <p:cNvSpPr/>
          <p:nvPr/>
        </p:nvSpPr>
        <p:spPr>
          <a:xfrm>
            <a:off x="2572512" y="4791456"/>
            <a:ext cx="1749552" cy="566928"/>
          </a:xfrm>
          <a:prstGeom prst="rect">
            <a:avLst/>
          </a:prstGeom>
          <a:noFill/>
          <a:ln/>
        </p:spPr>
        <p:txBody>
          <a:bodyPr wrap="square" lIns="0" tIns="0" rIns="0" bIns="0" rtlCol="0" anchor="ctr"/>
          <a:lstStyle/>
          <a:p>
            <a:pPr algn="ctr" indent="0" marL="0">
              <a:buNone/>
            </a:pPr>
            <a:r>
              <a:rPr lang="en-US" sz="2700" b="1" dirty="0">
                <a:solidFill>
                  <a:srgbClr val="34D399"/>
                </a:solidFill>
                <a:latin typeface="Cambria" pitchFamily="34" charset="0"/>
                <a:ea typeface="Cambria" pitchFamily="34" charset="-122"/>
                <a:cs typeface="Cambria" pitchFamily="34" charset="-120"/>
              </a:rPr>
              <a:t>0.3%</a:t>
            </a:r>
            <a:endParaRPr lang="en-US" sz="2700" dirty="0"/>
          </a:p>
        </p:txBody>
      </p:sp>
      <p:sp>
        <p:nvSpPr>
          <p:cNvPr id="10" name="Text 7"/>
          <p:cNvSpPr/>
          <p:nvPr/>
        </p:nvSpPr>
        <p:spPr>
          <a:xfrm>
            <a:off x="2572512" y="5376672"/>
            <a:ext cx="1749552"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Probability of loss</a:t>
            </a:r>
            <a:endParaRPr lang="en-US" sz="1050" dirty="0"/>
          </a:p>
        </p:txBody>
      </p:sp>
      <p:sp>
        <p:nvSpPr>
          <p:cNvPr id="11" name="Shape 8"/>
          <p:cNvSpPr/>
          <p:nvPr/>
        </p:nvSpPr>
        <p:spPr>
          <a:xfrm>
            <a:off x="4541520" y="4663440"/>
            <a:ext cx="1786128" cy="1133856"/>
          </a:xfrm>
          <a:prstGeom prst="roundRect">
            <a:avLst>
              <a:gd name="adj" fmla="val 8065"/>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2" name="Text 9"/>
          <p:cNvSpPr/>
          <p:nvPr/>
        </p:nvSpPr>
        <p:spPr>
          <a:xfrm>
            <a:off x="4559808" y="4791456"/>
            <a:ext cx="1749552" cy="566928"/>
          </a:xfrm>
          <a:prstGeom prst="rect">
            <a:avLst/>
          </a:prstGeom>
          <a:noFill/>
          <a:ln/>
        </p:spPr>
        <p:txBody>
          <a:bodyPr wrap="square" lIns="0" tIns="0" rIns="0" bIns="0" rtlCol="0" anchor="ctr"/>
          <a:lstStyle/>
          <a:p>
            <a:pPr algn="ctr" indent="0" marL="0">
              <a:buNone/>
            </a:pPr>
            <a:r>
              <a:rPr lang="en-US" sz="2700" b="1" dirty="0">
                <a:solidFill>
                  <a:srgbClr val="34D399"/>
                </a:solidFill>
                <a:latin typeface="Cambria" pitchFamily="34" charset="0"/>
                <a:ea typeface="Cambria" pitchFamily="34" charset="-122"/>
                <a:cs typeface="Cambria" pitchFamily="34" charset="-120"/>
              </a:rPr>
              <a:t>99.7%</a:t>
            </a:r>
            <a:endParaRPr lang="en-US" sz="2700" dirty="0"/>
          </a:p>
        </p:txBody>
      </p:sp>
      <p:sp>
        <p:nvSpPr>
          <p:cNvPr id="13" name="Text 10"/>
          <p:cNvSpPr/>
          <p:nvPr/>
        </p:nvSpPr>
        <p:spPr>
          <a:xfrm>
            <a:off x="4559808" y="5376672"/>
            <a:ext cx="1749552" cy="310896"/>
          </a:xfrm>
          <a:prstGeom prst="rect">
            <a:avLst/>
          </a:prstGeom>
          <a:noFill/>
          <a:ln/>
        </p:spPr>
        <p:txBody>
          <a:bodyPr wrap="square" lIns="0" tIns="0" rIns="0" bIns="0"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Probability NPV &gt; 0</a:t>
            </a:r>
            <a:endParaRPr lang="en-US" sz="1050" dirty="0"/>
          </a:p>
        </p:txBody>
      </p:sp>
      <p:sp>
        <p:nvSpPr>
          <p:cNvPr id="14" name="Shape 11"/>
          <p:cNvSpPr/>
          <p:nvPr/>
        </p:nvSpPr>
        <p:spPr>
          <a:xfrm>
            <a:off x="6528816" y="1261872"/>
            <a:ext cx="5095951" cy="4626864"/>
          </a:xfrm>
          <a:prstGeom prst="roundRect">
            <a:avLst>
              <a:gd name="adj" fmla="val 197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5" name="Text 12"/>
          <p:cNvSpPr/>
          <p:nvPr/>
        </p:nvSpPr>
        <p:spPr>
          <a:xfrm>
            <a:off x="6766560" y="1444752"/>
            <a:ext cx="4754880" cy="292608"/>
          </a:xfrm>
          <a:prstGeom prst="rect">
            <a:avLst/>
          </a:prstGeom>
          <a:noFill/>
          <a:ln/>
        </p:spPr>
        <p:txBody>
          <a:bodyPr wrap="square" lIns="0" tIns="0" rIns="0" bIns="0"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Deterministic risk alerts — 11 rules, severity-ranked</a:t>
            </a:r>
            <a:endParaRPr lang="en-US" sz="1350" dirty="0"/>
          </a:p>
        </p:txBody>
      </p:sp>
      <p:sp>
        <p:nvSpPr>
          <p:cNvPr id="16" name="Shape 13"/>
          <p:cNvSpPr/>
          <p:nvPr/>
        </p:nvSpPr>
        <p:spPr>
          <a:xfrm>
            <a:off x="6766560" y="1810512"/>
            <a:ext cx="658368" cy="274320"/>
          </a:xfrm>
          <a:prstGeom prst="roundRect">
            <a:avLst>
              <a:gd name="adj" fmla="val 23333"/>
            </a:avLst>
          </a:prstGeom>
          <a:solidFill>
            <a:srgbClr val="3B2A08"/>
          </a:solidFill>
          <a:ln w="12700">
            <a:solidFill>
              <a:srgbClr val="333333"/>
            </a:solidFill>
            <a:prstDash val="solid"/>
          </a:ln>
        </p:spPr>
      </p:sp>
      <p:sp>
        <p:nvSpPr>
          <p:cNvPr id="17" name="Text 14"/>
          <p:cNvSpPr/>
          <p:nvPr/>
        </p:nvSpPr>
        <p:spPr>
          <a:xfrm>
            <a:off x="6766560" y="1810512"/>
            <a:ext cx="658368" cy="274320"/>
          </a:xfrm>
          <a:prstGeom prst="rect">
            <a:avLst/>
          </a:prstGeom>
          <a:noFill/>
          <a:ln/>
        </p:spPr>
        <p:txBody>
          <a:bodyPr wrap="square" lIns="0" tIns="0" rIns="0" bIns="0" rtlCol="0" anchor="ctr"/>
          <a:lstStyle/>
          <a:p>
            <a:pPr algn="ctr" indent="0" marL="0">
              <a:buNone/>
            </a:pPr>
            <a:r>
              <a:rPr lang="en-US" sz="800" b="1" dirty="0">
                <a:solidFill>
                  <a:srgbClr val="FBBF24"/>
                </a:solidFill>
                <a:latin typeface="Calibri" pitchFamily="34" charset="0"/>
                <a:ea typeface="Calibri" pitchFamily="34" charset="-122"/>
                <a:cs typeface="Calibri" pitchFamily="34" charset="-120"/>
              </a:rPr>
              <a:t>FIRES</a:t>
            </a:r>
            <a:endParaRPr lang="en-US" sz="800" dirty="0"/>
          </a:p>
        </p:txBody>
      </p:sp>
      <p:sp>
        <p:nvSpPr>
          <p:cNvPr id="18" name="Text 15"/>
          <p:cNvSpPr/>
          <p:nvPr/>
        </p:nvSpPr>
        <p:spPr>
          <a:xfrm>
            <a:off x="7516368" y="1810512"/>
            <a:ext cx="4023360" cy="274320"/>
          </a:xfrm>
          <a:prstGeom prst="rect">
            <a:avLst/>
          </a:prstGeom>
          <a:noFill/>
          <a:ln/>
        </p:spPr>
        <p:txBody>
          <a:bodyPr wrap="square" lIns="0" tIns="0" rIns="0" bIns="0" rtlCol="0" anchor="ctr"/>
          <a:lstStyle/>
          <a:p>
            <a:pPr indent="0" marL="0">
              <a:buNone/>
            </a:pPr>
            <a:r>
              <a:rPr lang="en-US" sz="1050" dirty="0">
                <a:solidFill>
                  <a:srgbClr val="F8FAFC"/>
                </a:solidFill>
                <a:latin typeface="Calibri" pitchFamily="34" charset="0"/>
                <a:ea typeface="Calibri" pitchFamily="34" charset="-122"/>
                <a:cs typeface="Calibri" pitchFamily="34" charset="-120"/>
              </a:rPr>
              <a:t>Downside exposure in the pessimistic scenario</a:t>
            </a:r>
            <a:endParaRPr lang="en-US" sz="1050" dirty="0"/>
          </a:p>
        </p:txBody>
      </p:sp>
      <p:sp>
        <p:nvSpPr>
          <p:cNvPr id="19" name="Shape 16"/>
          <p:cNvSpPr/>
          <p:nvPr/>
        </p:nvSpPr>
        <p:spPr>
          <a:xfrm>
            <a:off x="6766560" y="2116836"/>
            <a:ext cx="658368" cy="274320"/>
          </a:xfrm>
          <a:prstGeom prst="roundRect">
            <a:avLst>
              <a:gd name="adj" fmla="val 23333"/>
            </a:avLst>
          </a:prstGeom>
          <a:solidFill>
            <a:srgbClr val="0E2438"/>
          </a:solidFill>
          <a:ln w="12700">
            <a:solidFill>
              <a:srgbClr val="333333"/>
            </a:solidFill>
            <a:prstDash val="solid"/>
          </a:ln>
        </p:spPr>
      </p:sp>
      <p:sp>
        <p:nvSpPr>
          <p:cNvPr id="20" name="Text 17"/>
          <p:cNvSpPr/>
          <p:nvPr/>
        </p:nvSpPr>
        <p:spPr>
          <a:xfrm>
            <a:off x="6766560" y="2116836"/>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21" name="Text 18"/>
          <p:cNvSpPr/>
          <p:nvPr/>
        </p:nvSpPr>
        <p:spPr>
          <a:xfrm>
            <a:off x="7516368" y="2116836"/>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Negative net present value</a:t>
            </a:r>
            <a:endParaRPr lang="en-US" sz="1050" dirty="0"/>
          </a:p>
        </p:txBody>
      </p:sp>
      <p:sp>
        <p:nvSpPr>
          <p:cNvPr id="22" name="Shape 19"/>
          <p:cNvSpPr/>
          <p:nvPr/>
        </p:nvSpPr>
        <p:spPr>
          <a:xfrm>
            <a:off x="6766560" y="2423160"/>
            <a:ext cx="658368" cy="274320"/>
          </a:xfrm>
          <a:prstGeom prst="roundRect">
            <a:avLst>
              <a:gd name="adj" fmla="val 23333"/>
            </a:avLst>
          </a:prstGeom>
          <a:solidFill>
            <a:srgbClr val="0E2438"/>
          </a:solidFill>
          <a:ln w="12700">
            <a:solidFill>
              <a:srgbClr val="333333"/>
            </a:solidFill>
            <a:prstDash val="solid"/>
          </a:ln>
        </p:spPr>
      </p:sp>
      <p:sp>
        <p:nvSpPr>
          <p:cNvPr id="23" name="Text 20"/>
          <p:cNvSpPr/>
          <p:nvPr/>
        </p:nvSpPr>
        <p:spPr>
          <a:xfrm>
            <a:off x="6766560" y="2423160"/>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24" name="Text 21"/>
          <p:cNvSpPr/>
          <p:nvPr/>
        </p:nvSpPr>
        <p:spPr>
          <a:xfrm>
            <a:off x="7516368" y="2423160"/>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IRR below hurdle rate</a:t>
            </a:r>
            <a:endParaRPr lang="en-US" sz="1050" dirty="0"/>
          </a:p>
        </p:txBody>
      </p:sp>
      <p:sp>
        <p:nvSpPr>
          <p:cNvPr id="25" name="Shape 22"/>
          <p:cNvSpPr/>
          <p:nvPr/>
        </p:nvSpPr>
        <p:spPr>
          <a:xfrm>
            <a:off x="6766560" y="2729484"/>
            <a:ext cx="658368" cy="274320"/>
          </a:xfrm>
          <a:prstGeom prst="roundRect">
            <a:avLst>
              <a:gd name="adj" fmla="val 23333"/>
            </a:avLst>
          </a:prstGeom>
          <a:solidFill>
            <a:srgbClr val="0E2438"/>
          </a:solidFill>
          <a:ln w="12700">
            <a:solidFill>
              <a:srgbClr val="333333"/>
            </a:solidFill>
            <a:prstDash val="solid"/>
          </a:ln>
        </p:spPr>
      </p:sp>
      <p:sp>
        <p:nvSpPr>
          <p:cNvPr id="26" name="Text 23"/>
          <p:cNvSpPr/>
          <p:nvPr/>
        </p:nvSpPr>
        <p:spPr>
          <a:xfrm>
            <a:off x="6766560" y="2729484"/>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27" name="Text 24"/>
          <p:cNvSpPr/>
          <p:nvPr/>
        </p:nvSpPr>
        <p:spPr>
          <a:xfrm>
            <a:off x="7516368" y="2729484"/>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MIRR below hurdle rate</a:t>
            </a:r>
            <a:endParaRPr lang="en-US" sz="1050" dirty="0"/>
          </a:p>
        </p:txBody>
      </p:sp>
      <p:sp>
        <p:nvSpPr>
          <p:cNvPr id="28" name="Shape 25"/>
          <p:cNvSpPr/>
          <p:nvPr/>
        </p:nvSpPr>
        <p:spPr>
          <a:xfrm>
            <a:off x="6766560" y="3035808"/>
            <a:ext cx="658368" cy="274320"/>
          </a:xfrm>
          <a:prstGeom prst="roundRect">
            <a:avLst>
              <a:gd name="adj" fmla="val 23333"/>
            </a:avLst>
          </a:prstGeom>
          <a:solidFill>
            <a:srgbClr val="0E2438"/>
          </a:solidFill>
          <a:ln w="12700">
            <a:solidFill>
              <a:srgbClr val="333333"/>
            </a:solidFill>
            <a:prstDash val="solid"/>
          </a:ln>
        </p:spPr>
      </p:sp>
      <p:sp>
        <p:nvSpPr>
          <p:cNvPr id="29" name="Text 26"/>
          <p:cNvSpPr/>
          <p:nvPr/>
        </p:nvSpPr>
        <p:spPr>
          <a:xfrm>
            <a:off x="6766560" y="3035808"/>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30" name="Text 27"/>
          <p:cNvSpPr/>
          <p:nvPr/>
        </p:nvSpPr>
        <p:spPr>
          <a:xfrm>
            <a:off x="7516368" y="3035808"/>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Profitability index below threshold</a:t>
            </a:r>
            <a:endParaRPr lang="en-US" sz="1050" dirty="0"/>
          </a:p>
        </p:txBody>
      </p:sp>
      <p:sp>
        <p:nvSpPr>
          <p:cNvPr id="31" name="Shape 28"/>
          <p:cNvSpPr/>
          <p:nvPr/>
        </p:nvSpPr>
        <p:spPr>
          <a:xfrm>
            <a:off x="6766560" y="3342132"/>
            <a:ext cx="658368" cy="274320"/>
          </a:xfrm>
          <a:prstGeom prst="roundRect">
            <a:avLst>
              <a:gd name="adj" fmla="val 23333"/>
            </a:avLst>
          </a:prstGeom>
          <a:solidFill>
            <a:srgbClr val="0E2438"/>
          </a:solidFill>
          <a:ln w="12700">
            <a:solidFill>
              <a:srgbClr val="333333"/>
            </a:solidFill>
            <a:prstDash val="solid"/>
          </a:ln>
        </p:spPr>
      </p:sp>
      <p:sp>
        <p:nvSpPr>
          <p:cNvPr id="32" name="Text 29"/>
          <p:cNvSpPr/>
          <p:nvPr/>
        </p:nvSpPr>
        <p:spPr>
          <a:xfrm>
            <a:off x="6766560" y="3342132"/>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33" name="Text 30"/>
          <p:cNvSpPr/>
          <p:nvPr/>
        </p:nvSpPr>
        <p:spPr>
          <a:xfrm>
            <a:off x="7516368" y="3342132"/>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Extended payback period</a:t>
            </a:r>
            <a:endParaRPr lang="en-US" sz="1050" dirty="0"/>
          </a:p>
        </p:txBody>
      </p:sp>
      <p:sp>
        <p:nvSpPr>
          <p:cNvPr id="34" name="Shape 31"/>
          <p:cNvSpPr/>
          <p:nvPr/>
        </p:nvSpPr>
        <p:spPr>
          <a:xfrm>
            <a:off x="6766560" y="3648456"/>
            <a:ext cx="658368" cy="274320"/>
          </a:xfrm>
          <a:prstGeom prst="roundRect">
            <a:avLst>
              <a:gd name="adj" fmla="val 23333"/>
            </a:avLst>
          </a:prstGeom>
          <a:solidFill>
            <a:srgbClr val="0E2438"/>
          </a:solidFill>
          <a:ln w="12700">
            <a:solidFill>
              <a:srgbClr val="333333"/>
            </a:solidFill>
            <a:prstDash val="solid"/>
          </a:ln>
        </p:spPr>
      </p:sp>
      <p:sp>
        <p:nvSpPr>
          <p:cNvPr id="35" name="Text 32"/>
          <p:cNvSpPr/>
          <p:nvPr/>
        </p:nvSpPr>
        <p:spPr>
          <a:xfrm>
            <a:off x="6766560" y="3648456"/>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36" name="Text 33"/>
          <p:cNvSpPr/>
          <p:nvPr/>
        </p:nvSpPr>
        <p:spPr>
          <a:xfrm>
            <a:off x="7516368" y="3648456"/>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Discounted outlay unrecovered</a:t>
            </a:r>
            <a:endParaRPr lang="en-US" sz="1050" dirty="0"/>
          </a:p>
        </p:txBody>
      </p:sp>
      <p:sp>
        <p:nvSpPr>
          <p:cNvPr id="37" name="Shape 34"/>
          <p:cNvSpPr/>
          <p:nvPr/>
        </p:nvSpPr>
        <p:spPr>
          <a:xfrm>
            <a:off x="6766560" y="3954780"/>
            <a:ext cx="658368" cy="274320"/>
          </a:xfrm>
          <a:prstGeom prst="roundRect">
            <a:avLst>
              <a:gd name="adj" fmla="val 23333"/>
            </a:avLst>
          </a:prstGeom>
          <a:solidFill>
            <a:srgbClr val="0E2438"/>
          </a:solidFill>
          <a:ln w="12700">
            <a:solidFill>
              <a:srgbClr val="333333"/>
            </a:solidFill>
            <a:prstDash val="solid"/>
          </a:ln>
        </p:spPr>
      </p:sp>
      <p:sp>
        <p:nvSpPr>
          <p:cNvPr id="38" name="Text 35"/>
          <p:cNvSpPr/>
          <p:nvPr/>
        </p:nvSpPr>
        <p:spPr>
          <a:xfrm>
            <a:off x="6766560" y="3954780"/>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39" name="Text 36"/>
          <p:cNvSpPr/>
          <p:nvPr/>
        </p:nvSpPr>
        <p:spPr>
          <a:xfrm>
            <a:off x="7516368" y="3954780"/>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Terminal salvage dependence (8.61% — trigger 15%)</a:t>
            </a:r>
            <a:endParaRPr lang="en-US" sz="1050" dirty="0"/>
          </a:p>
        </p:txBody>
      </p:sp>
      <p:sp>
        <p:nvSpPr>
          <p:cNvPr id="40" name="Shape 37"/>
          <p:cNvSpPr/>
          <p:nvPr/>
        </p:nvSpPr>
        <p:spPr>
          <a:xfrm>
            <a:off x="6766560" y="4261104"/>
            <a:ext cx="658368" cy="274320"/>
          </a:xfrm>
          <a:prstGeom prst="roundRect">
            <a:avLst>
              <a:gd name="adj" fmla="val 23333"/>
            </a:avLst>
          </a:prstGeom>
          <a:solidFill>
            <a:srgbClr val="0E2438"/>
          </a:solidFill>
          <a:ln w="12700">
            <a:solidFill>
              <a:srgbClr val="333333"/>
            </a:solidFill>
            <a:prstDash val="solid"/>
          </a:ln>
        </p:spPr>
      </p:sp>
      <p:sp>
        <p:nvSpPr>
          <p:cNvPr id="41" name="Text 38"/>
          <p:cNvSpPr/>
          <p:nvPr/>
        </p:nvSpPr>
        <p:spPr>
          <a:xfrm>
            <a:off x="6766560" y="4261104"/>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42" name="Text 39"/>
          <p:cNvSpPr/>
          <p:nvPr/>
        </p:nvSpPr>
        <p:spPr>
          <a:xfrm>
            <a:off x="7516368" y="4261104"/>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Benefit shortfall sensitivity (29.0% — trigger 15%)</a:t>
            </a:r>
            <a:endParaRPr lang="en-US" sz="1050" dirty="0"/>
          </a:p>
        </p:txBody>
      </p:sp>
      <p:sp>
        <p:nvSpPr>
          <p:cNvPr id="43" name="Shape 40"/>
          <p:cNvSpPr/>
          <p:nvPr/>
        </p:nvSpPr>
        <p:spPr>
          <a:xfrm>
            <a:off x="6766560" y="4567428"/>
            <a:ext cx="658368" cy="274320"/>
          </a:xfrm>
          <a:prstGeom prst="roundRect">
            <a:avLst>
              <a:gd name="adj" fmla="val 23333"/>
            </a:avLst>
          </a:prstGeom>
          <a:solidFill>
            <a:srgbClr val="0E2438"/>
          </a:solidFill>
          <a:ln w="12700">
            <a:solidFill>
              <a:srgbClr val="333333"/>
            </a:solidFill>
            <a:prstDash val="solid"/>
          </a:ln>
        </p:spPr>
      </p:sp>
      <p:sp>
        <p:nvSpPr>
          <p:cNvPr id="44" name="Text 41"/>
          <p:cNvSpPr/>
          <p:nvPr/>
        </p:nvSpPr>
        <p:spPr>
          <a:xfrm>
            <a:off x="6766560" y="4567428"/>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45" name="Text 42"/>
          <p:cNvSpPr/>
          <p:nvPr/>
        </p:nvSpPr>
        <p:spPr>
          <a:xfrm>
            <a:off x="7516368" y="4567428"/>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Non-standard cash-flow sign changes</a:t>
            </a:r>
            <a:endParaRPr lang="en-US" sz="1050" dirty="0"/>
          </a:p>
        </p:txBody>
      </p:sp>
      <p:sp>
        <p:nvSpPr>
          <p:cNvPr id="46" name="Shape 43"/>
          <p:cNvSpPr/>
          <p:nvPr/>
        </p:nvSpPr>
        <p:spPr>
          <a:xfrm>
            <a:off x="6766560" y="4873752"/>
            <a:ext cx="658368" cy="274320"/>
          </a:xfrm>
          <a:prstGeom prst="roundRect">
            <a:avLst>
              <a:gd name="adj" fmla="val 23333"/>
            </a:avLst>
          </a:prstGeom>
          <a:solidFill>
            <a:srgbClr val="0E2438"/>
          </a:solidFill>
          <a:ln w="12700">
            <a:solidFill>
              <a:srgbClr val="333333"/>
            </a:solidFill>
            <a:prstDash val="solid"/>
          </a:ln>
        </p:spPr>
      </p:sp>
      <p:sp>
        <p:nvSpPr>
          <p:cNvPr id="47" name="Text 44"/>
          <p:cNvSpPr/>
          <p:nvPr/>
        </p:nvSpPr>
        <p:spPr>
          <a:xfrm>
            <a:off x="6766560" y="4873752"/>
            <a:ext cx="658368" cy="274320"/>
          </a:xfrm>
          <a:prstGeom prst="rect">
            <a:avLst/>
          </a:prstGeom>
          <a:no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quiet</a:t>
            </a:r>
            <a:endParaRPr lang="en-US" sz="800" dirty="0"/>
          </a:p>
        </p:txBody>
      </p:sp>
      <p:sp>
        <p:nvSpPr>
          <p:cNvPr id="48" name="Text 45"/>
          <p:cNvSpPr/>
          <p:nvPr/>
        </p:nvSpPr>
        <p:spPr>
          <a:xfrm>
            <a:off x="7516368" y="4873752"/>
            <a:ext cx="402336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Unrealistic assumption detected</a:t>
            </a:r>
            <a:endParaRPr lang="en-US" sz="1050" dirty="0"/>
          </a:p>
        </p:txBody>
      </p:sp>
      <p:sp>
        <p:nvSpPr>
          <p:cNvPr id="49" name="Text 46"/>
          <p:cNvSpPr/>
          <p:nvPr/>
        </p:nvSpPr>
        <p:spPr>
          <a:xfrm>
            <a:off x="6766560" y="5266944"/>
            <a:ext cx="4754880" cy="512064"/>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Exactly one alert fires on the base case. A panel where everything is green is not a risk panel — and neither is one where everything is red.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PLATFORM</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One engine, eight investment archetypes</a:t>
            </a:r>
            <a:endParaRPr lang="en-US" sz="3000" dirty="0"/>
          </a:p>
        </p:txBody>
      </p:sp>
      <p:sp>
        <p:nvSpPr>
          <p:cNvPr id="4" name="Text 2"/>
          <p:cNvSpPr/>
          <p:nvPr/>
        </p:nvSpPr>
        <p:spPr>
          <a:xfrm>
            <a:off x="566928" y="1225296"/>
            <a:ext cx="11057839" cy="310896"/>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The same audited mathematics evaluates every capital decision in the brief — an archetype configuration builds the benefit line, the engine evaluates it.</a:t>
            </a:r>
            <a:endParaRPr lang="en-US" sz="1250" dirty="0"/>
          </a:p>
        </p:txBody>
      </p:sp>
      <p:sp>
        <p:nvSpPr>
          <p:cNvPr id="5" name="Shape 3"/>
          <p:cNvSpPr/>
          <p:nvPr/>
        </p:nvSpPr>
        <p:spPr>
          <a:xfrm>
            <a:off x="566928" y="1682496"/>
            <a:ext cx="5419192" cy="621792"/>
          </a:xfrm>
          <a:prstGeom prst="roundRect">
            <a:avLst>
              <a:gd name="adj" fmla="val 14706"/>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6" name="Text 4"/>
          <p:cNvSpPr/>
          <p:nvPr/>
        </p:nvSpPr>
        <p:spPr>
          <a:xfrm>
            <a:off x="749808" y="1728216"/>
            <a:ext cx="1956816" cy="530352"/>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Installing automation technology</a:t>
            </a:r>
            <a:endParaRPr lang="en-US" sz="1050" dirty="0"/>
          </a:p>
        </p:txBody>
      </p:sp>
      <p:sp>
        <p:nvSpPr>
          <p:cNvPr id="7" name="Text 5"/>
          <p:cNvSpPr/>
          <p:nvPr/>
        </p:nvSpPr>
        <p:spPr>
          <a:xfrm>
            <a:off x="2743200" y="1728216"/>
            <a:ext cx="868680" cy="530352"/>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AED 24.0M</a:t>
            </a:r>
            <a:endParaRPr lang="en-US" sz="1000" dirty="0"/>
          </a:p>
        </p:txBody>
      </p:sp>
      <p:sp>
        <p:nvSpPr>
          <p:cNvPr id="8" name="Text 6"/>
          <p:cNvSpPr/>
          <p:nvPr/>
        </p:nvSpPr>
        <p:spPr>
          <a:xfrm>
            <a:off x="3666744" y="1728216"/>
            <a:ext cx="914400" cy="530352"/>
          </a:xfrm>
          <a:prstGeom prst="rect">
            <a:avLst/>
          </a:prstGeom>
          <a:noFill/>
          <a:ln/>
        </p:spPr>
        <p:txBody>
          <a:bodyPr wrap="square" lIns="0" tIns="0" rIns="0" bIns="0" rtlCol="0" anchor="ctr"/>
          <a:lstStyle/>
          <a:p>
            <a:pPr algn="r" indent="0" marL="0">
              <a:buNone/>
            </a:pPr>
            <a:r>
              <a:rPr lang="en-US" sz="1300" b="1" dirty="0">
                <a:solidFill>
                  <a:srgbClr val="34D399"/>
                </a:solidFill>
                <a:latin typeface="Cambria" pitchFamily="34" charset="0"/>
                <a:ea typeface="Cambria" pitchFamily="34" charset="-122"/>
                <a:cs typeface="Cambria" pitchFamily="34" charset="-120"/>
              </a:rPr>
              <a:t>+12.08M</a:t>
            </a:r>
            <a:endParaRPr lang="en-US" sz="1300" dirty="0"/>
          </a:p>
        </p:txBody>
      </p:sp>
      <p:sp>
        <p:nvSpPr>
          <p:cNvPr id="9" name="Text 7"/>
          <p:cNvSpPr/>
          <p:nvPr/>
        </p:nvSpPr>
        <p:spPr>
          <a:xfrm>
            <a:off x="4636008" y="1728216"/>
            <a:ext cx="566928" cy="530352"/>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26.3%</a:t>
            </a:r>
            <a:endParaRPr lang="en-US" sz="1000" dirty="0"/>
          </a:p>
        </p:txBody>
      </p:sp>
      <p:sp>
        <p:nvSpPr>
          <p:cNvPr id="10" name="Text 8"/>
          <p:cNvSpPr/>
          <p:nvPr/>
        </p:nvSpPr>
        <p:spPr>
          <a:xfrm>
            <a:off x="5248656" y="1728216"/>
            <a:ext cx="621792" cy="530352"/>
          </a:xfrm>
          <a:prstGeom prst="rect">
            <a:avLst/>
          </a:prstGeom>
          <a:noFill/>
          <a:ln/>
        </p:spPr>
        <p:txBody>
          <a:bodyPr wrap="square" lIns="0" tIns="0" rIns="0" bIns="0" rtlCol="0" anchor="ctr"/>
          <a:lstStyle/>
          <a:p>
            <a:pPr algn="r" indent="0" marL="0">
              <a:buNone/>
            </a:pPr>
            <a:r>
              <a:rPr lang="en-US" sz="1000" b="1" dirty="0">
                <a:solidFill>
                  <a:srgbClr val="34D399"/>
                </a:solidFill>
                <a:latin typeface="Calibri" pitchFamily="34" charset="0"/>
                <a:ea typeface="Calibri" pitchFamily="34" charset="-122"/>
                <a:cs typeface="Calibri" pitchFamily="34" charset="-120"/>
              </a:rPr>
              <a:t>Approve</a:t>
            </a:r>
            <a:endParaRPr lang="en-US" sz="1000" dirty="0"/>
          </a:p>
        </p:txBody>
      </p:sp>
      <p:sp>
        <p:nvSpPr>
          <p:cNvPr id="11" name="Shape 9"/>
          <p:cNvSpPr/>
          <p:nvPr/>
        </p:nvSpPr>
        <p:spPr>
          <a:xfrm>
            <a:off x="6205576" y="1682496"/>
            <a:ext cx="5419192"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2" name="Text 10"/>
          <p:cNvSpPr/>
          <p:nvPr/>
        </p:nvSpPr>
        <p:spPr>
          <a:xfrm>
            <a:off x="6388456" y="1728216"/>
            <a:ext cx="1956816" cy="530352"/>
          </a:xfrm>
          <a:prstGeom prst="rect">
            <a:avLst/>
          </a:prstGeom>
          <a:noFill/>
          <a:ln/>
        </p:spPr>
        <p:txBody>
          <a:bodyPr wrap="square" lIns="0" tIns="0" rIns="0" bIns="0" rtlCol="0" anchor="ctr"/>
          <a:lstStyle/>
          <a:p>
            <a:pPr indent="0" marL="0">
              <a:buNone/>
            </a:pPr>
            <a:r>
              <a:rPr lang="en-US" sz="1050" dirty="0">
                <a:solidFill>
                  <a:srgbClr val="F8FAFC"/>
                </a:solidFill>
                <a:latin typeface="Calibri" pitchFamily="34" charset="0"/>
                <a:ea typeface="Calibri" pitchFamily="34" charset="-122"/>
                <a:cs typeface="Calibri" pitchFamily="34" charset="-120"/>
              </a:rPr>
              <a:t>Expanding a production facility</a:t>
            </a:r>
            <a:endParaRPr lang="en-US" sz="1050" dirty="0"/>
          </a:p>
        </p:txBody>
      </p:sp>
      <p:sp>
        <p:nvSpPr>
          <p:cNvPr id="13" name="Text 11"/>
          <p:cNvSpPr/>
          <p:nvPr/>
        </p:nvSpPr>
        <p:spPr>
          <a:xfrm>
            <a:off x="8381848" y="1728216"/>
            <a:ext cx="868680" cy="530352"/>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AED 26.7M</a:t>
            </a:r>
            <a:endParaRPr lang="en-US" sz="1000" dirty="0"/>
          </a:p>
        </p:txBody>
      </p:sp>
      <p:sp>
        <p:nvSpPr>
          <p:cNvPr id="14" name="Text 12"/>
          <p:cNvSpPr/>
          <p:nvPr/>
        </p:nvSpPr>
        <p:spPr>
          <a:xfrm>
            <a:off x="9305392" y="1728216"/>
            <a:ext cx="914400" cy="530352"/>
          </a:xfrm>
          <a:prstGeom prst="rect">
            <a:avLst/>
          </a:prstGeom>
          <a:noFill/>
          <a:ln/>
        </p:spPr>
        <p:txBody>
          <a:bodyPr wrap="square" lIns="0" tIns="0" rIns="0" bIns="0" rtlCol="0" anchor="ctr"/>
          <a:lstStyle/>
          <a:p>
            <a:pPr algn="r" indent="0" marL="0">
              <a:buNone/>
            </a:pPr>
            <a:r>
              <a:rPr lang="en-US" sz="1300" b="1" dirty="0">
                <a:solidFill>
                  <a:srgbClr val="FBBF24"/>
                </a:solidFill>
                <a:latin typeface="Cambria" pitchFamily="34" charset="0"/>
                <a:ea typeface="Cambria" pitchFamily="34" charset="-122"/>
                <a:cs typeface="Cambria" pitchFamily="34" charset="-120"/>
              </a:rPr>
              <a:t>+7.28M</a:t>
            </a:r>
            <a:endParaRPr lang="en-US" sz="1300" dirty="0"/>
          </a:p>
        </p:txBody>
      </p:sp>
      <p:sp>
        <p:nvSpPr>
          <p:cNvPr id="15" name="Text 13"/>
          <p:cNvSpPr/>
          <p:nvPr/>
        </p:nvSpPr>
        <p:spPr>
          <a:xfrm>
            <a:off x="10274656" y="1728216"/>
            <a:ext cx="566928" cy="530352"/>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16.4%</a:t>
            </a:r>
            <a:endParaRPr lang="en-US" sz="1000" dirty="0"/>
          </a:p>
        </p:txBody>
      </p:sp>
      <p:sp>
        <p:nvSpPr>
          <p:cNvPr id="16" name="Text 14"/>
          <p:cNvSpPr/>
          <p:nvPr/>
        </p:nvSpPr>
        <p:spPr>
          <a:xfrm>
            <a:off x="10887304" y="1728216"/>
            <a:ext cx="621792" cy="530352"/>
          </a:xfrm>
          <a:prstGeom prst="rect">
            <a:avLst/>
          </a:prstGeom>
          <a:noFill/>
          <a:ln/>
        </p:spPr>
        <p:txBody>
          <a:bodyPr wrap="square" lIns="0" tIns="0" rIns="0" bIns="0" rtlCol="0" anchor="ctr"/>
          <a:lstStyle/>
          <a:p>
            <a:pPr algn="r" indent="0" marL="0">
              <a:buNone/>
            </a:pPr>
            <a:r>
              <a:rPr lang="en-US" sz="1000" b="1" dirty="0">
                <a:solidFill>
                  <a:srgbClr val="FBBF24"/>
                </a:solidFill>
                <a:latin typeface="Calibri" pitchFamily="34" charset="0"/>
                <a:ea typeface="Calibri" pitchFamily="34" charset="-122"/>
                <a:cs typeface="Calibri" pitchFamily="34" charset="-120"/>
              </a:rPr>
              <a:t>Phased</a:t>
            </a:r>
            <a:endParaRPr lang="en-US" sz="1000" dirty="0"/>
          </a:p>
        </p:txBody>
      </p:sp>
      <p:sp>
        <p:nvSpPr>
          <p:cNvPr id="17" name="Shape 15"/>
          <p:cNvSpPr/>
          <p:nvPr/>
        </p:nvSpPr>
        <p:spPr>
          <a:xfrm>
            <a:off x="566928" y="2395728"/>
            <a:ext cx="5419192"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8" name="Text 16"/>
          <p:cNvSpPr/>
          <p:nvPr/>
        </p:nvSpPr>
        <p:spPr>
          <a:xfrm>
            <a:off x="749808" y="2441448"/>
            <a:ext cx="1956816" cy="530352"/>
          </a:xfrm>
          <a:prstGeom prst="rect">
            <a:avLst/>
          </a:prstGeom>
          <a:noFill/>
          <a:ln/>
        </p:spPr>
        <p:txBody>
          <a:bodyPr wrap="square" lIns="0" tIns="0" rIns="0" bIns="0" rtlCol="0" anchor="ctr"/>
          <a:lstStyle/>
          <a:p>
            <a:pPr indent="0" marL="0">
              <a:buNone/>
            </a:pPr>
            <a:r>
              <a:rPr lang="en-US" sz="1050" dirty="0">
                <a:solidFill>
                  <a:srgbClr val="F8FAFC"/>
                </a:solidFill>
                <a:latin typeface="Calibri" pitchFamily="34" charset="0"/>
                <a:ea typeface="Calibri" pitchFamily="34" charset="-122"/>
                <a:cs typeface="Calibri" pitchFamily="34" charset="-120"/>
              </a:rPr>
              <a:t>Purchasing new machinery</a:t>
            </a:r>
            <a:endParaRPr lang="en-US" sz="1050" dirty="0"/>
          </a:p>
        </p:txBody>
      </p:sp>
      <p:sp>
        <p:nvSpPr>
          <p:cNvPr id="19" name="Text 17"/>
          <p:cNvSpPr/>
          <p:nvPr/>
        </p:nvSpPr>
        <p:spPr>
          <a:xfrm>
            <a:off x="2743200" y="2441448"/>
            <a:ext cx="868680" cy="530352"/>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AED 5.21M</a:t>
            </a:r>
            <a:endParaRPr lang="en-US" sz="1000" dirty="0"/>
          </a:p>
        </p:txBody>
      </p:sp>
      <p:sp>
        <p:nvSpPr>
          <p:cNvPr id="20" name="Text 18"/>
          <p:cNvSpPr/>
          <p:nvPr/>
        </p:nvSpPr>
        <p:spPr>
          <a:xfrm>
            <a:off x="3666744" y="2441448"/>
            <a:ext cx="914400" cy="530352"/>
          </a:xfrm>
          <a:prstGeom prst="rect">
            <a:avLst/>
          </a:prstGeom>
          <a:noFill/>
          <a:ln/>
        </p:spPr>
        <p:txBody>
          <a:bodyPr wrap="square" lIns="0" tIns="0" rIns="0" bIns="0" rtlCol="0" anchor="ctr"/>
          <a:lstStyle/>
          <a:p>
            <a:pPr algn="r" indent="0" marL="0">
              <a:buNone/>
            </a:pPr>
            <a:r>
              <a:rPr lang="en-US" sz="1300" b="1" dirty="0">
                <a:solidFill>
                  <a:srgbClr val="34D399"/>
                </a:solidFill>
                <a:latin typeface="Cambria" pitchFamily="34" charset="0"/>
                <a:ea typeface="Cambria" pitchFamily="34" charset="-122"/>
                <a:cs typeface="Cambria" pitchFamily="34" charset="-120"/>
              </a:rPr>
              <a:t>+1.57M</a:t>
            </a:r>
            <a:endParaRPr lang="en-US" sz="1300" dirty="0"/>
          </a:p>
        </p:txBody>
      </p:sp>
      <p:sp>
        <p:nvSpPr>
          <p:cNvPr id="21" name="Text 19"/>
          <p:cNvSpPr/>
          <p:nvPr/>
        </p:nvSpPr>
        <p:spPr>
          <a:xfrm>
            <a:off x="4636008" y="2441448"/>
            <a:ext cx="566928" cy="530352"/>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18.9%</a:t>
            </a:r>
            <a:endParaRPr lang="en-US" sz="1000" dirty="0"/>
          </a:p>
        </p:txBody>
      </p:sp>
      <p:sp>
        <p:nvSpPr>
          <p:cNvPr id="22" name="Text 20"/>
          <p:cNvSpPr/>
          <p:nvPr/>
        </p:nvSpPr>
        <p:spPr>
          <a:xfrm>
            <a:off x="5248656" y="2441448"/>
            <a:ext cx="621792" cy="530352"/>
          </a:xfrm>
          <a:prstGeom prst="rect">
            <a:avLst/>
          </a:prstGeom>
          <a:noFill/>
          <a:ln/>
        </p:spPr>
        <p:txBody>
          <a:bodyPr wrap="square" lIns="0" tIns="0" rIns="0" bIns="0" rtlCol="0" anchor="ctr"/>
          <a:lstStyle/>
          <a:p>
            <a:pPr algn="r" indent="0" marL="0">
              <a:buNone/>
            </a:pPr>
            <a:r>
              <a:rPr lang="en-US" sz="1000" b="1" dirty="0">
                <a:solidFill>
                  <a:srgbClr val="34D399"/>
                </a:solidFill>
                <a:latin typeface="Calibri" pitchFamily="34" charset="0"/>
                <a:ea typeface="Calibri" pitchFamily="34" charset="-122"/>
                <a:cs typeface="Calibri" pitchFamily="34" charset="-120"/>
              </a:rPr>
              <a:t>Approve</a:t>
            </a:r>
            <a:endParaRPr lang="en-US" sz="1000" dirty="0"/>
          </a:p>
        </p:txBody>
      </p:sp>
      <p:sp>
        <p:nvSpPr>
          <p:cNvPr id="23" name="Shape 21"/>
          <p:cNvSpPr/>
          <p:nvPr/>
        </p:nvSpPr>
        <p:spPr>
          <a:xfrm>
            <a:off x="6205576" y="2395728"/>
            <a:ext cx="5419192"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4" name="Text 22"/>
          <p:cNvSpPr/>
          <p:nvPr/>
        </p:nvSpPr>
        <p:spPr>
          <a:xfrm>
            <a:off x="6388456" y="2441448"/>
            <a:ext cx="1956816" cy="530352"/>
          </a:xfrm>
          <a:prstGeom prst="rect">
            <a:avLst/>
          </a:prstGeom>
          <a:noFill/>
          <a:ln/>
        </p:spPr>
        <p:txBody>
          <a:bodyPr wrap="square" lIns="0" tIns="0" rIns="0" bIns="0" rtlCol="0" anchor="ctr"/>
          <a:lstStyle/>
          <a:p>
            <a:pPr indent="0" marL="0">
              <a:buNone/>
            </a:pPr>
            <a:r>
              <a:rPr lang="en-US" sz="1050" dirty="0">
                <a:solidFill>
                  <a:srgbClr val="F8FAFC"/>
                </a:solidFill>
                <a:latin typeface="Calibri" pitchFamily="34" charset="0"/>
                <a:ea typeface="Calibri" pitchFamily="34" charset="-122"/>
                <a:cs typeface="Calibri" pitchFamily="34" charset="-120"/>
              </a:rPr>
              <a:t>Building an AI platform</a:t>
            </a:r>
            <a:endParaRPr lang="en-US" sz="1050" dirty="0"/>
          </a:p>
        </p:txBody>
      </p:sp>
      <p:sp>
        <p:nvSpPr>
          <p:cNvPr id="25" name="Text 23"/>
          <p:cNvSpPr/>
          <p:nvPr/>
        </p:nvSpPr>
        <p:spPr>
          <a:xfrm>
            <a:off x="8381848" y="2441448"/>
            <a:ext cx="868680" cy="530352"/>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AED 7.80M</a:t>
            </a:r>
            <a:endParaRPr lang="en-US" sz="1000" dirty="0"/>
          </a:p>
        </p:txBody>
      </p:sp>
      <p:sp>
        <p:nvSpPr>
          <p:cNvPr id="26" name="Text 24"/>
          <p:cNvSpPr/>
          <p:nvPr/>
        </p:nvSpPr>
        <p:spPr>
          <a:xfrm>
            <a:off x="9305392" y="2441448"/>
            <a:ext cx="914400" cy="530352"/>
          </a:xfrm>
          <a:prstGeom prst="rect">
            <a:avLst/>
          </a:prstGeom>
          <a:noFill/>
          <a:ln/>
        </p:spPr>
        <p:txBody>
          <a:bodyPr wrap="square" lIns="0" tIns="0" rIns="0" bIns="0" rtlCol="0" anchor="ctr"/>
          <a:lstStyle/>
          <a:p>
            <a:pPr algn="r" indent="0" marL="0">
              <a:buNone/>
            </a:pPr>
            <a:r>
              <a:rPr lang="en-US" sz="1300" b="1" dirty="0">
                <a:solidFill>
                  <a:srgbClr val="FBBF24"/>
                </a:solidFill>
                <a:latin typeface="Cambria" pitchFamily="34" charset="0"/>
                <a:ea typeface="Cambria" pitchFamily="34" charset="-122"/>
                <a:cs typeface="Cambria" pitchFamily="34" charset="-120"/>
              </a:rPr>
              <a:t>(0.01M)</a:t>
            </a:r>
            <a:endParaRPr lang="en-US" sz="1300" dirty="0"/>
          </a:p>
        </p:txBody>
      </p:sp>
      <p:sp>
        <p:nvSpPr>
          <p:cNvPr id="27" name="Text 25"/>
          <p:cNvSpPr/>
          <p:nvPr/>
        </p:nvSpPr>
        <p:spPr>
          <a:xfrm>
            <a:off x="10274656" y="2441448"/>
            <a:ext cx="566928" cy="530352"/>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16.0%</a:t>
            </a:r>
            <a:endParaRPr lang="en-US" sz="1000" dirty="0"/>
          </a:p>
        </p:txBody>
      </p:sp>
      <p:sp>
        <p:nvSpPr>
          <p:cNvPr id="28" name="Text 26"/>
          <p:cNvSpPr/>
          <p:nvPr/>
        </p:nvSpPr>
        <p:spPr>
          <a:xfrm>
            <a:off x="10887304" y="2441448"/>
            <a:ext cx="621792" cy="530352"/>
          </a:xfrm>
          <a:prstGeom prst="rect">
            <a:avLst/>
          </a:prstGeom>
          <a:noFill/>
          <a:ln/>
        </p:spPr>
        <p:txBody>
          <a:bodyPr wrap="square" lIns="0" tIns="0" rIns="0" bIns="0" rtlCol="0" anchor="ctr"/>
          <a:lstStyle/>
          <a:p>
            <a:pPr algn="r" indent="0" marL="0">
              <a:buNone/>
            </a:pPr>
            <a:r>
              <a:rPr lang="en-US" sz="1000" b="1" dirty="0">
                <a:solidFill>
                  <a:srgbClr val="FBBF24"/>
                </a:solidFill>
                <a:latin typeface="Calibri" pitchFamily="34" charset="0"/>
                <a:ea typeface="Calibri" pitchFamily="34" charset="-122"/>
                <a:cs typeface="Calibri" pitchFamily="34" charset="-120"/>
              </a:rPr>
              <a:t>Delay</a:t>
            </a:r>
            <a:endParaRPr lang="en-US" sz="1000" dirty="0"/>
          </a:p>
        </p:txBody>
      </p:sp>
      <p:sp>
        <p:nvSpPr>
          <p:cNvPr id="29" name="Shape 27"/>
          <p:cNvSpPr/>
          <p:nvPr/>
        </p:nvSpPr>
        <p:spPr>
          <a:xfrm>
            <a:off x="566928" y="3108960"/>
            <a:ext cx="5419192"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0" name="Text 28"/>
          <p:cNvSpPr/>
          <p:nvPr/>
        </p:nvSpPr>
        <p:spPr>
          <a:xfrm>
            <a:off x="749808" y="3154680"/>
            <a:ext cx="1956816" cy="530352"/>
          </a:xfrm>
          <a:prstGeom prst="rect">
            <a:avLst/>
          </a:prstGeom>
          <a:noFill/>
          <a:ln/>
        </p:spPr>
        <p:txBody>
          <a:bodyPr wrap="square" lIns="0" tIns="0" rIns="0" bIns="0" rtlCol="0" anchor="ctr"/>
          <a:lstStyle/>
          <a:p>
            <a:pPr indent="0" marL="0">
              <a:buNone/>
            </a:pPr>
            <a:r>
              <a:rPr lang="en-US" sz="1050" dirty="0">
                <a:solidFill>
                  <a:srgbClr val="F8FAFC"/>
                </a:solidFill>
                <a:latin typeface="Calibri" pitchFamily="34" charset="0"/>
                <a:ea typeface="Calibri" pitchFamily="34" charset="-122"/>
                <a:cs typeface="Calibri" pitchFamily="34" charset="-120"/>
              </a:rPr>
              <a:t>Opening a new branch</a:t>
            </a:r>
            <a:endParaRPr lang="en-US" sz="1050" dirty="0"/>
          </a:p>
        </p:txBody>
      </p:sp>
      <p:sp>
        <p:nvSpPr>
          <p:cNvPr id="31" name="Text 29"/>
          <p:cNvSpPr/>
          <p:nvPr/>
        </p:nvSpPr>
        <p:spPr>
          <a:xfrm>
            <a:off x="2743200" y="3154680"/>
            <a:ext cx="868680" cy="530352"/>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AED 6.80M</a:t>
            </a:r>
            <a:endParaRPr lang="en-US" sz="1000" dirty="0"/>
          </a:p>
        </p:txBody>
      </p:sp>
      <p:sp>
        <p:nvSpPr>
          <p:cNvPr id="32" name="Text 30"/>
          <p:cNvSpPr/>
          <p:nvPr/>
        </p:nvSpPr>
        <p:spPr>
          <a:xfrm>
            <a:off x="3666744" y="3154680"/>
            <a:ext cx="914400" cy="530352"/>
          </a:xfrm>
          <a:prstGeom prst="rect">
            <a:avLst/>
          </a:prstGeom>
          <a:noFill/>
          <a:ln/>
        </p:spPr>
        <p:txBody>
          <a:bodyPr wrap="square" lIns="0" tIns="0" rIns="0" bIns="0" rtlCol="0" anchor="ctr"/>
          <a:lstStyle/>
          <a:p>
            <a:pPr algn="r" indent="0" marL="0">
              <a:buNone/>
            </a:pPr>
            <a:r>
              <a:rPr lang="en-US" sz="1300" b="1" dirty="0">
                <a:solidFill>
                  <a:srgbClr val="FBBF24"/>
                </a:solidFill>
                <a:latin typeface="Cambria" pitchFamily="34" charset="0"/>
                <a:ea typeface="Cambria" pitchFamily="34" charset="-122"/>
                <a:cs typeface="Cambria" pitchFamily="34" charset="-120"/>
              </a:rPr>
              <a:t>(0.10M)</a:t>
            </a:r>
            <a:endParaRPr lang="en-US" sz="1300" dirty="0"/>
          </a:p>
        </p:txBody>
      </p:sp>
      <p:sp>
        <p:nvSpPr>
          <p:cNvPr id="33" name="Text 31"/>
          <p:cNvSpPr/>
          <p:nvPr/>
        </p:nvSpPr>
        <p:spPr>
          <a:xfrm>
            <a:off x="4636008" y="3154680"/>
            <a:ext cx="566928" cy="530352"/>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12.1%</a:t>
            </a:r>
            <a:endParaRPr lang="en-US" sz="1000" dirty="0"/>
          </a:p>
        </p:txBody>
      </p:sp>
      <p:sp>
        <p:nvSpPr>
          <p:cNvPr id="34" name="Text 32"/>
          <p:cNvSpPr/>
          <p:nvPr/>
        </p:nvSpPr>
        <p:spPr>
          <a:xfrm>
            <a:off x="5248656" y="3154680"/>
            <a:ext cx="621792" cy="530352"/>
          </a:xfrm>
          <a:prstGeom prst="rect">
            <a:avLst/>
          </a:prstGeom>
          <a:noFill/>
          <a:ln/>
        </p:spPr>
        <p:txBody>
          <a:bodyPr wrap="square" lIns="0" tIns="0" rIns="0" bIns="0" rtlCol="0" anchor="ctr"/>
          <a:lstStyle/>
          <a:p>
            <a:pPr algn="r" indent="0" marL="0">
              <a:buNone/>
            </a:pPr>
            <a:r>
              <a:rPr lang="en-US" sz="1000" b="1" dirty="0">
                <a:solidFill>
                  <a:srgbClr val="FBBF24"/>
                </a:solidFill>
                <a:latin typeface="Calibri" pitchFamily="34" charset="0"/>
                <a:ea typeface="Calibri" pitchFamily="34" charset="-122"/>
                <a:cs typeface="Calibri" pitchFamily="34" charset="-120"/>
              </a:rPr>
              <a:t>Delay</a:t>
            </a:r>
            <a:endParaRPr lang="en-US" sz="1000" dirty="0"/>
          </a:p>
        </p:txBody>
      </p:sp>
      <p:sp>
        <p:nvSpPr>
          <p:cNvPr id="35" name="Shape 33"/>
          <p:cNvSpPr/>
          <p:nvPr/>
        </p:nvSpPr>
        <p:spPr>
          <a:xfrm>
            <a:off x="6205576" y="3108960"/>
            <a:ext cx="5419192"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6" name="Text 34"/>
          <p:cNvSpPr/>
          <p:nvPr/>
        </p:nvSpPr>
        <p:spPr>
          <a:xfrm>
            <a:off x="6388456" y="3154680"/>
            <a:ext cx="1956816" cy="530352"/>
          </a:xfrm>
          <a:prstGeom prst="rect">
            <a:avLst/>
          </a:prstGeom>
          <a:noFill/>
          <a:ln/>
        </p:spPr>
        <p:txBody>
          <a:bodyPr wrap="square" lIns="0" tIns="0" rIns="0" bIns="0" rtlCol="0" anchor="ctr"/>
          <a:lstStyle/>
          <a:p>
            <a:pPr indent="0" marL="0">
              <a:buNone/>
            </a:pPr>
            <a:r>
              <a:rPr lang="en-US" sz="1050" dirty="0">
                <a:solidFill>
                  <a:srgbClr val="F8FAFC"/>
                </a:solidFill>
                <a:latin typeface="Calibri" pitchFamily="34" charset="0"/>
                <a:ea typeface="Calibri" pitchFamily="34" charset="-122"/>
                <a:cs typeface="Calibri" pitchFamily="34" charset="-120"/>
              </a:rPr>
              <a:t>Introducing a new product</a:t>
            </a:r>
            <a:endParaRPr lang="en-US" sz="1050" dirty="0"/>
          </a:p>
        </p:txBody>
      </p:sp>
      <p:sp>
        <p:nvSpPr>
          <p:cNvPr id="37" name="Text 35"/>
          <p:cNvSpPr/>
          <p:nvPr/>
        </p:nvSpPr>
        <p:spPr>
          <a:xfrm>
            <a:off x="8381848" y="3154680"/>
            <a:ext cx="868680" cy="530352"/>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AED 6.30M</a:t>
            </a:r>
            <a:endParaRPr lang="en-US" sz="1000" dirty="0"/>
          </a:p>
        </p:txBody>
      </p:sp>
      <p:sp>
        <p:nvSpPr>
          <p:cNvPr id="38" name="Text 36"/>
          <p:cNvSpPr/>
          <p:nvPr/>
        </p:nvSpPr>
        <p:spPr>
          <a:xfrm>
            <a:off x="9305392" y="3154680"/>
            <a:ext cx="914400" cy="530352"/>
          </a:xfrm>
          <a:prstGeom prst="rect">
            <a:avLst/>
          </a:prstGeom>
          <a:noFill/>
          <a:ln/>
        </p:spPr>
        <p:txBody>
          <a:bodyPr wrap="square" lIns="0" tIns="0" rIns="0" bIns="0" rtlCol="0" anchor="ctr"/>
          <a:lstStyle/>
          <a:p>
            <a:pPr algn="r" indent="0" marL="0">
              <a:buNone/>
            </a:pPr>
            <a:r>
              <a:rPr lang="en-US" sz="1300" b="1" dirty="0">
                <a:solidFill>
                  <a:srgbClr val="FBBF24"/>
                </a:solidFill>
                <a:latin typeface="Cambria" pitchFamily="34" charset="0"/>
                <a:ea typeface="Cambria" pitchFamily="34" charset="-122"/>
                <a:cs typeface="Cambria" pitchFamily="34" charset="-120"/>
              </a:rPr>
              <a:t>(0.55M)</a:t>
            </a:r>
            <a:endParaRPr lang="en-US" sz="1300" dirty="0"/>
          </a:p>
        </p:txBody>
      </p:sp>
      <p:sp>
        <p:nvSpPr>
          <p:cNvPr id="39" name="Text 37"/>
          <p:cNvSpPr/>
          <p:nvPr/>
        </p:nvSpPr>
        <p:spPr>
          <a:xfrm>
            <a:off x="10274656" y="3154680"/>
            <a:ext cx="566928" cy="530352"/>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10.4%</a:t>
            </a:r>
            <a:endParaRPr lang="en-US" sz="1000" dirty="0"/>
          </a:p>
        </p:txBody>
      </p:sp>
      <p:sp>
        <p:nvSpPr>
          <p:cNvPr id="40" name="Text 38"/>
          <p:cNvSpPr/>
          <p:nvPr/>
        </p:nvSpPr>
        <p:spPr>
          <a:xfrm>
            <a:off x="10887304" y="3154680"/>
            <a:ext cx="621792" cy="530352"/>
          </a:xfrm>
          <a:prstGeom prst="rect">
            <a:avLst/>
          </a:prstGeom>
          <a:noFill/>
          <a:ln/>
        </p:spPr>
        <p:txBody>
          <a:bodyPr wrap="square" lIns="0" tIns="0" rIns="0" bIns="0" rtlCol="0" anchor="ctr"/>
          <a:lstStyle/>
          <a:p>
            <a:pPr algn="r" indent="0" marL="0">
              <a:buNone/>
            </a:pPr>
            <a:r>
              <a:rPr lang="en-US" sz="1000" b="1" dirty="0">
                <a:solidFill>
                  <a:srgbClr val="FBBF24"/>
                </a:solidFill>
                <a:latin typeface="Calibri" pitchFamily="34" charset="0"/>
                <a:ea typeface="Calibri" pitchFamily="34" charset="-122"/>
                <a:cs typeface="Calibri" pitchFamily="34" charset="-120"/>
              </a:rPr>
              <a:t>Delay</a:t>
            </a:r>
            <a:endParaRPr lang="en-US" sz="1000" dirty="0"/>
          </a:p>
        </p:txBody>
      </p:sp>
      <p:sp>
        <p:nvSpPr>
          <p:cNvPr id="41" name="Shape 39"/>
          <p:cNvSpPr/>
          <p:nvPr/>
        </p:nvSpPr>
        <p:spPr>
          <a:xfrm>
            <a:off x="566928" y="3822192"/>
            <a:ext cx="5419192"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42" name="Text 40"/>
          <p:cNvSpPr/>
          <p:nvPr/>
        </p:nvSpPr>
        <p:spPr>
          <a:xfrm>
            <a:off x="749808" y="3867912"/>
            <a:ext cx="1956816" cy="530352"/>
          </a:xfrm>
          <a:prstGeom prst="rect">
            <a:avLst/>
          </a:prstGeom>
          <a:noFill/>
          <a:ln/>
        </p:spPr>
        <p:txBody>
          <a:bodyPr wrap="square" lIns="0" tIns="0" rIns="0" bIns="0" rtlCol="0" anchor="ctr"/>
          <a:lstStyle/>
          <a:p>
            <a:pPr indent="0" marL="0">
              <a:buNone/>
            </a:pPr>
            <a:r>
              <a:rPr lang="en-US" sz="1050" dirty="0">
                <a:solidFill>
                  <a:srgbClr val="F8FAFC"/>
                </a:solidFill>
                <a:latin typeface="Calibri" pitchFamily="34" charset="0"/>
                <a:ea typeface="Calibri" pitchFamily="34" charset="-122"/>
                <a:cs typeface="Calibri" pitchFamily="34" charset="-120"/>
              </a:rPr>
              <a:t>Launching an online service</a:t>
            </a:r>
            <a:endParaRPr lang="en-US" sz="1050" dirty="0"/>
          </a:p>
        </p:txBody>
      </p:sp>
      <p:sp>
        <p:nvSpPr>
          <p:cNvPr id="43" name="Text 41"/>
          <p:cNvSpPr/>
          <p:nvPr/>
        </p:nvSpPr>
        <p:spPr>
          <a:xfrm>
            <a:off x="2743200" y="3867912"/>
            <a:ext cx="868680" cy="530352"/>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AED 6.90M</a:t>
            </a:r>
            <a:endParaRPr lang="en-US" sz="1000" dirty="0"/>
          </a:p>
        </p:txBody>
      </p:sp>
      <p:sp>
        <p:nvSpPr>
          <p:cNvPr id="44" name="Text 42"/>
          <p:cNvSpPr/>
          <p:nvPr/>
        </p:nvSpPr>
        <p:spPr>
          <a:xfrm>
            <a:off x="3666744" y="3867912"/>
            <a:ext cx="914400" cy="530352"/>
          </a:xfrm>
          <a:prstGeom prst="rect">
            <a:avLst/>
          </a:prstGeom>
          <a:noFill/>
          <a:ln/>
        </p:spPr>
        <p:txBody>
          <a:bodyPr wrap="square" lIns="0" tIns="0" rIns="0" bIns="0" rtlCol="0" anchor="ctr"/>
          <a:lstStyle/>
          <a:p>
            <a:pPr algn="r" indent="0" marL="0">
              <a:buNone/>
            </a:pPr>
            <a:r>
              <a:rPr lang="en-US" sz="1300" b="1" dirty="0">
                <a:solidFill>
                  <a:srgbClr val="F87171"/>
                </a:solidFill>
                <a:latin typeface="Cambria" pitchFamily="34" charset="0"/>
                <a:ea typeface="Cambria" pitchFamily="34" charset="-122"/>
                <a:cs typeface="Cambria" pitchFamily="34" charset="-120"/>
              </a:rPr>
              <a:t>(1.49M)</a:t>
            </a:r>
            <a:endParaRPr lang="en-US" sz="1300" dirty="0"/>
          </a:p>
        </p:txBody>
      </p:sp>
      <p:sp>
        <p:nvSpPr>
          <p:cNvPr id="45" name="Text 43"/>
          <p:cNvSpPr/>
          <p:nvPr/>
        </p:nvSpPr>
        <p:spPr>
          <a:xfrm>
            <a:off x="4636008" y="3867912"/>
            <a:ext cx="566928" cy="530352"/>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14.0%</a:t>
            </a:r>
            <a:endParaRPr lang="en-US" sz="1000" dirty="0"/>
          </a:p>
        </p:txBody>
      </p:sp>
      <p:sp>
        <p:nvSpPr>
          <p:cNvPr id="46" name="Text 44"/>
          <p:cNvSpPr/>
          <p:nvPr/>
        </p:nvSpPr>
        <p:spPr>
          <a:xfrm>
            <a:off x="5248656" y="3867912"/>
            <a:ext cx="621792" cy="530352"/>
          </a:xfrm>
          <a:prstGeom prst="rect">
            <a:avLst/>
          </a:prstGeom>
          <a:noFill/>
          <a:ln/>
        </p:spPr>
        <p:txBody>
          <a:bodyPr wrap="square" lIns="0" tIns="0" rIns="0" bIns="0" rtlCol="0" anchor="ctr"/>
          <a:lstStyle/>
          <a:p>
            <a:pPr algn="r" indent="0" marL="0">
              <a:buNone/>
            </a:pPr>
            <a:r>
              <a:rPr lang="en-US" sz="1000" b="1" dirty="0">
                <a:solidFill>
                  <a:srgbClr val="F87171"/>
                </a:solidFill>
                <a:latin typeface="Calibri" pitchFamily="34" charset="0"/>
                <a:ea typeface="Calibri" pitchFamily="34" charset="-122"/>
                <a:cs typeface="Calibri" pitchFamily="34" charset="-120"/>
              </a:rPr>
              <a:t>Reject</a:t>
            </a:r>
            <a:endParaRPr lang="en-US" sz="1000" dirty="0"/>
          </a:p>
        </p:txBody>
      </p:sp>
      <p:sp>
        <p:nvSpPr>
          <p:cNvPr id="47" name="Shape 45"/>
          <p:cNvSpPr/>
          <p:nvPr/>
        </p:nvSpPr>
        <p:spPr>
          <a:xfrm>
            <a:off x="6205576" y="3822192"/>
            <a:ext cx="5419192" cy="621792"/>
          </a:xfrm>
          <a:prstGeom prst="roundRect">
            <a:avLst>
              <a:gd name="adj" fmla="val 14706"/>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48" name="Text 46"/>
          <p:cNvSpPr/>
          <p:nvPr/>
        </p:nvSpPr>
        <p:spPr>
          <a:xfrm>
            <a:off x="6388456" y="3867912"/>
            <a:ext cx="1956816" cy="530352"/>
          </a:xfrm>
          <a:prstGeom prst="rect">
            <a:avLst/>
          </a:prstGeom>
          <a:noFill/>
          <a:ln/>
        </p:spPr>
        <p:txBody>
          <a:bodyPr wrap="square" lIns="0" tIns="0" rIns="0" bIns="0" rtlCol="0" anchor="ctr"/>
          <a:lstStyle/>
          <a:p>
            <a:pPr indent="0" marL="0">
              <a:buNone/>
            </a:pPr>
            <a:r>
              <a:rPr lang="en-US" sz="1050" dirty="0">
                <a:solidFill>
                  <a:srgbClr val="F8FAFC"/>
                </a:solidFill>
                <a:latin typeface="Calibri" pitchFamily="34" charset="0"/>
                <a:ea typeface="Calibri" pitchFamily="34" charset="-122"/>
                <a:cs typeface="Calibri" pitchFamily="34" charset="-120"/>
              </a:rPr>
              <a:t>Entering a new market</a:t>
            </a:r>
            <a:endParaRPr lang="en-US" sz="1050" dirty="0"/>
          </a:p>
        </p:txBody>
      </p:sp>
      <p:sp>
        <p:nvSpPr>
          <p:cNvPr id="49" name="Text 47"/>
          <p:cNvSpPr/>
          <p:nvPr/>
        </p:nvSpPr>
        <p:spPr>
          <a:xfrm>
            <a:off x="8381848" y="3867912"/>
            <a:ext cx="868680" cy="530352"/>
          </a:xfrm>
          <a:prstGeom prst="rect">
            <a:avLst/>
          </a:prstGeom>
          <a:noFill/>
          <a:ln/>
        </p:spPr>
        <p:txBody>
          <a:bodyPr wrap="square" lIns="0" tIns="0" rIns="0" bIns="0"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AED 10.9M</a:t>
            </a:r>
            <a:endParaRPr lang="en-US" sz="1000" dirty="0"/>
          </a:p>
        </p:txBody>
      </p:sp>
      <p:sp>
        <p:nvSpPr>
          <p:cNvPr id="50" name="Text 48"/>
          <p:cNvSpPr/>
          <p:nvPr/>
        </p:nvSpPr>
        <p:spPr>
          <a:xfrm>
            <a:off x="9305392" y="3867912"/>
            <a:ext cx="914400" cy="530352"/>
          </a:xfrm>
          <a:prstGeom prst="rect">
            <a:avLst/>
          </a:prstGeom>
          <a:noFill/>
          <a:ln/>
        </p:spPr>
        <p:txBody>
          <a:bodyPr wrap="square" lIns="0" tIns="0" rIns="0" bIns="0" rtlCol="0" anchor="ctr"/>
          <a:lstStyle/>
          <a:p>
            <a:pPr algn="r" indent="0" marL="0">
              <a:buNone/>
            </a:pPr>
            <a:r>
              <a:rPr lang="en-US" sz="1300" b="1" dirty="0">
                <a:solidFill>
                  <a:srgbClr val="F87171"/>
                </a:solidFill>
                <a:latin typeface="Cambria" pitchFamily="34" charset="0"/>
                <a:ea typeface="Cambria" pitchFamily="34" charset="-122"/>
                <a:cs typeface="Cambria" pitchFamily="34" charset="-120"/>
              </a:rPr>
              <a:t>(2.21M)</a:t>
            </a:r>
            <a:endParaRPr lang="en-US" sz="1300" dirty="0"/>
          </a:p>
        </p:txBody>
      </p:sp>
      <p:sp>
        <p:nvSpPr>
          <p:cNvPr id="51" name="Text 49"/>
          <p:cNvSpPr/>
          <p:nvPr/>
        </p:nvSpPr>
        <p:spPr>
          <a:xfrm>
            <a:off x="10274656" y="3867912"/>
            <a:ext cx="566928" cy="530352"/>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10.7%</a:t>
            </a:r>
            <a:endParaRPr lang="en-US" sz="1000" dirty="0"/>
          </a:p>
        </p:txBody>
      </p:sp>
      <p:sp>
        <p:nvSpPr>
          <p:cNvPr id="52" name="Text 50"/>
          <p:cNvSpPr/>
          <p:nvPr/>
        </p:nvSpPr>
        <p:spPr>
          <a:xfrm>
            <a:off x="10887304" y="3867912"/>
            <a:ext cx="621792" cy="530352"/>
          </a:xfrm>
          <a:prstGeom prst="rect">
            <a:avLst/>
          </a:prstGeom>
          <a:noFill/>
          <a:ln/>
        </p:spPr>
        <p:txBody>
          <a:bodyPr wrap="square" lIns="0" tIns="0" rIns="0" bIns="0" rtlCol="0" anchor="ctr"/>
          <a:lstStyle/>
          <a:p>
            <a:pPr algn="r" indent="0" marL="0">
              <a:buNone/>
            </a:pPr>
            <a:r>
              <a:rPr lang="en-US" sz="1000" b="1" dirty="0">
                <a:solidFill>
                  <a:srgbClr val="F87171"/>
                </a:solidFill>
                <a:latin typeface="Calibri" pitchFamily="34" charset="0"/>
                <a:ea typeface="Calibri" pitchFamily="34" charset="-122"/>
                <a:cs typeface="Calibri" pitchFamily="34" charset="-120"/>
              </a:rPr>
              <a:t>Reject</a:t>
            </a:r>
            <a:endParaRPr lang="en-US" sz="1000" dirty="0"/>
          </a:p>
        </p:txBody>
      </p:sp>
      <p:sp>
        <p:nvSpPr>
          <p:cNvPr id="53" name="Shape 51"/>
          <p:cNvSpPr/>
          <p:nvPr/>
        </p:nvSpPr>
        <p:spPr>
          <a:xfrm>
            <a:off x="566928" y="4553712"/>
            <a:ext cx="11057839" cy="1261872"/>
          </a:xfrm>
          <a:prstGeom prst="roundRect">
            <a:avLst>
              <a:gd name="adj" fmla="val 7246"/>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54" name="Shape 52"/>
          <p:cNvSpPr/>
          <p:nvPr/>
        </p:nvSpPr>
        <p:spPr>
          <a:xfrm>
            <a:off x="822960" y="4736592"/>
            <a:ext cx="310896" cy="310896"/>
          </a:xfrm>
          <a:prstGeom prst="ellipse">
            <a:avLst/>
          </a:prstGeom>
          <a:solidFill>
            <a:srgbClr val="22D3EE"/>
          </a:solidFill>
          <a:ln w="12700">
            <a:solidFill>
              <a:srgbClr val="22D3EE"/>
            </a:solidFill>
            <a:prstDash val="solid"/>
          </a:ln>
        </p:spPr>
      </p:sp>
      <p:sp>
        <p:nvSpPr>
          <p:cNvPr id="55" name="Text 53"/>
          <p:cNvSpPr/>
          <p:nvPr/>
        </p:nvSpPr>
        <p:spPr>
          <a:xfrm>
            <a:off x="822960" y="4736592"/>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a:t>
            </a:r>
            <a:endParaRPr lang="en-US" sz="1300" dirty="0"/>
          </a:p>
        </p:txBody>
      </p:sp>
      <p:sp>
        <p:nvSpPr>
          <p:cNvPr id="56" name="Text 54"/>
          <p:cNvSpPr/>
          <p:nvPr/>
        </p:nvSpPr>
        <p:spPr>
          <a:xfrm>
            <a:off x="1261872" y="4718304"/>
            <a:ext cx="4937760" cy="292608"/>
          </a:xfrm>
          <a:prstGeom prst="rect">
            <a:avLst/>
          </a:prstGeom>
          <a:noFill/>
          <a:ln/>
        </p:spPr>
        <p:txBody>
          <a:bodyPr wrap="square" lIns="0" tIns="0" rIns="0" bIns="0" rtlCol="0" anchor="ctr"/>
          <a:lstStyle/>
          <a:p>
            <a:pPr indent="0" marL="0">
              <a:buNone/>
            </a:pPr>
            <a:r>
              <a:rPr lang="en-US" sz="1400" b="1" dirty="0">
                <a:solidFill>
                  <a:srgbClr val="F8FAFC"/>
                </a:solidFill>
                <a:latin typeface="Calibri" pitchFamily="34" charset="0"/>
                <a:ea typeface="Calibri" pitchFamily="34" charset="-122"/>
                <a:cs typeface="Calibri" pitchFamily="34" charset="-120"/>
              </a:rPr>
              <a:t>Five of the eight fail — deliberately</a:t>
            </a:r>
            <a:endParaRPr lang="en-US" sz="1400" dirty="0"/>
          </a:p>
        </p:txBody>
      </p:sp>
      <p:sp>
        <p:nvSpPr>
          <p:cNvPr id="57" name="Text 55"/>
          <p:cNvSpPr/>
          <p:nvPr/>
        </p:nvSpPr>
        <p:spPr>
          <a:xfrm>
            <a:off x="841248" y="5029200"/>
            <a:ext cx="10509199" cy="694944"/>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 template pack in which every archetype is comfortably profitable would demonstrate optimistic defaults, not a working engine. The AI platform case breaks even only because inference cost scales with usage; the new-branch case turns on ten percent cannibalisation; the online service dies on customer-acquisition-cost inflation. The flagship NovaRetail case reproduces its figures to the dirham after the refactor, verified by regression test.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ARTIFICIAL INTELLIGENCE</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Sixteen AI capabilities — decision core</a:t>
            </a:r>
            <a:endParaRPr lang="en-US" sz="3000" dirty="0"/>
          </a:p>
        </p:txBody>
      </p:sp>
      <p:sp>
        <p:nvSpPr>
          <p:cNvPr id="4" name="Shape 2"/>
          <p:cNvSpPr/>
          <p:nvPr/>
        </p:nvSpPr>
        <p:spPr>
          <a:xfrm>
            <a:off x="9475927" y="384048"/>
            <a:ext cx="2148840" cy="384048"/>
          </a:xfrm>
          <a:prstGeom prst="roundRect">
            <a:avLst>
              <a:gd name="adj" fmla="val 50000"/>
            </a:avLst>
          </a:prstGeom>
          <a:solidFill>
            <a:srgbClr val="13314E"/>
          </a:solidFill>
          <a:ln w="12700">
            <a:solidFill>
              <a:srgbClr val="22D3EE"/>
            </a:solidFill>
            <a:prstDash val="solid"/>
          </a:ln>
        </p:spPr>
      </p:sp>
      <p:sp>
        <p:nvSpPr>
          <p:cNvPr id="5" name="Text 3"/>
          <p:cNvSpPr/>
          <p:nvPr/>
        </p:nvSpPr>
        <p:spPr>
          <a:xfrm>
            <a:off x="9475927" y="384048"/>
            <a:ext cx="2148840" cy="384048"/>
          </a:xfrm>
          <a:prstGeom prst="rect">
            <a:avLst/>
          </a:prstGeom>
          <a:noFill/>
          <a:ln/>
        </p:spPr>
        <p:txBody>
          <a:bodyPr wrap="square" lIns="0" tIns="0" rIns="0" bIns="0" rtlCol="0" anchor="ctr"/>
          <a:lstStyle/>
          <a:p>
            <a:pPr algn="ctr" indent="0" marL="0">
              <a:buNone/>
            </a:pPr>
            <a:r>
              <a:rPr lang="en-US" sz="1150" b="1" dirty="0">
                <a:solidFill>
                  <a:srgbClr val="22D3EE"/>
                </a:solidFill>
                <a:latin typeface="Calibri" pitchFamily="34" charset="0"/>
                <a:ea typeface="Calibri" pitchFamily="34" charset="-122"/>
                <a:cs typeface="Calibri" pitchFamily="34" charset="-120"/>
              </a:rPr>
              <a:t>QUESTION 4 · A</a:t>
            </a:r>
            <a:endParaRPr lang="en-US" sz="1150" dirty="0"/>
          </a:p>
        </p:txBody>
      </p:sp>
      <p:sp>
        <p:nvSpPr>
          <p:cNvPr id="6" name="Shape 4"/>
          <p:cNvSpPr/>
          <p:nvPr/>
        </p:nvSpPr>
        <p:spPr>
          <a:xfrm>
            <a:off x="566928" y="1335024"/>
            <a:ext cx="11057839" cy="713232"/>
          </a:xfrm>
          <a:prstGeom prst="roundRect">
            <a:avLst>
              <a:gd name="adj" fmla="val 12821"/>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7" name="Shape 5"/>
          <p:cNvSpPr/>
          <p:nvPr/>
        </p:nvSpPr>
        <p:spPr>
          <a:xfrm>
            <a:off x="768096" y="1536192"/>
            <a:ext cx="310896" cy="310896"/>
          </a:xfrm>
          <a:prstGeom prst="ellipse">
            <a:avLst/>
          </a:prstGeom>
          <a:solidFill>
            <a:srgbClr val="22D3EE"/>
          </a:solidFill>
          <a:ln w="12700">
            <a:solidFill>
              <a:srgbClr val="22D3EE"/>
            </a:solidFill>
            <a:prstDash val="solid"/>
          </a:ln>
        </p:spPr>
      </p:sp>
      <p:sp>
        <p:nvSpPr>
          <p:cNvPr id="8" name="Text 6"/>
          <p:cNvSpPr/>
          <p:nvPr/>
        </p:nvSpPr>
        <p:spPr>
          <a:xfrm>
            <a:off x="768096" y="1536192"/>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188720" y="1389888"/>
            <a:ext cx="2011680" cy="60350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Retrieval-grounded answers</a:t>
            </a:r>
            <a:endParaRPr lang="en-US" sz="1150" dirty="0"/>
          </a:p>
        </p:txBody>
      </p:sp>
      <p:sp>
        <p:nvSpPr>
          <p:cNvPr id="10" name="Text 8"/>
          <p:cNvSpPr/>
          <p:nvPr/>
        </p:nvSpPr>
        <p:spPr>
          <a:xfrm>
            <a:off x="3236976" y="1389888"/>
            <a:ext cx="2697480" cy="603504"/>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Retrieves the documentation passages bearing on a question before answering</a:t>
            </a:r>
            <a:endParaRPr lang="en-US" sz="1000" dirty="0"/>
          </a:p>
        </p:txBody>
      </p:sp>
      <p:sp>
        <p:nvSpPr>
          <p:cNvPr id="11" name="Text 9"/>
          <p:cNvSpPr/>
          <p:nvPr/>
        </p:nvSpPr>
        <p:spPr>
          <a:xfrm>
            <a:off x="6236208" y="1389888"/>
            <a:ext cx="2423160" cy="603504"/>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A 90-passage corpus built from the methodology and assumption register</a:t>
            </a:r>
            <a:endParaRPr lang="en-US" sz="950" dirty="0"/>
          </a:p>
        </p:txBody>
      </p:sp>
      <p:sp>
        <p:nvSpPr>
          <p:cNvPr id="12" name="Text 10"/>
          <p:cNvSpPr/>
          <p:nvPr/>
        </p:nvSpPr>
        <p:spPr>
          <a:xfrm>
            <a:off x="8961120" y="1389888"/>
            <a:ext cx="2468880" cy="603504"/>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Retrieval can miss a passage; a citation proves provenance, not correctness</a:t>
            </a:r>
            <a:endParaRPr lang="en-US" sz="950" dirty="0"/>
          </a:p>
        </p:txBody>
      </p:sp>
      <p:sp>
        <p:nvSpPr>
          <p:cNvPr id="13" name="Shape 11"/>
          <p:cNvSpPr/>
          <p:nvPr/>
        </p:nvSpPr>
        <p:spPr>
          <a:xfrm>
            <a:off x="566928" y="2139696"/>
            <a:ext cx="11057839" cy="713232"/>
          </a:xfrm>
          <a:prstGeom prst="roundRect">
            <a:avLst>
              <a:gd name="adj" fmla="val 12821"/>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4" name="Shape 12"/>
          <p:cNvSpPr/>
          <p:nvPr/>
        </p:nvSpPr>
        <p:spPr>
          <a:xfrm>
            <a:off x="768096" y="2340864"/>
            <a:ext cx="310896" cy="310896"/>
          </a:xfrm>
          <a:prstGeom prst="ellipse">
            <a:avLst/>
          </a:prstGeom>
          <a:solidFill>
            <a:srgbClr val="22D3EE"/>
          </a:solidFill>
          <a:ln w="12700">
            <a:solidFill>
              <a:srgbClr val="22D3EE"/>
            </a:solidFill>
            <a:prstDash val="solid"/>
          </a:ln>
        </p:spPr>
      </p:sp>
      <p:sp>
        <p:nvSpPr>
          <p:cNvPr id="15" name="Text 13"/>
          <p:cNvSpPr/>
          <p:nvPr/>
        </p:nvSpPr>
        <p:spPr>
          <a:xfrm>
            <a:off x="768096" y="234086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1188720" y="2194560"/>
            <a:ext cx="2011680" cy="60350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Finance assistant</a:t>
            </a:r>
            <a:endParaRPr lang="en-US" sz="1150" dirty="0"/>
          </a:p>
        </p:txBody>
      </p:sp>
      <p:sp>
        <p:nvSpPr>
          <p:cNvPr id="17" name="Text 15"/>
          <p:cNvSpPr/>
          <p:nvPr/>
        </p:nvSpPr>
        <p:spPr>
          <a:xfrm>
            <a:off x="3236976" y="2194560"/>
            <a:ext cx="2697480" cy="603504"/>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Answers free-text questions about the live model</a:t>
            </a:r>
            <a:endParaRPr lang="en-US" sz="1000" dirty="0"/>
          </a:p>
        </p:txBody>
      </p:sp>
      <p:sp>
        <p:nvSpPr>
          <p:cNvPr id="18" name="Text 16"/>
          <p:cNvSpPr/>
          <p:nvPr/>
        </p:nvSpPr>
        <p:spPr>
          <a:xfrm>
            <a:off x="6236208" y="2194560"/>
            <a:ext cx="2423160" cy="603504"/>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Assumptions and computed metrics as injected context</a:t>
            </a:r>
            <a:endParaRPr lang="en-US" sz="950" dirty="0"/>
          </a:p>
        </p:txBody>
      </p:sp>
      <p:sp>
        <p:nvSpPr>
          <p:cNvPr id="19" name="Text 17"/>
          <p:cNvSpPr/>
          <p:nvPr/>
        </p:nvSpPr>
        <p:spPr>
          <a:xfrm>
            <a:off x="8961120" y="2194560"/>
            <a:ext cx="2468880" cy="603504"/>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May misread ambiguous questions; not auditable line by line</a:t>
            </a:r>
            <a:endParaRPr lang="en-US" sz="950" dirty="0"/>
          </a:p>
        </p:txBody>
      </p:sp>
      <p:sp>
        <p:nvSpPr>
          <p:cNvPr id="20" name="Shape 18"/>
          <p:cNvSpPr/>
          <p:nvPr/>
        </p:nvSpPr>
        <p:spPr>
          <a:xfrm>
            <a:off x="566928" y="2944368"/>
            <a:ext cx="11057839" cy="713232"/>
          </a:xfrm>
          <a:prstGeom prst="roundRect">
            <a:avLst>
              <a:gd name="adj" fmla="val 12821"/>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1" name="Shape 19"/>
          <p:cNvSpPr/>
          <p:nvPr/>
        </p:nvSpPr>
        <p:spPr>
          <a:xfrm>
            <a:off x="768096" y="3145536"/>
            <a:ext cx="310896" cy="310896"/>
          </a:xfrm>
          <a:prstGeom prst="ellipse">
            <a:avLst/>
          </a:prstGeom>
          <a:solidFill>
            <a:srgbClr val="22D3EE"/>
          </a:solidFill>
          <a:ln w="12700">
            <a:solidFill>
              <a:srgbClr val="22D3EE"/>
            </a:solidFill>
            <a:prstDash val="solid"/>
          </a:ln>
        </p:spPr>
      </p:sp>
      <p:sp>
        <p:nvSpPr>
          <p:cNvPr id="22" name="Text 20"/>
          <p:cNvSpPr/>
          <p:nvPr/>
        </p:nvSpPr>
        <p:spPr>
          <a:xfrm>
            <a:off x="768096" y="3145536"/>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1188720" y="2999232"/>
            <a:ext cx="2011680" cy="60350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Result explanation</a:t>
            </a:r>
            <a:endParaRPr lang="en-US" sz="1150" dirty="0"/>
          </a:p>
        </p:txBody>
      </p:sp>
      <p:sp>
        <p:nvSpPr>
          <p:cNvPr id="24" name="Text 22"/>
          <p:cNvSpPr/>
          <p:nvPr/>
        </p:nvSpPr>
        <p:spPr>
          <a:xfrm>
            <a:off x="3236976" y="2999232"/>
            <a:ext cx="2697480" cy="603504"/>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Explains why a metric moved</a:t>
            </a:r>
            <a:endParaRPr lang="en-US" sz="1000" dirty="0"/>
          </a:p>
        </p:txBody>
      </p:sp>
      <p:sp>
        <p:nvSpPr>
          <p:cNvPr id="25" name="Text 23"/>
          <p:cNvSpPr/>
          <p:nvPr/>
        </p:nvSpPr>
        <p:spPr>
          <a:xfrm>
            <a:off x="6236208" y="2999232"/>
            <a:ext cx="2423160" cy="603504"/>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Before-and-after metric pair</a:t>
            </a:r>
            <a:endParaRPr lang="en-US" sz="950" dirty="0"/>
          </a:p>
        </p:txBody>
      </p:sp>
      <p:sp>
        <p:nvSpPr>
          <p:cNvPr id="26" name="Text 24"/>
          <p:cNvSpPr/>
          <p:nvPr/>
        </p:nvSpPr>
        <p:spPr>
          <a:xfrm>
            <a:off x="8961120" y="2999232"/>
            <a:ext cx="2468880" cy="603504"/>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Correlation can be narrated as causation</a:t>
            </a:r>
            <a:endParaRPr lang="en-US" sz="950" dirty="0"/>
          </a:p>
        </p:txBody>
      </p:sp>
      <p:sp>
        <p:nvSpPr>
          <p:cNvPr id="27" name="Shape 25"/>
          <p:cNvSpPr/>
          <p:nvPr/>
        </p:nvSpPr>
        <p:spPr>
          <a:xfrm>
            <a:off x="566928" y="3749040"/>
            <a:ext cx="11057839" cy="713232"/>
          </a:xfrm>
          <a:prstGeom prst="roundRect">
            <a:avLst>
              <a:gd name="adj" fmla="val 12821"/>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8" name="Shape 26"/>
          <p:cNvSpPr/>
          <p:nvPr/>
        </p:nvSpPr>
        <p:spPr>
          <a:xfrm>
            <a:off x="768096" y="3950208"/>
            <a:ext cx="310896" cy="310896"/>
          </a:xfrm>
          <a:prstGeom prst="ellipse">
            <a:avLst/>
          </a:prstGeom>
          <a:solidFill>
            <a:srgbClr val="22D3EE"/>
          </a:solidFill>
          <a:ln w="12700">
            <a:solidFill>
              <a:srgbClr val="22D3EE"/>
            </a:solidFill>
            <a:prstDash val="solid"/>
          </a:ln>
        </p:spPr>
      </p:sp>
      <p:sp>
        <p:nvSpPr>
          <p:cNvPr id="29" name="Text 27"/>
          <p:cNvSpPr/>
          <p:nvPr/>
        </p:nvSpPr>
        <p:spPr>
          <a:xfrm>
            <a:off x="768096" y="3950208"/>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1188720" y="3803904"/>
            <a:ext cx="2011680" cy="60350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Board recommendation</a:t>
            </a:r>
            <a:endParaRPr lang="en-US" sz="1150" dirty="0"/>
          </a:p>
        </p:txBody>
      </p:sp>
      <p:sp>
        <p:nvSpPr>
          <p:cNvPr id="31" name="Text 29"/>
          <p:cNvSpPr/>
          <p:nvPr/>
        </p:nvSpPr>
        <p:spPr>
          <a:xfrm>
            <a:off x="3236976" y="3803904"/>
            <a:ext cx="2697480" cy="603504"/>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Drafts a structured decision with drivers, risks and controls</a:t>
            </a:r>
            <a:endParaRPr lang="en-US" sz="1000" dirty="0"/>
          </a:p>
        </p:txBody>
      </p:sp>
      <p:sp>
        <p:nvSpPr>
          <p:cNvPr id="32" name="Text 30"/>
          <p:cNvSpPr/>
          <p:nvPr/>
        </p:nvSpPr>
        <p:spPr>
          <a:xfrm>
            <a:off x="6236208" y="3803904"/>
            <a:ext cx="2423160" cy="603504"/>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Validated metrics, scenarios and risk alerts</a:t>
            </a:r>
            <a:endParaRPr lang="en-US" sz="950" dirty="0"/>
          </a:p>
        </p:txBody>
      </p:sp>
      <p:sp>
        <p:nvSpPr>
          <p:cNvPr id="33" name="Text 31"/>
          <p:cNvSpPr/>
          <p:nvPr/>
        </p:nvSpPr>
        <p:spPr>
          <a:xfrm>
            <a:off x="8961120" y="3803904"/>
            <a:ext cx="2468880" cy="603504"/>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Will write a confident memo from poor inputs — sign-off mandatory</a:t>
            </a:r>
            <a:endParaRPr lang="en-US" sz="950" dirty="0"/>
          </a:p>
        </p:txBody>
      </p:sp>
      <p:sp>
        <p:nvSpPr>
          <p:cNvPr id="34" name="Shape 32"/>
          <p:cNvSpPr/>
          <p:nvPr/>
        </p:nvSpPr>
        <p:spPr>
          <a:xfrm>
            <a:off x="566928" y="4553712"/>
            <a:ext cx="11057839" cy="713232"/>
          </a:xfrm>
          <a:prstGeom prst="roundRect">
            <a:avLst>
              <a:gd name="adj" fmla="val 12821"/>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5" name="Shape 33"/>
          <p:cNvSpPr/>
          <p:nvPr/>
        </p:nvSpPr>
        <p:spPr>
          <a:xfrm>
            <a:off x="768096" y="4754880"/>
            <a:ext cx="310896" cy="310896"/>
          </a:xfrm>
          <a:prstGeom prst="ellipse">
            <a:avLst/>
          </a:prstGeom>
          <a:solidFill>
            <a:srgbClr val="22D3EE"/>
          </a:solidFill>
          <a:ln w="12700">
            <a:solidFill>
              <a:srgbClr val="22D3EE"/>
            </a:solidFill>
            <a:prstDash val="solid"/>
          </a:ln>
        </p:spPr>
      </p:sp>
      <p:sp>
        <p:nvSpPr>
          <p:cNvPr id="36" name="Text 34"/>
          <p:cNvSpPr/>
          <p:nvPr/>
        </p:nvSpPr>
        <p:spPr>
          <a:xfrm>
            <a:off x="768096" y="4754880"/>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5</a:t>
            </a:r>
            <a:endParaRPr lang="en-US" sz="1300" dirty="0"/>
          </a:p>
        </p:txBody>
      </p:sp>
      <p:sp>
        <p:nvSpPr>
          <p:cNvPr id="37" name="Text 35"/>
          <p:cNvSpPr/>
          <p:nvPr/>
        </p:nvSpPr>
        <p:spPr>
          <a:xfrm>
            <a:off x="1188720" y="4608576"/>
            <a:ext cx="2011680" cy="60350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Threat radar</a:t>
            </a:r>
            <a:endParaRPr lang="en-US" sz="1150" dirty="0"/>
          </a:p>
        </p:txBody>
      </p:sp>
      <p:sp>
        <p:nvSpPr>
          <p:cNvPr id="38" name="Text 36"/>
          <p:cNvSpPr/>
          <p:nvPr/>
        </p:nvSpPr>
        <p:spPr>
          <a:xfrm>
            <a:off x="3236976" y="4608576"/>
            <a:ext cx="2697480" cy="603504"/>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Ranks risk axes specific to the investment archetype</a:t>
            </a:r>
            <a:endParaRPr lang="en-US" sz="1000" dirty="0"/>
          </a:p>
        </p:txBody>
      </p:sp>
      <p:sp>
        <p:nvSpPr>
          <p:cNvPr id="39" name="Text 37"/>
          <p:cNvSpPr/>
          <p:nvPr/>
        </p:nvSpPr>
        <p:spPr>
          <a:xfrm>
            <a:off x="6236208" y="4608576"/>
            <a:ext cx="2423160" cy="603504"/>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Archetype profile plus computed metrics</a:t>
            </a:r>
            <a:endParaRPr lang="en-US" sz="950" dirty="0"/>
          </a:p>
        </p:txBody>
      </p:sp>
      <p:sp>
        <p:nvSpPr>
          <p:cNvPr id="40" name="Text 38"/>
          <p:cNvSpPr/>
          <p:nvPr/>
        </p:nvSpPr>
        <p:spPr>
          <a:xfrm>
            <a:off x="8961120" y="4608576"/>
            <a:ext cx="2468880" cy="603504"/>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Only detects risks encoded in its priors</a:t>
            </a:r>
            <a:endParaRPr lang="en-US" sz="950" dirty="0"/>
          </a:p>
        </p:txBody>
      </p:sp>
      <p:sp>
        <p:nvSpPr>
          <p:cNvPr id="41" name="Shape 39"/>
          <p:cNvSpPr/>
          <p:nvPr/>
        </p:nvSpPr>
        <p:spPr>
          <a:xfrm>
            <a:off x="566928" y="5358384"/>
            <a:ext cx="11057839" cy="713232"/>
          </a:xfrm>
          <a:prstGeom prst="roundRect">
            <a:avLst>
              <a:gd name="adj" fmla="val 12821"/>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42" name="Shape 40"/>
          <p:cNvSpPr/>
          <p:nvPr/>
        </p:nvSpPr>
        <p:spPr>
          <a:xfrm>
            <a:off x="768096" y="5559552"/>
            <a:ext cx="310896" cy="310896"/>
          </a:xfrm>
          <a:prstGeom prst="ellipse">
            <a:avLst/>
          </a:prstGeom>
          <a:solidFill>
            <a:srgbClr val="22D3EE"/>
          </a:solidFill>
          <a:ln w="12700">
            <a:solidFill>
              <a:srgbClr val="22D3EE"/>
            </a:solidFill>
            <a:prstDash val="solid"/>
          </a:ln>
        </p:spPr>
      </p:sp>
      <p:sp>
        <p:nvSpPr>
          <p:cNvPr id="43" name="Text 41"/>
          <p:cNvSpPr/>
          <p:nvPr/>
        </p:nvSpPr>
        <p:spPr>
          <a:xfrm>
            <a:off x="768096" y="5559552"/>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6</a:t>
            </a:r>
            <a:endParaRPr lang="en-US" sz="1300" dirty="0"/>
          </a:p>
        </p:txBody>
      </p:sp>
      <p:sp>
        <p:nvSpPr>
          <p:cNvPr id="44" name="Text 42"/>
          <p:cNvSpPr/>
          <p:nvPr/>
        </p:nvSpPr>
        <p:spPr>
          <a:xfrm>
            <a:off x="1188720" y="5413248"/>
            <a:ext cx="2011680" cy="603504"/>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Board debate</a:t>
            </a:r>
            <a:endParaRPr lang="en-US" sz="1150" dirty="0"/>
          </a:p>
        </p:txBody>
      </p:sp>
      <p:sp>
        <p:nvSpPr>
          <p:cNvPr id="45" name="Text 43"/>
          <p:cNvSpPr/>
          <p:nvPr/>
        </p:nvSpPr>
        <p:spPr>
          <a:xfrm>
            <a:off x="3236976" y="5413248"/>
            <a:ext cx="2697480" cy="603504"/>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Simulates CFO, COO, Risk Officer and a sceptical non-executive</a:t>
            </a:r>
            <a:endParaRPr lang="en-US" sz="1000" dirty="0"/>
          </a:p>
        </p:txBody>
      </p:sp>
      <p:sp>
        <p:nvSpPr>
          <p:cNvPr id="46" name="Text 44"/>
          <p:cNvSpPr/>
          <p:nvPr/>
        </p:nvSpPr>
        <p:spPr>
          <a:xfrm>
            <a:off x="6236208" y="5413248"/>
            <a:ext cx="2423160" cy="603504"/>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Metrics, scenario set, archetype persona slants</a:t>
            </a:r>
            <a:endParaRPr lang="en-US" sz="950" dirty="0"/>
          </a:p>
        </p:txBody>
      </p:sp>
      <p:sp>
        <p:nvSpPr>
          <p:cNvPr id="47" name="Text 45"/>
          <p:cNvSpPr/>
          <p:nvPr/>
        </p:nvSpPr>
        <p:spPr>
          <a:xfrm>
            <a:off x="8961120" y="5413248"/>
            <a:ext cx="2468880" cy="603504"/>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Simulated dissent is not real governance</a:t>
            </a:r>
            <a:endParaRPr lang="en-US" sz="950" dirty="0"/>
          </a:p>
        </p:txBody>
      </p:sp>
      <p:sp>
        <p:nvSpPr>
          <p:cNvPr id="48" name="Text 46"/>
          <p:cNvSpPr/>
          <p:nvPr/>
        </p:nvSpPr>
        <p:spPr>
          <a:xfrm>
            <a:off x="1188720" y="1133856"/>
            <a:ext cx="2011680" cy="219456"/>
          </a:xfrm>
          <a:prstGeom prst="rect">
            <a:avLst/>
          </a:prstGeom>
          <a:noFill/>
          <a:ln/>
        </p:spPr>
        <p:txBody>
          <a:bodyPr wrap="square" lIns="0" tIns="0" rIns="0" bIns="0" rtlCol="0" anchor="ctr"/>
          <a:lstStyle/>
          <a:p>
            <a:pPr indent="0" marL="0">
              <a:buNone/>
            </a:pPr>
            <a:r>
              <a:rPr lang="en-US" sz="900" b="1" spc="120" kern="0" dirty="0">
                <a:solidFill>
                  <a:srgbClr val="94A3B8"/>
                </a:solidFill>
                <a:latin typeface="Calibri" pitchFamily="34" charset="0"/>
                <a:ea typeface="Calibri" pitchFamily="34" charset="-122"/>
                <a:cs typeface="Calibri" pitchFamily="34" charset="-120"/>
              </a:rPr>
              <a:t>Capability</a:t>
            </a:r>
            <a:endParaRPr lang="en-US" sz="900" dirty="0"/>
          </a:p>
        </p:txBody>
      </p:sp>
      <p:sp>
        <p:nvSpPr>
          <p:cNvPr id="49" name="Text 47"/>
          <p:cNvSpPr/>
          <p:nvPr/>
        </p:nvSpPr>
        <p:spPr>
          <a:xfrm>
            <a:off x="3236976" y="1133856"/>
            <a:ext cx="2697480" cy="219456"/>
          </a:xfrm>
          <a:prstGeom prst="rect">
            <a:avLst/>
          </a:prstGeom>
          <a:noFill/>
          <a:ln/>
        </p:spPr>
        <p:txBody>
          <a:bodyPr wrap="square" lIns="0" tIns="0" rIns="0" bIns="0" rtlCol="0" anchor="ctr"/>
          <a:lstStyle/>
          <a:p>
            <a:pPr indent="0" marL="0">
              <a:buNone/>
            </a:pPr>
            <a:r>
              <a:rPr lang="en-US" sz="900" b="1" spc="120" kern="0" dirty="0">
                <a:solidFill>
                  <a:srgbClr val="94A3B8"/>
                </a:solidFill>
                <a:latin typeface="Calibri" pitchFamily="34" charset="0"/>
                <a:ea typeface="Calibri" pitchFamily="34" charset="-122"/>
                <a:cs typeface="Calibri" pitchFamily="34" charset="-120"/>
              </a:rPr>
              <a:t>What it does</a:t>
            </a:r>
            <a:endParaRPr lang="en-US" sz="900" dirty="0"/>
          </a:p>
        </p:txBody>
      </p:sp>
      <p:sp>
        <p:nvSpPr>
          <p:cNvPr id="50" name="Text 48"/>
          <p:cNvSpPr/>
          <p:nvPr/>
        </p:nvSpPr>
        <p:spPr>
          <a:xfrm>
            <a:off x="6236208" y="1133856"/>
            <a:ext cx="2423160" cy="219456"/>
          </a:xfrm>
          <a:prstGeom prst="rect">
            <a:avLst/>
          </a:prstGeom>
          <a:noFill/>
          <a:ln/>
        </p:spPr>
        <p:txBody>
          <a:bodyPr wrap="square" lIns="0" tIns="0" rIns="0" bIns="0" rtlCol="0" anchor="ctr"/>
          <a:lstStyle/>
          <a:p>
            <a:pPr indent="0" marL="0">
              <a:buNone/>
            </a:pPr>
            <a:r>
              <a:rPr lang="en-US" sz="900" b="1" spc="120" kern="0" dirty="0">
                <a:solidFill>
                  <a:srgbClr val="94A3B8"/>
                </a:solidFill>
                <a:latin typeface="Calibri" pitchFamily="34" charset="0"/>
                <a:ea typeface="Calibri" pitchFamily="34" charset="-122"/>
                <a:cs typeface="Calibri" pitchFamily="34" charset="-120"/>
              </a:rPr>
              <a:t>Information it uses</a:t>
            </a:r>
            <a:endParaRPr lang="en-US" sz="900" dirty="0"/>
          </a:p>
        </p:txBody>
      </p:sp>
      <p:sp>
        <p:nvSpPr>
          <p:cNvPr id="51" name="Text 49"/>
          <p:cNvSpPr/>
          <p:nvPr/>
        </p:nvSpPr>
        <p:spPr>
          <a:xfrm>
            <a:off x="8961120" y="1133856"/>
            <a:ext cx="2468880" cy="219456"/>
          </a:xfrm>
          <a:prstGeom prst="rect">
            <a:avLst/>
          </a:prstGeom>
          <a:noFill/>
          <a:ln/>
        </p:spPr>
        <p:txBody>
          <a:bodyPr wrap="square" lIns="0" tIns="0" rIns="0" bIns="0" rtlCol="0" anchor="ctr"/>
          <a:lstStyle/>
          <a:p>
            <a:pPr indent="0" marL="0">
              <a:buNone/>
            </a:pPr>
            <a:r>
              <a:rPr lang="en-US" sz="900" b="1" spc="120" kern="0" dirty="0">
                <a:solidFill>
                  <a:srgbClr val="94A3B8"/>
                </a:solidFill>
                <a:latin typeface="Calibri" pitchFamily="34" charset="0"/>
                <a:ea typeface="Calibri" pitchFamily="34" charset="-122"/>
                <a:cs typeface="Calibri" pitchFamily="34" charset="-120"/>
              </a:rPr>
              <a:t>Limitation / risk</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ARTIFICIAL INTELLIGENCE</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Sixteen AI capabilities — advisory and governance</a:t>
            </a:r>
            <a:endParaRPr lang="en-US" sz="3000" dirty="0"/>
          </a:p>
        </p:txBody>
      </p:sp>
      <p:sp>
        <p:nvSpPr>
          <p:cNvPr id="4" name="Shape 2"/>
          <p:cNvSpPr/>
          <p:nvPr/>
        </p:nvSpPr>
        <p:spPr>
          <a:xfrm>
            <a:off x="9475927" y="384048"/>
            <a:ext cx="2148840" cy="384048"/>
          </a:xfrm>
          <a:prstGeom prst="roundRect">
            <a:avLst>
              <a:gd name="adj" fmla="val 50000"/>
            </a:avLst>
          </a:prstGeom>
          <a:solidFill>
            <a:srgbClr val="13314E"/>
          </a:solidFill>
          <a:ln w="12700">
            <a:solidFill>
              <a:srgbClr val="22D3EE"/>
            </a:solidFill>
            <a:prstDash val="solid"/>
          </a:ln>
        </p:spPr>
      </p:sp>
      <p:sp>
        <p:nvSpPr>
          <p:cNvPr id="5" name="Text 3"/>
          <p:cNvSpPr/>
          <p:nvPr/>
        </p:nvSpPr>
        <p:spPr>
          <a:xfrm>
            <a:off x="9475927" y="384048"/>
            <a:ext cx="2148840" cy="384048"/>
          </a:xfrm>
          <a:prstGeom prst="rect">
            <a:avLst/>
          </a:prstGeom>
          <a:noFill/>
          <a:ln/>
        </p:spPr>
        <p:txBody>
          <a:bodyPr wrap="square" lIns="0" tIns="0" rIns="0" bIns="0" rtlCol="0" anchor="ctr"/>
          <a:lstStyle/>
          <a:p>
            <a:pPr algn="ctr" indent="0" marL="0">
              <a:buNone/>
            </a:pPr>
            <a:r>
              <a:rPr lang="en-US" sz="1150" b="1" dirty="0">
                <a:solidFill>
                  <a:srgbClr val="22D3EE"/>
                </a:solidFill>
                <a:latin typeface="Calibri" pitchFamily="34" charset="0"/>
                <a:ea typeface="Calibri" pitchFamily="34" charset="-122"/>
                <a:cs typeface="Calibri" pitchFamily="34" charset="-120"/>
              </a:rPr>
              <a:t>QUESTION 4 · B</a:t>
            </a:r>
            <a:endParaRPr lang="en-US" sz="1150" dirty="0"/>
          </a:p>
        </p:txBody>
      </p:sp>
      <p:sp>
        <p:nvSpPr>
          <p:cNvPr id="6" name="Shape 4"/>
          <p:cNvSpPr/>
          <p:nvPr/>
        </p:nvSpPr>
        <p:spPr>
          <a:xfrm>
            <a:off x="566928" y="1371600"/>
            <a:ext cx="11057839" cy="566928"/>
          </a:xfrm>
          <a:prstGeom prst="roundRect">
            <a:avLst>
              <a:gd name="adj" fmla="val 16129"/>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7" name="Shape 5"/>
          <p:cNvSpPr/>
          <p:nvPr/>
        </p:nvSpPr>
        <p:spPr>
          <a:xfrm>
            <a:off x="768096" y="1499616"/>
            <a:ext cx="310896" cy="310896"/>
          </a:xfrm>
          <a:prstGeom prst="ellipse">
            <a:avLst/>
          </a:prstGeom>
          <a:solidFill>
            <a:srgbClr val="22D3EE"/>
          </a:solidFill>
          <a:ln w="12700">
            <a:solidFill>
              <a:srgbClr val="22D3EE"/>
            </a:solidFill>
            <a:prstDash val="solid"/>
          </a:ln>
        </p:spPr>
      </p:sp>
      <p:sp>
        <p:nvSpPr>
          <p:cNvPr id="8" name="Text 6"/>
          <p:cNvSpPr/>
          <p:nvPr/>
        </p:nvSpPr>
        <p:spPr>
          <a:xfrm>
            <a:off x="768096" y="1499616"/>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7</a:t>
            </a:r>
            <a:endParaRPr lang="en-US" sz="1300" dirty="0"/>
          </a:p>
        </p:txBody>
      </p:sp>
      <p:sp>
        <p:nvSpPr>
          <p:cNvPr id="9" name="Text 7"/>
          <p:cNvSpPr/>
          <p:nvPr/>
        </p:nvSpPr>
        <p:spPr>
          <a:xfrm>
            <a:off x="1188720" y="1408176"/>
            <a:ext cx="2011680" cy="493776"/>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Board memorandum</a:t>
            </a:r>
            <a:endParaRPr lang="en-US" sz="1150" dirty="0"/>
          </a:p>
        </p:txBody>
      </p:sp>
      <p:sp>
        <p:nvSpPr>
          <p:cNvPr id="10" name="Text 8"/>
          <p:cNvSpPr/>
          <p:nvPr/>
        </p:nvSpPr>
        <p:spPr>
          <a:xfrm>
            <a:off x="3236976" y="1408176"/>
            <a:ext cx="2697480" cy="493776"/>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Drafts the full memorandum in structured sections</a:t>
            </a:r>
            <a:endParaRPr lang="en-US" sz="1000" dirty="0"/>
          </a:p>
        </p:txBody>
      </p:sp>
      <p:sp>
        <p:nvSpPr>
          <p:cNvPr id="11" name="Text 9"/>
          <p:cNvSpPr/>
          <p:nvPr/>
        </p:nvSpPr>
        <p:spPr>
          <a:xfrm>
            <a:off x="6236208" y="1408176"/>
            <a:ext cx="2423160" cy="493776"/>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Metrics, scenarios, risk register, archetype KPIs</a:t>
            </a:r>
            <a:endParaRPr lang="en-US" sz="950" dirty="0"/>
          </a:p>
        </p:txBody>
      </p:sp>
      <p:sp>
        <p:nvSpPr>
          <p:cNvPr id="12" name="Text 10"/>
          <p:cNvSpPr/>
          <p:nvPr/>
        </p:nvSpPr>
        <p:spPr>
          <a:xfrm>
            <a:off x="8961120" y="1408176"/>
            <a:ext cx="2468880" cy="493776"/>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Fluent prose lends false authority to weak assumptions</a:t>
            </a:r>
            <a:endParaRPr lang="en-US" sz="950" dirty="0"/>
          </a:p>
        </p:txBody>
      </p:sp>
      <p:sp>
        <p:nvSpPr>
          <p:cNvPr id="13" name="Shape 11"/>
          <p:cNvSpPr/>
          <p:nvPr/>
        </p:nvSpPr>
        <p:spPr>
          <a:xfrm>
            <a:off x="566928" y="2029968"/>
            <a:ext cx="11057839" cy="566928"/>
          </a:xfrm>
          <a:prstGeom prst="roundRect">
            <a:avLst>
              <a:gd name="adj" fmla="val 16129"/>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4" name="Shape 12"/>
          <p:cNvSpPr/>
          <p:nvPr/>
        </p:nvSpPr>
        <p:spPr>
          <a:xfrm>
            <a:off x="768096" y="2157984"/>
            <a:ext cx="310896" cy="310896"/>
          </a:xfrm>
          <a:prstGeom prst="ellipse">
            <a:avLst/>
          </a:prstGeom>
          <a:solidFill>
            <a:srgbClr val="22D3EE"/>
          </a:solidFill>
          <a:ln w="12700">
            <a:solidFill>
              <a:srgbClr val="22D3EE"/>
            </a:solidFill>
            <a:prstDash val="solid"/>
          </a:ln>
        </p:spPr>
      </p:sp>
      <p:sp>
        <p:nvSpPr>
          <p:cNvPr id="15" name="Text 13"/>
          <p:cNvSpPr/>
          <p:nvPr/>
        </p:nvSpPr>
        <p:spPr>
          <a:xfrm>
            <a:off x="768096" y="215798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8</a:t>
            </a:r>
            <a:endParaRPr lang="en-US" sz="1300" dirty="0"/>
          </a:p>
        </p:txBody>
      </p:sp>
      <p:sp>
        <p:nvSpPr>
          <p:cNvPr id="16" name="Text 14"/>
          <p:cNvSpPr/>
          <p:nvPr/>
        </p:nvSpPr>
        <p:spPr>
          <a:xfrm>
            <a:off x="1188720" y="2066544"/>
            <a:ext cx="2011680" cy="493776"/>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Scenario studio</a:t>
            </a:r>
            <a:endParaRPr lang="en-US" sz="1150" dirty="0"/>
          </a:p>
        </p:txBody>
      </p:sp>
      <p:sp>
        <p:nvSpPr>
          <p:cNvPr id="17" name="Text 15"/>
          <p:cNvSpPr/>
          <p:nvPr/>
        </p:nvSpPr>
        <p:spPr>
          <a:xfrm>
            <a:off x="3236976" y="2066544"/>
            <a:ext cx="2697480" cy="493776"/>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Proposes named scenarios beyond the standard three</a:t>
            </a:r>
            <a:endParaRPr lang="en-US" sz="1000" dirty="0"/>
          </a:p>
        </p:txBody>
      </p:sp>
      <p:sp>
        <p:nvSpPr>
          <p:cNvPr id="18" name="Text 16"/>
          <p:cNvSpPr/>
          <p:nvPr/>
        </p:nvSpPr>
        <p:spPr>
          <a:xfrm>
            <a:off x="6236208" y="2066544"/>
            <a:ext cx="2423160" cy="493776"/>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Archetype scenario themes and base-case posture</a:t>
            </a:r>
            <a:endParaRPr lang="en-US" sz="950" dirty="0"/>
          </a:p>
        </p:txBody>
      </p:sp>
      <p:sp>
        <p:nvSpPr>
          <p:cNvPr id="19" name="Text 17"/>
          <p:cNvSpPr/>
          <p:nvPr/>
        </p:nvSpPr>
        <p:spPr>
          <a:xfrm>
            <a:off x="8961120" y="2066544"/>
            <a:ext cx="2468880" cy="493776"/>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Proposes assumptions only — it never produces results</a:t>
            </a:r>
            <a:endParaRPr lang="en-US" sz="950" dirty="0"/>
          </a:p>
        </p:txBody>
      </p:sp>
      <p:sp>
        <p:nvSpPr>
          <p:cNvPr id="20" name="Shape 18"/>
          <p:cNvSpPr/>
          <p:nvPr/>
        </p:nvSpPr>
        <p:spPr>
          <a:xfrm>
            <a:off x="566928" y="2688336"/>
            <a:ext cx="11057839" cy="566928"/>
          </a:xfrm>
          <a:prstGeom prst="roundRect">
            <a:avLst>
              <a:gd name="adj" fmla="val 16129"/>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1" name="Shape 19"/>
          <p:cNvSpPr/>
          <p:nvPr/>
        </p:nvSpPr>
        <p:spPr>
          <a:xfrm>
            <a:off x="768096" y="2816352"/>
            <a:ext cx="310896" cy="310896"/>
          </a:xfrm>
          <a:prstGeom prst="ellipse">
            <a:avLst/>
          </a:prstGeom>
          <a:solidFill>
            <a:srgbClr val="22D3EE"/>
          </a:solidFill>
          <a:ln w="12700">
            <a:solidFill>
              <a:srgbClr val="22D3EE"/>
            </a:solidFill>
            <a:prstDash val="solid"/>
          </a:ln>
        </p:spPr>
      </p:sp>
      <p:sp>
        <p:nvSpPr>
          <p:cNvPr id="22" name="Text 20"/>
          <p:cNvSpPr/>
          <p:nvPr/>
        </p:nvSpPr>
        <p:spPr>
          <a:xfrm>
            <a:off x="768096" y="2816352"/>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9</a:t>
            </a:r>
            <a:endParaRPr lang="en-US" sz="1300" dirty="0"/>
          </a:p>
        </p:txBody>
      </p:sp>
      <p:sp>
        <p:nvSpPr>
          <p:cNvPr id="23" name="Text 21"/>
          <p:cNvSpPr/>
          <p:nvPr/>
        </p:nvSpPr>
        <p:spPr>
          <a:xfrm>
            <a:off x="1188720" y="2724912"/>
            <a:ext cx="2011680" cy="493776"/>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ESG impact</a:t>
            </a:r>
            <a:endParaRPr lang="en-US" sz="1150" dirty="0"/>
          </a:p>
        </p:txBody>
      </p:sp>
      <p:sp>
        <p:nvSpPr>
          <p:cNvPr id="24" name="Text 22"/>
          <p:cNvSpPr/>
          <p:nvPr/>
        </p:nvSpPr>
        <p:spPr>
          <a:xfrm>
            <a:off x="3236976" y="2724912"/>
            <a:ext cx="2697480" cy="493776"/>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Green-financing commentary, or an explicit not-applicable flag</a:t>
            </a:r>
            <a:endParaRPr lang="en-US" sz="1000" dirty="0"/>
          </a:p>
        </p:txBody>
      </p:sp>
      <p:sp>
        <p:nvSpPr>
          <p:cNvPr id="25" name="Text 23"/>
          <p:cNvSpPr/>
          <p:nvPr/>
        </p:nvSpPr>
        <p:spPr>
          <a:xfrm>
            <a:off x="6236208" y="2724912"/>
            <a:ext cx="2423160" cy="493776"/>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Capex composition and archetype relevance</a:t>
            </a:r>
            <a:endParaRPr lang="en-US" sz="950" dirty="0"/>
          </a:p>
        </p:txBody>
      </p:sp>
      <p:sp>
        <p:nvSpPr>
          <p:cNvPr id="26" name="Text 24"/>
          <p:cNvSpPr/>
          <p:nvPr/>
        </p:nvSpPr>
        <p:spPr>
          <a:xfrm>
            <a:off x="8961120" y="2724912"/>
            <a:ext cx="2468880" cy="493776"/>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Not an assurance opinion and no substitute for one</a:t>
            </a:r>
            <a:endParaRPr lang="en-US" sz="950" dirty="0"/>
          </a:p>
        </p:txBody>
      </p:sp>
      <p:sp>
        <p:nvSpPr>
          <p:cNvPr id="27" name="Shape 25"/>
          <p:cNvSpPr/>
          <p:nvPr/>
        </p:nvSpPr>
        <p:spPr>
          <a:xfrm>
            <a:off x="566928" y="3346704"/>
            <a:ext cx="11057839" cy="566928"/>
          </a:xfrm>
          <a:prstGeom prst="roundRect">
            <a:avLst>
              <a:gd name="adj" fmla="val 16129"/>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8" name="Shape 26"/>
          <p:cNvSpPr/>
          <p:nvPr/>
        </p:nvSpPr>
        <p:spPr>
          <a:xfrm>
            <a:off x="768096" y="3474720"/>
            <a:ext cx="310896" cy="310896"/>
          </a:xfrm>
          <a:prstGeom prst="ellipse">
            <a:avLst/>
          </a:prstGeom>
          <a:solidFill>
            <a:srgbClr val="22D3EE"/>
          </a:solidFill>
          <a:ln w="12700">
            <a:solidFill>
              <a:srgbClr val="22D3EE"/>
            </a:solidFill>
            <a:prstDash val="solid"/>
          </a:ln>
        </p:spPr>
      </p:sp>
      <p:sp>
        <p:nvSpPr>
          <p:cNvPr id="29" name="Text 27"/>
          <p:cNvSpPr/>
          <p:nvPr/>
        </p:nvSpPr>
        <p:spPr>
          <a:xfrm>
            <a:off x="768096" y="3474720"/>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10</a:t>
            </a:r>
            <a:endParaRPr lang="en-US" sz="1300" dirty="0"/>
          </a:p>
        </p:txBody>
      </p:sp>
      <p:sp>
        <p:nvSpPr>
          <p:cNvPr id="30" name="Text 28"/>
          <p:cNvSpPr/>
          <p:nvPr/>
        </p:nvSpPr>
        <p:spPr>
          <a:xfrm>
            <a:off x="1188720" y="3383280"/>
            <a:ext cx="2011680" cy="493776"/>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Quote parser</a:t>
            </a:r>
            <a:endParaRPr lang="en-US" sz="1150" dirty="0"/>
          </a:p>
        </p:txBody>
      </p:sp>
      <p:sp>
        <p:nvSpPr>
          <p:cNvPr id="31" name="Text 29"/>
          <p:cNvSpPr/>
          <p:nvPr/>
        </p:nvSpPr>
        <p:spPr>
          <a:xfrm>
            <a:off x="3236976" y="3383280"/>
            <a:ext cx="2697480" cy="493776"/>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Extracts structured capex lines from pasted vendor quotations</a:t>
            </a:r>
            <a:endParaRPr lang="en-US" sz="1000" dirty="0"/>
          </a:p>
        </p:txBody>
      </p:sp>
      <p:sp>
        <p:nvSpPr>
          <p:cNvPr id="32" name="Text 30"/>
          <p:cNvSpPr/>
          <p:nvPr/>
        </p:nvSpPr>
        <p:spPr>
          <a:xfrm>
            <a:off x="6236208" y="3383280"/>
            <a:ext cx="2423160" cy="493776"/>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Raw quotation text, archetype capex categories</a:t>
            </a:r>
            <a:endParaRPr lang="en-US" sz="950" dirty="0"/>
          </a:p>
        </p:txBody>
      </p:sp>
      <p:sp>
        <p:nvSpPr>
          <p:cNvPr id="33" name="Text 31"/>
          <p:cNvSpPr/>
          <p:nvPr/>
        </p:nvSpPr>
        <p:spPr>
          <a:xfrm>
            <a:off x="8961120" y="3383280"/>
            <a:ext cx="2468880" cy="493776"/>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Ambiguous lines returned unparsed rather than guessed</a:t>
            </a:r>
            <a:endParaRPr lang="en-US" sz="950" dirty="0"/>
          </a:p>
        </p:txBody>
      </p:sp>
      <p:sp>
        <p:nvSpPr>
          <p:cNvPr id="34" name="Shape 32"/>
          <p:cNvSpPr/>
          <p:nvPr/>
        </p:nvSpPr>
        <p:spPr>
          <a:xfrm>
            <a:off x="566928" y="4005072"/>
            <a:ext cx="11057839" cy="566928"/>
          </a:xfrm>
          <a:prstGeom prst="roundRect">
            <a:avLst>
              <a:gd name="adj" fmla="val 16129"/>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5" name="Shape 33"/>
          <p:cNvSpPr/>
          <p:nvPr/>
        </p:nvSpPr>
        <p:spPr>
          <a:xfrm>
            <a:off x="768096" y="4133088"/>
            <a:ext cx="310896" cy="310896"/>
          </a:xfrm>
          <a:prstGeom prst="ellipse">
            <a:avLst/>
          </a:prstGeom>
          <a:solidFill>
            <a:srgbClr val="22D3EE"/>
          </a:solidFill>
          <a:ln w="12700">
            <a:solidFill>
              <a:srgbClr val="22D3EE"/>
            </a:solidFill>
            <a:prstDash val="solid"/>
          </a:ln>
        </p:spPr>
      </p:sp>
      <p:sp>
        <p:nvSpPr>
          <p:cNvPr id="36" name="Text 34"/>
          <p:cNvSpPr/>
          <p:nvPr/>
        </p:nvSpPr>
        <p:spPr>
          <a:xfrm>
            <a:off x="768096" y="4133088"/>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11</a:t>
            </a:r>
            <a:endParaRPr lang="en-US" sz="1300" dirty="0"/>
          </a:p>
        </p:txBody>
      </p:sp>
      <p:sp>
        <p:nvSpPr>
          <p:cNvPr id="37" name="Text 35"/>
          <p:cNvSpPr/>
          <p:nvPr/>
        </p:nvSpPr>
        <p:spPr>
          <a:xfrm>
            <a:off x="1188720" y="4041648"/>
            <a:ext cx="2011680" cy="493776"/>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Driver attribution</a:t>
            </a:r>
            <a:endParaRPr lang="en-US" sz="1150" dirty="0"/>
          </a:p>
        </p:txBody>
      </p:sp>
      <p:sp>
        <p:nvSpPr>
          <p:cNvPr id="38" name="Text 36"/>
          <p:cNvSpPr/>
          <p:nvPr/>
        </p:nvSpPr>
        <p:spPr>
          <a:xfrm>
            <a:off x="3236976" y="4041648"/>
            <a:ext cx="2697480" cy="493776"/>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Decomposes an NPV movement into each assumption’s contribution</a:t>
            </a:r>
            <a:endParaRPr lang="en-US" sz="1000" dirty="0"/>
          </a:p>
        </p:txBody>
      </p:sp>
      <p:sp>
        <p:nvSpPr>
          <p:cNvPr id="39" name="Text 37"/>
          <p:cNvSpPr/>
          <p:nvPr/>
        </p:nvSpPr>
        <p:spPr>
          <a:xfrm>
            <a:off x="6236208" y="4041648"/>
            <a:ext cx="2423160" cy="493776"/>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Two assumption sets and the engine output for each</a:t>
            </a:r>
            <a:endParaRPr lang="en-US" sz="950" dirty="0"/>
          </a:p>
        </p:txBody>
      </p:sp>
      <p:sp>
        <p:nvSpPr>
          <p:cNvPr id="40" name="Text 38"/>
          <p:cNvSpPr/>
          <p:nvPr/>
        </p:nvSpPr>
        <p:spPr>
          <a:xfrm>
            <a:off x="8961120" y="4041648"/>
            <a:ext cx="2468880" cy="493776"/>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Attributed shares depend on a fixed, documented substitution order</a:t>
            </a:r>
            <a:endParaRPr lang="en-US" sz="950" dirty="0"/>
          </a:p>
        </p:txBody>
      </p:sp>
      <p:sp>
        <p:nvSpPr>
          <p:cNvPr id="41" name="Shape 39"/>
          <p:cNvSpPr/>
          <p:nvPr/>
        </p:nvSpPr>
        <p:spPr>
          <a:xfrm>
            <a:off x="566928" y="4663440"/>
            <a:ext cx="11057839" cy="566928"/>
          </a:xfrm>
          <a:prstGeom prst="roundRect">
            <a:avLst>
              <a:gd name="adj" fmla="val 16129"/>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42" name="Shape 40"/>
          <p:cNvSpPr/>
          <p:nvPr/>
        </p:nvSpPr>
        <p:spPr>
          <a:xfrm>
            <a:off x="768096" y="4791456"/>
            <a:ext cx="310896" cy="310896"/>
          </a:xfrm>
          <a:prstGeom prst="ellipse">
            <a:avLst/>
          </a:prstGeom>
          <a:solidFill>
            <a:srgbClr val="22D3EE"/>
          </a:solidFill>
          <a:ln w="12700">
            <a:solidFill>
              <a:srgbClr val="22D3EE"/>
            </a:solidFill>
            <a:prstDash val="solid"/>
          </a:ln>
        </p:spPr>
      </p:sp>
      <p:sp>
        <p:nvSpPr>
          <p:cNvPr id="43" name="Text 41"/>
          <p:cNvSpPr/>
          <p:nvPr/>
        </p:nvSpPr>
        <p:spPr>
          <a:xfrm>
            <a:off x="768096" y="4791456"/>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12</a:t>
            </a:r>
            <a:endParaRPr lang="en-US" sz="1300" dirty="0"/>
          </a:p>
        </p:txBody>
      </p:sp>
      <p:sp>
        <p:nvSpPr>
          <p:cNvPr id="44" name="Text 42"/>
          <p:cNvSpPr/>
          <p:nvPr/>
        </p:nvSpPr>
        <p:spPr>
          <a:xfrm>
            <a:off x="1188720" y="4700016"/>
            <a:ext cx="2011680" cy="493776"/>
          </a:xfrm>
          <a:prstGeom prst="rect">
            <a:avLst/>
          </a:prstGeom>
          <a:noFill/>
          <a:ln/>
        </p:spPr>
        <p:txBody>
          <a:bodyPr wrap="square" lIns="0" tIns="0" rIns="0" bIns="0" rtlCol="0" anchor="ctr"/>
          <a:lstStyle/>
          <a:p>
            <a:pPr indent="0" marL="0">
              <a:buNone/>
            </a:pPr>
            <a:r>
              <a:rPr lang="en-US" sz="1150" b="1" dirty="0">
                <a:solidFill>
                  <a:srgbClr val="22D3EE"/>
                </a:solidFill>
                <a:latin typeface="Calibri" pitchFamily="34" charset="0"/>
                <a:ea typeface="Calibri" pitchFamily="34" charset="-122"/>
                <a:cs typeface="Calibri" pitchFamily="34" charset="-120"/>
              </a:rPr>
              <a:t>Voice intent</a:t>
            </a:r>
            <a:endParaRPr lang="en-US" sz="1150" dirty="0"/>
          </a:p>
        </p:txBody>
      </p:sp>
      <p:sp>
        <p:nvSpPr>
          <p:cNvPr id="45" name="Text 43"/>
          <p:cNvSpPr/>
          <p:nvPr/>
        </p:nvSpPr>
        <p:spPr>
          <a:xfrm>
            <a:off x="3236976" y="4700016"/>
            <a:ext cx="2697480" cy="493776"/>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Maps a spoken command to a typed application action</a:t>
            </a:r>
            <a:endParaRPr lang="en-US" sz="1000" dirty="0"/>
          </a:p>
        </p:txBody>
      </p:sp>
      <p:sp>
        <p:nvSpPr>
          <p:cNvPr id="46" name="Text 44"/>
          <p:cNvSpPr/>
          <p:nvPr/>
        </p:nvSpPr>
        <p:spPr>
          <a:xfrm>
            <a:off x="6236208" y="4700016"/>
            <a:ext cx="2423160" cy="493776"/>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Transcribed text plus workspace context</a:t>
            </a:r>
            <a:endParaRPr lang="en-US" sz="950" dirty="0"/>
          </a:p>
        </p:txBody>
      </p:sp>
      <p:sp>
        <p:nvSpPr>
          <p:cNvPr id="47" name="Text 45"/>
          <p:cNvSpPr/>
          <p:nvPr/>
        </p:nvSpPr>
        <p:spPr>
          <a:xfrm>
            <a:off x="8961120" y="4700016"/>
            <a:ext cx="2468880" cy="493776"/>
          </a:xfrm>
          <a:prstGeom prst="rect">
            <a:avLst/>
          </a:prstGeom>
          <a:noFill/>
          <a:ln/>
        </p:spPr>
        <p:txBody>
          <a:bodyPr wrap="square" lIns="0" tIns="0" rIns="0" bIns="0" rtlCol="0" anchor="ctr"/>
          <a:lstStyle/>
          <a:p>
            <a:pPr indent="0" marL="0">
              <a:buNone/>
            </a:pPr>
            <a:r>
              <a:rPr lang="en-US" sz="950" i="1" dirty="0">
                <a:solidFill>
                  <a:srgbClr val="94A3B8"/>
                </a:solidFill>
                <a:latin typeface="Calibri" pitchFamily="34" charset="0"/>
                <a:ea typeface="Calibri" pitchFamily="34" charset="-122"/>
                <a:cs typeface="Calibri" pitchFamily="34" charset="-120"/>
              </a:rPr>
              <a:t>Returns unknown rather than guessing at low confidence</a:t>
            </a:r>
            <a:endParaRPr lang="en-US" sz="950" dirty="0"/>
          </a:p>
        </p:txBody>
      </p:sp>
      <p:sp>
        <p:nvSpPr>
          <p:cNvPr id="48" name="Text 46"/>
          <p:cNvSpPr/>
          <p:nvPr/>
        </p:nvSpPr>
        <p:spPr>
          <a:xfrm>
            <a:off x="1188720" y="1133856"/>
            <a:ext cx="2011680" cy="219456"/>
          </a:xfrm>
          <a:prstGeom prst="rect">
            <a:avLst/>
          </a:prstGeom>
          <a:noFill/>
          <a:ln/>
        </p:spPr>
        <p:txBody>
          <a:bodyPr wrap="square" lIns="0" tIns="0" rIns="0" bIns="0" rtlCol="0" anchor="ctr"/>
          <a:lstStyle/>
          <a:p>
            <a:pPr indent="0" marL="0">
              <a:buNone/>
            </a:pPr>
            <a:r>
              <a:rPr lang="en-US" sz="900" b="1" spc="120" kern="0" dirty="0">
                <a:solidFill>
                  <a:srgbClr val="94A3B8"/>
                </a:solidFill>
                <a:latin typeface="Calibri" pitchFamily="34" charset="0"/>
                <a:ea typeface="Calibri" pitchFamily="34" charset="-122"/>
                <a:cs typeface="Calibri" pitchFamily="34" charset="-120"/>
              </a:rPr>
              <a:t>Capability</a:t>
            </a:r>
            <a:endParaRPr lang="en-US" sz="900" dirty="0"/>
          </a:p>
        </p:txBody>
      </p:sp>
      <p:sp>
        <p:nvSpPr>
          <p:cNvPr id="49" name="Text 47"/>
          <p:cNvSpPr/>
          <p:nvPr/>
        </p:nvSpPr>
        <p:spPr>
          <a:xfrm>
            <a:off x="3236976" y="1133856"/>
            <a:ext cx="2697480" cy="219456"/>
          </a:xfrm>
          <a:prstGeom prst="rect">
            <a:avLst/>
          </a:prstGeom>
          <a:noFill/>
          <a:ln/>
        </p:spPr>
        <p:txBody>
          <a:bodyPr wrap="square" lIns="0" tIns="0" rIns="0" bIns="0" rtlCol="0" anchor="ctr"/>
          <a:lstStyle/>
          <a:p>
            <a:pPr indent="0" marL="0">
              <a:buNone/>
            </a:pPr>
            <a:r>
              <a:rPr lang="en-US" sz="900" b="1" spc="120" kern="0" dirty="0">
                <a:solidFill>
                  <a:srgbClr val="94A3B8"/>
                </a:solidFill>
                <a:latin typeface="Calibri" pitchFamily="34" charset="0"/>
                <a:ea typeface="Calibri" pitchFamily="34" charset="-122"/>
                <a:cs typeface="Calibri" pitchFamily="34" charset="-120"/>
              </a:rPr>
              <a:t>What it does</a:t>
            </a:r>
            <a:endParaRPr lang="en-US" sz="900" dirty="0"/>
          </a:p>
        </p:txBody>
      </p:sp>
      <p:sp>
        <p:nvSpPr>
          <p:cNvPr id="50" name="Text 48"/>
          <p:cNvSpPr/>
          <p:nvPr/>
        </p:nvSpPr>
        <p:spPr>
          <a:xfrm>
            <a:off x="6236208" y="1133856"/>
            <a:ext cx="2423160" cy="219456"/>
          </a:xfrm>
          <a:prstGeom prst="rect">
            <a:avLst/>
          </a:prstGeom>
          <a:noFill/>
          <a:ln/>
        </p:spPr>
        <p:txBody>
          <a:bodyPr wrap="square" lIns="0" tIns="0" rIns="0" bIns="0" rtlCol="0" anchor="ctr"/>
          <a:lstStyle/>
          <a:p>
            <a:pPr indent="0" marL="0">
              <a:buNone/>
            </a:pPr>
            <a:r>
              <a:rPr lang="en-US" sz="900" b="1" spc="120" kern="0" dirty="0">
                <a:solidFill>
                  <a:srgbClr val="94A3B8"/>
                </a:solidFill>
                <a:latin typeface="Calibri" pitchFamily="34" charset="0"/>
                <a:ea typeface="Calibri" pitchFamily="34" charset="-122"/>
                <a:cs typeface="Calibri" pitchFamily="34" charset="-120"/>
              </a:rPr>
              <a:t>Information it uses</a:t>
            </a:r>
            <a:endParaRPr lang="en-US" sz="900" dirty="0"/>
          </a:p>
        </p:txBody>
      </p:sp>
      <p:sp>
        <p:nvSpPr>
          <p:cNvPr id="51" name="Text 49"/>
          <p:cNvSpPr/>
          <p:nvPr/>
        </p:nvSpPr>
        <p:spPr>
          <a:xfrm>
            <a:off x="8961120" y="1133856"/>
            <a:ext cx="2468880" cy="219456"/>
          </a:xfrm>
          <a:prstGeom prst="rect">
            <a:avLst/>
          </a:prstGeom>
          <a:noFill/>
          <a:ln/>
        </p:spPr>
        <p:txBody>
          <a:bodyPr wrap="square" lIns="0" tIns="0" rIns="0" bIns="0" rtlCol="0" anchor="ctr"/>
          <a:lstStyle/>
          <a:p>
            <a:pPr indent="0" marL="0">
              <a:buNone/>
            </a:pPr>
            <a:r>
              <a:rPr lang="en-US" sz="900" b="1" spc="120" kern="0" dirty="0">
                <a:solidFill>
                  <a:srgbClr val="94A3B8"/>
                </a:solidFill>
                <a:latin typeface="Calibri" pitchFamily="34" charset="0"/>
                <a:ea typeface="Calibri" pitchFamily="34" charset="-122"/>
                <a:cs typeface="Calibri" pitchFamily="34" charset="-120"/>
              </a:rPr>
              <a:t>Limitation / risk</a:t>
            </a:r>
            <a:endParaRPr lang="en-US" sz="900" dirty="0"/>
          </a:p>
        </p:txBody>
      </p:sp>
      <p:sp>
        <p:nvSpPr>
          <p:cNvPr id="52" name="Shape 50"/>
          <p:cNvSpPr/>
          <p:nvPr/>
        </p:nvSpPr>
        <p:spPr>
          <a:xfrm>
            <a:off x="566928" y="5431536"/>
            <a:ext cx="11057839" cy="731520"/>
          </a:xfrm>
          <a:prstGeom prst="roundRect">
            <a:avLst>
              <a:gd name="adj" fmla="val 12500"/>
            </a:avLst>
          </a:prstGeom>
          <a:solidFill>
            <a:srgbClr val="0F3B2E"/>
          </a:solidFill>
          <a:ln w="12700">
            <a:solidFill>
              <a:srgbClr val="34D399"/>
            </a:solidFill>
            <a:prstDash val="solid"/>
          </a:ln>
        </p:spPr>
      </p:sp>
      <p:sp>
        <p:nvSpPr>
          <p:cNvPr id="53" name="Text 51"/>
          <p:cNvSpPr/>
          <p:nvPr/>
        </p:nvSpPr>
        <p:spPr>
          <a:xfrm>
            <a:off x="786384" y="5522976"/>
            <a:ext cx="10618927" cy="566928"/>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The governance boundary is architectural, not advisory.  </a:t>
            </a:r>
            <a:pPr indent="0" marL="0">
              <a:buNone/>
            </a:pPr>
            <a:r>
              <a:rPr lang="en-US" sz="1050" dirty="0">
                <a:solidFill>
                  <a:srgbClr val="CADCFC"/>
                </a:solidFill>
                <a:latin typeface="Calibri" pitchFamily="34" charset="0"/>
                <a:ea typeface="Calibri" pitchFamily="34" charset="-122"/>
                <a:cs typeface="Calibri" pitchFamily="34" charset="-120"/>
              </a:rPr>
              <a:t>Every route receives pre-computed figures and is instructed never to recalculate. User text is screened for injection and redacted for personal data; outbound access is restricted to the model provider alone. Remove the API key entirely and the financial results are byte-identical.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LIMITATIONS AND ETHICS</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Where AI is not allowed to go</a:t>
            </a:r>
            <a:endParaRPr lang="en-US" sz="3000" dirty="0"/>
          </a:p>
        </p:txBody>
      </p:sp>
      <p:sp>
        <p:nvSpPr>
          <p:cNvPr id="4" name="Shape 2"/>
          <p:cNvSpPr/>
          <p:nvPr/>
        </p:nvSpPr>
        <p:spPr>
          <a:xfrm>
            <a:off x="566928" y="1261872"/>
            <a:ext cx="5419192" cy="896112"/>
          </a:xfrm>
          <a:prstGeom prst="roundRect">
            <a:avLst>
              <a:gd name="adj" fmla="val 10204"/>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5" name="Shape 3"/>
          <p:cNvSpPr/>
          <p:nvPr/>
        </p:nvSpPr>
        <p:spPr>
          <a:xfrm>
            <a:off x="786384" y="1426464"/>
            <a:ext cx="310896" cy="310896"/>
          </a:xfrm>
          <a:prstGeom prst="ellipse">
            <a:avLst/>
          </a:prstGeom>
          <a:solidFill>
            <a:srgbClr val="22D3EE"/>
          </a:solidFill>
          <a:ln w="12700">
            <a:solidFill>
              <a:srgbClr val="22D3EE"/>
            </a:solidFill>
            <a:prstDash val="solid"/>
          </a:ln>
        </p:spPr>
      </p:sp>
      <p:sp>
        <p:nvSpPr>
          <p:cNvPr id="6" name="Text 4"/>
          <p:cNvSpPr/>
          <p:nvPr/>
        </p:nvSpPr>
        <p:spPr>
          <a:xfrm>
            <a:off x="786384" y="142646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07008" y="1408176"/>
            <a:ext cx="4559656" cy="256032"/>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Accuracy</a:t>
            </a:r>
            <a:endParaRPr lang="en-US" sz="1250" dirty="0"/>
          </a:p>
        </p:txBody>
      </p:sp>
      <p:sp>
        <p:nvSpPr>
          <p:cNvPr id="8" name="Text 6"/>
          <p:cNvSpPr/>
          <p:nvPr/>
        </p:nvSpPr>
        <p:spPr>
          <a:xfrm>
            <a:off x="804672" y="1700784"/>
            <a:ext cx="4943704" cy="4023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AI output is not verifiable the way a formula is — so it is excluded from every calculation</a:t>
            </a:r>
            <a:endParaRPr lang="en-US" sz="1050" dirty="0"/>
          </a:p>
        </p:txBody>
      </p:sp>
      <p:sp>
        <p:nvSpPr>
          <p:cNvPr id="9" name="Shape 7"/>
          <p:cNvSpPr/>
          <p:nvPr/>
        </p:nvSpPr>
        <p:spPr>
          <a:xfrm>
            <a:off x="6205576" y="1261872"/>
            <a:ext cx="5419192" cy="896112"/>
          </a:xfrm>
          <a:prstGeom prst="roundRect">
            <a:avLst>
              <a:gd name="adj" fmla="val 10204"/>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0" name="Shape 8"/>
          <p:cNvSpPr/>
          <p:nvPr/>
        </p:nvSpPr>
        <p:spPr>
          <a:xfrm>
            <a:off x="6425032" y="1426464"/>
            <a:ext cx="310896" cy="310896"/>
          </a:xfrm>
          <a:prstGeom prst="ellipse">
            <a:avLst/>
          </a:prstGeom>
          <a:solidFill>
            <a:srgbClr val="22D3EE"/>
          </a:solidFill>
          <a:ln w="12700">
            <a:solidFill>
              <a:srgbClr val="22D3EE"/>
            </a:solidFill>
            <a:prstDash val="solid"/>
          </a:ln>
        </p:spPr>
      </p:sp>
      <p:sp>
        <p:nvSpPr>
          <p:cNvPr id="11" name="Text 9"/>
          <p:cNvSpPr/>
          <p:nvPr/>
        </p:nvSpPr>
        <p:spPr>
          <a:xfrm>
            <a:off x="6425032" y="142646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845656" y="1408176"/>
            <a:ext cx="4559656" cy="256032"/>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Incorrect data</a:t>
            </a:r>
            <a:endParaRPr lang="en-US" sz="1250" dirty="0"/>
          </a:p>
        </p:txBody>
      </p:sp>
      <p:sp>
        <p:nvSpPr>
          <p:cNvPr id="13" name="Text 11"/>
          <p:cNvSpPr/>
          <p:nvPr/>
        </p:nvSpPr>
        <p:spPr>
          <a:xfrm>
            <a:off x="6443320" y="1700784"/>
            <a:ext cx="4943704" cy="4023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 confident narrative on a wrong input is worse than none, because fluency reads as authority</a:t>
            </a:r>
            <a:endParaRPr lang="en-US" sz="1050" dirty="0"/>
          </a:p>
        </p:txBody>
      </p:sp>
      <p:sp>
        <p:nvSpPr>
          <p:cNvPr id="14" name="Shape 12"/>
          <p:cNvSpPr/>
          <p:nvPr/>
        </p:nvSpPr>
        <p:spPr>
          <a:xfrm>
            <a:off x="566928" y="2267712"/>
            <a:ext cx="5419192" cy="896112"/>
          </a:xfrm>
          <a:prstGeom prst="roundRect">
            <a:avLst>
              <a:gd name="adj" fmla="val 10204"/>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5" name="Shape 13"/>
          <p:cNvSpPr/>
          <p:nvPr/>
        </p:nvSpPr>
        <p:spPr>
          <a:xfrm>
            <a:off x="786384" y="2432304"/>
            <a:ext cx="310896" cy="310896"/>
          </a:xfrm>
          <a:prstGeom prst="ellipse">
            <a:avLst/>
          </a:prstGeom>
          <a:solidFill>
            <a:srgbClr val="22D3EE"/>
          </a:solidFill>
          <a:ln w="12700">
            <a:solidFill>
              <a:srgbClr val="22D3EE"/>
            </a:solidFill>
            <a:prstDash val="solid"/>
          </a:ln>
        </p:spPr>
      </p:sp>
      <p:sp>
        <p:nvSpPr>
          <p:cNvPr id="16" name="Text 14"/>
          <p:cNvSpPr/>
          <p:nvPr/>
        </p:nvSpPr>
        <p:spPr>
          <a:xfrm>
            <a:off x="786384" y="243230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207008" y="2414016"/>
            <a:ext cx="4559656" cy="256032"/>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Hallucination</a:t>
            </a:r>
            <a:endParaRPr lang="en-US" sz="1250" dirty="0"/>
          </a:p>
        </p:txBody>
      </p:sp>
      <p:sp>
        <p:nvSpPr>
          <p:cNvPr id="18" name="Text 16"/>
          <p:cNvSpPr/>
          <p:nvPr/>
        </p:nvSpPr>
        <p:spPr>
          <a:xfrm>
            <a:off x="804672" y="2706624"/>
            <a:ext cx="4943704" cy="4023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Only validated output enters prompts; the model is instructed never to compute; user text is delimited against injection</a:t>
            </a:r>
            <a:endParaRPr lang="en-US" sz="1050" dirty="0"/>
          </a:p>
        </p:txBody>
      </p:sp>
      <p:sp>
        <p:nvSpPr>
          <p:cNvPr id="19" name="Shape 17"/>
          <p:cNvSpPr/>
          <p:nvPr/>
        </p:nvSpPr>
        <p:spPr>
          <a:xfrm>
            <a:off x="6205576" y="2267712"/>
            <a:ext cx="5419192" cy="896112"/>
          </a:xfrm>
          <a:prstGeom prst="roundRect">
            <a:avLst>
              <a:gd name="adj" fmla="val 10204"/>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0" name="Shape 18"/>
          <p:cNvSpPr/>
          <p:nvPr/>
        </p:nvSpPr>
        <p:spPr>
          <a:xfrm>
            <a:off x="6425032" y="2432304"/>
            <a:ext cx="310896" cy="310896"/>
          </a:xfrm>
          <a:prstGeom prst="ellipse">
            <a:avLst/>
          </a:prstGeom>
          <a:solidFill>
            <a:srgbClr val="22D3EE"/>
          </a:solidFill>
          <a:ln w="12700">
            <a:solidFill>
              <a:srgbClr val="22D3EE"/>
            </a:solidFill>
            <a:prstDash val="solid"/>
          </a:ln>
        </p:spPr>
      </p:sp>
      <p:sp>
        <p:nvSpPr>
          <p:cNvPr id="21" name="Text 19"/>
          <p:cNvSpPr/>
          <p:nvPr/>
        </p:nvSpPr>
        <p:spPr>
          <a:xfrm>
            <a:off x="6425032" y="243230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845656" y="2414016"/>
            <a:ext cx="4559656" cy="256032"/>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Confidentiality</a:t>
            </a:r>
            <a:endParaRPr lang="en-US" sz="1250" dirty="0"/>
          </a:p>
        </p:txBody>
      </p:sp>
      <p:sp>
        <p:nvSpPr>
          <p:cNvPr id="23" name="Text 21"/>
          <p:cNvSpPr/>
          <p:nvPr/>
        </p:nvSpPr>
        <p:spPr>
          <a:xfrm>
            <a:off x="6443320" y="2706624"/>
            <a:ext cx="4943704" cy="4023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No personal or customer data is transmitted; credentials stay server-side in route handlers</a:t>
            </a:r>
            <a:endParaRPr lang="en-US" sz="1050" dirty="0"/>
          </a:p>
        </p:txBody>
      </p:sp>
      <p:sp>
        <p:nvSpPr>
          <p:cNvPr id="24" name="Shape 22"/>
          <p:cNvSpPr/>
          <p:nvPr/>
        </p:nvSpPr>
        <p:spPr>
          <a:xfrm>
            <a:off x="566928" y="3273552"/>
            <a:ext cx="5419192" cy="896112"/>
          </a:xfrm>
          <a:prstGeom prst="roundRect">
            <a:avLst>
              <a:gd name="adj" fmla="val 10204"/>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5" name="Shape 23"/>
          <p:cNvSpPr/>
          <p:nvPr/>
        </p:nvSpPr>
        <p:spPr>
          <a:xfrm>
            <a:off x="786384" y="3438144"/>
            <a:ext cx="310896" cy="310896"/>
          </a:xfrm>
          <a:prstGeom prst="ellipse">
            <a:avLst/>
          </a:prstGeom>
          <a:solidFill>
            <a:srgbClr val="22D3EE"/>
          </a:solidFill>
          <a:ln w="12700">
            <a:solidFill>
              <a:srgbClr val="22D3EE"/>
            </a:solidFill>
            <a:prstDash val="solid"/>
          </a:ln>
        </p:spPr>
      </p:sp>
      <p:sp>
        <p:nvSpPr>
          <p:cNvPr id="26" name="Text 24"/>
          <p:cNvSpPr/>
          <p:nvPr/>
        </p:nvSpPr>
        <p:spPr>
          <a:xfrm>
            <a:off x="786384" y="343814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207008" y="3419856"/>
            <a:ext cx="4559656" cy="256032"/>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Bias</a:t>
            </a:r>
            <a:endParaRPr lang="en-US" sz="1250" dirty="0"/>
          </a:p>
        </p:txBody>
      </p:sp>
      <p:sp>
        <p:nvSpPr>
          <p:cNvPr id="28" name="Text 26"/>
          <p:cNvSpPr/>
          <p:nvPr/>
        </p:nvSpPr>
        <p:spPr>
          <a:xfrm>
            <a:off x="804672" y="3712464"/>
            <a:ext cx="4943704" cy="4023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Forecasts inherit the optimism of whoever set them — the pessimistic case, risk panel and board debate are counterweights</a:t>
            </a:r>
            <a:endParaRPr lang="en-US" sz="1050" dirty="0"/>
          </a:p>
        </p:txBody>
      </p:sp>
      <p:sp>
        <p:nvSpPr>
          <p:cNvPr id="29" name="Shape 27"/>
          <p:cNvSpPr/>
          <p:nvPr/>
        </p:nvSpPr>
        <p:spPr>
          <a:xfrm>
            <a:off x="6205576" y="3273552"/>
            <a:ext cx="5419192" cy="896112"/>
          </a:xfrm>
          <a:prstGeom prst="roundRect">
            <a:avLst>
              <a:gd name="adj" fmla="val 10204"/>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30" name="Shape 28"/>
          <p:cNvSpPr/>
          <p:nvPr/>
        </p:nvSpPr>
        <p:spPr>
          <a:xfrm>
            <a:off x="6425032" y="3438144"/>
            <a:ext cx="310896" cy="310896"/>
          </a:xfrm>
          <a:prstGeom prst="ellipse">
            <a:avLst/>
          </a:prstGeom>
          <a:solidFill>
            <a:srgbClr val="22D3EE"/>
          </a:solidFill>
          <a:ln w="12700">
            <a:solidFill>
              <a:srgbClr val="22D3EE"/>
            </a:solidFill>
            <a:prstDash val="solid"/>
          </a:ln>
        </p:spPr>
      </p:sp>
      <p:sp>
        <p:nvSpPr>
          <p:cNvPr id="31" name="Text 29"/>
          <p:cNvSpPr/>
          <p:nvPr/>
        </p:nvSpPr>
        <p:spPr>
          <a:xfrm>
            <a:off x="6425032" y="3438144"/>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6845656" y="3419856"/>
            <a:ext cx="4559656" cy="256032"/>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Human review</a:t>
            </a:r>
            <a:endParaRPr lang="en-US" sz="1250" dirty="0"/>
          </a:p>
        </p:txBody>
      </p:sp>
      <p:sp>
        <p:nvSpPr>
          <p:cNvPr id="33" name="Text 31"/>
          <p:cNvSpPr/>
          <p:nvPr/>
        </p:nvSpPr>
        <p:spPr>
          <a:xfrm>
            <a:off x="6443320" y="3712464"/>
            <a:ext cx="4943704" cy="402336"/>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Every response is labelled advisory, carries a provenance badge, and requires sign-off</a:t>
            </a:r>
            <a:endParaRPr lang="en-US" sz="1050" dirty="0"/>
          </a:p>
        </p:txBody>
      </p:sp>
      <p:sp>
        <p:nvSpPr>
          <p:cNvPr id="34" name="Shape 32"/>
          <p:cNvSpPr/>
          <p:nvPr/>
        </p:nvSpPr>
        <p:spPr>
          <a:xfrm>
            <a:off x="566928" y="4315968"/>
            <a:ext cx="11057839" cy="914400"/>
          </a:xfrm>
          <a:prstGeom prst="roundRect">
            <a:avLst>
              <a:gd name="adj" fmla="val 10000"/>
            </a:avLst>
          </a:prstGeom>
          <a:solidFill>
            <a:srgbClr val="3B2E0C"/>
          </a:solidFill>
          <a:ln w="19050">
            <a:solidFill>
              <a:srgbClr val="FBBF24"/>
            </a:solidFill>
            <a:prstDash val="solid"/>
          </a:ln>
        </p:spPr>
      </p:sp>
      <p:sp>
        <p:nvSpPr>
          <p:cNvPr id="35" name="Text 33"/>
          <p:cNvSpPr/>
          <p:nvPr/>
        </p:nvSpPr>
        <p:spPr>
          <a:xfrm>
            <a:off x="841248" y="4407408"/>
            <a:ext cx="10509199" cy="731520"/>
          </a:xfrm>
          <a:prstGeom prst="rect">
            <a:avLst/>
          </a:prstGeom>
          <a:noFill/>
          <a:ln/>
        </p:spPr>
        <p:txBody>
          <a:bodyPr wrap="square" lIns="0" tIns="0" rIns="0" bIns="0" rtlCol="0" anchor="ctr"/>
          <a:lstStyle/>
          <a:p>
            <a:pPr indent="0" marL="0">
              <a:buNone/>
            </a:pPr>
            <a:r>
              <a:rPr lang="en-US" sz="1150" b="1" dirty="0">
                <a:solidFill>
                  <a:srgbClr val="FBBF24"/>
                </a:solidFill>
                <a:latin typeface="Calibri" pitchFamily="34" charset="0"/>
                <a:ea typeface="Calibri" pitchFamily="34" charset="-122"/>
                <a:cs typeface="Calibri" pitchFamily="34" charset="-120"/>
              </a:rPr>
              <a:t>We found one of these in our own build.  </a:t>
            </a:r>
            <a:pPr indent="0" marL="0">
              <a:buNone/>
            </a:pPr>
            <a:r>
              <a:rPr lang="en-US" sz="1150" dirty="0">
                <a:solidFill>
                  <a:srgbClr val="CADCFC"/>
                </a:solidFill>
                <a:latin typeface="Calibri" pitchFamily="34" charset="0"/>
                <a:ea typeface="Calibri" pitchFamily="34" charset="-122"/>
                <a:cs typeface="Calibri" pitchFamily="34" charset="-120"/>
              </a:rPr>
              <a:t>The macro panel once prompted the model as a real-time data ingestion agent and published the output as observed market data. Nothing was ever fetched — every rate, tariff and lease price shown to the committee had been generated. It now serves hand-transcribed values with citations, flagged not live.</a:t>
            </a:r>
            <a:endParaRPr lang="en-US" sz="1150" dirty="0"/>
          </a:p>
        </p:txBody>
      </p:sp>
      <p:sp>
        <p:nvSpPr>
          <p:cNvPr id="36" name="Shape 34"/>
          <p:cNvSpPr/>
          <p:nvPr/>
        </p:nvSpPr>
        <p:spPr>
          <a:xfrm>
            <a:off x="566928" y="5358384"/>
            <a:ext cx="11057839" cy="749808"/>
          </a:xfrm>
          <a:prstGeom prst="roundRect">
            <a:avLst>
              <a:gd name="adj" fmla="val 12195"/>
            </a:avLst>
          </a:prstGeom>
          <a:solidFill>
            <a:srgbClr val="0F2740"/>
          </a:solidFill>
          <a:ln w="19050">
            <a:solidFill>
              <a:srgbClr val="22D3EE"/>
            </a:solidFill>
            <a:prstDash val="solid"/>
          </a:ln>
        </p:spPr>
      </p:sp>
      <p:sp>
        <p:nvSpPr>
          <p:cNvPr id="37" name="Text 35"/>
          <p:cNvSpPr/>
          <p:nvPr/>
        </p:nvSpPr>
        <p:spPr>
          <a:xfrm>
            <a:off x="877824" y="5449824"/>
            <a:ext cx="10436047" cy="566928"/>
          </a:xfrm>
          <a:prstGeom prst="rect">
            <a:avLst/>
          </a:prstGeom>
          <a:noFill/>
          <a:ln/>
        </p:spPr>
        <p:txBody>
          <a:bodyPr wrap="square" lIns="0" tIns="0" rIns="0" bIns="0" rtlCol="0" anchor="ctr"/>
          <a:lstStyle/>
          <a:p>
            <a:pPr indent="0" marL="0">
              <a:buNone/>
            </a:pPr>
            <a:r>
              <a:rPr lang="en-US" sz="1250" b="1" dirty="0">
                <a:solidFill>
                  <a:srgbClr val="22D3EE"/>
                </a:solidFill>
                <a:latin typeface="Calibri" pitchFamily="34" charset="0"/>
                <a:ea typeface="Calibri" pitchFamily="34" charset="-122"/>
                <a:cs typeface="Calibri" pitchFamily="34" charset="-120"/>
              </a:rPr>
              <a:t>Responsibility.  </a:t>
            </a:r>
            <a:pPr indent="0" marL="0">
              <a:buNone/>
            </a:pPr>
            <a:r>
              <a:rPr lang="en-US" sz="1250" dirty="0">
                <a:solidFill>
                  <a:srgbClr val="F8FAFC"/>
                </a:solidFill>
                <a:latin typeface="Calibri" pitchFamily="34" charset="0"/>
                <a:ea typeface="Calibri" pitchFamily="34" charset="-122"/>
                <a:cs typeface="Calibri" pitchFamily="34" charset="-120"/>
              </a:rPr>
              <a:t>Final responsibility for this investment decision rests with the Chief Financial Officer and the Capital Expenditure Committee. It does not rest with the AI system, and no output here should be read as transferring it.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A2E"/>
        </a:solidFill>
      </p:bgPr>
    </p:bg>
    <p:spTree>
      <p:nvGrpSpPr>
        <p:cNvPr id="1" name=""/>
        <p:cNvGrpSpPr/>
        <p:nvPr/>
      </p:nvGrpSpPr>
      <p:grpSpPr>
        <a:xfrm>
          <a:off x="0" y="0"/>
          <a:ext cx="0" cy="0"/>
          <a:chOff x="0" y="0"/>
          <a:chExt cx="0" cy="0"/>
        </a:xfrm>
      </p:grpSpPr>
      <p:sp>
        <p:nvSpPr>
          <p:cNvPr id="2" name="Text 0"/>
          <p:cNvSpPr/>
          <p:nvPr/>
        </p:nvSpPr>
        <p:spPr>
          <a:xfrm>
            <a:off x="566928" y="310896"/>
            <a:ext cx="8680399" cy="237744"/>
          </a:xfrm>
          <a:prstGeom prst="rect">
            <a:avLst/>
          </a:prstGeom>
          <a:noFill/>
          <a:ln/>
        </p:spPr>
        <p:txBody>
          <a:bodyPr wrap="square" lIns="0" tIns="0" rIns="0" bIns="0" rtlCol="0" anchor="ctr"/>
          <a:lstStyle/>
          <a:p>
            <a:pPr indent="0" marL="0">
              <a:buNone/>
            </a:pPr>
            <a:r>
              <a:rPr lang="en-US" sz="1100" b="1" spc="200" kern="0" dirty="0">
                <a:solidFill>
                  <a:srgbClr val="22D3EE"/>
                </a:solidFill>
                <a:latin typeface="Calibri" pitchFamily="34" charset="0"/>
                <a:ea typeface="Calibri" pitchFamily="34" charset="-122"/>
                <a:cs typeface="Calibri" pitchFamily="34" charset="-120"/>
              </a:rPr>
              <a:t>THE RECOMMENDATION</a:t>
            </a:r>
            <a:endParaRPr lang="en-US" sz="1100" dirty="0"/>
          </a:p>
        </p:txBody>
      </p:sp>
      <p:sp>
        <p:nvSpPr>
          <p:cNvPr id="3" name="Text 1"/>
          <p:cNvSpPr/>
          <p:nvPr/>
        </p:nvSpPr>
        <p:spPr>
          <a:xfrm>
            <a:off x="566928" y="548640"/>
            <a:ext cx="8680399" cy="566928"/>
          </a:xfrm>
          <a:prstGeom prst="rect">
            <a:avLst/>
          </a:prstGeom>
          <a:noFill/>
          <a:ln/>
        </p:spPr>
        <p:txBody>
          <a:bodyPr wrap="square" lIns="0" tIns="0" rIns="0" bIns="0" rtlCol="0" anchor="ctr"/>
          <a:lstStyle/>
          <a:p>
            <a:pPr indent="0" marL="0">
              <a:buNone/>
            </a:pPr>
            <a:r>
              <a:rPr lang="en-US" sz="3000" b="1" dirty="0">
                <a:solidFill>
                  <a:srgbClr val="F8FAFC"/>
                </a:solidFill>
                <a:latin typeface="Cambria" pitchFamily="34" charset="0"/>
                <a:ea typeface="Cambria" pitchFamily="34" charset="-122"/>
                <a:cs typeface="Cambria" pitchFamily="34" charset="-120"/>
              </a:rPr>
              <a:t>Approve — and gate the money on evidence</a:t>
            </a:r>
            <a:endParaRPr lang="en-US" sz="3000" dirty="0"/>
          </a:p>
        </p:txBody>
      </p:sp>
      <p:sp>
        <p:nvSpPr>
          <p:cNvPr id="4" name="Shape 2"/>
          <p:cNvSpPr/>
          <p:nvPr/>
        </p:nvSpPr>
        <p:spPr>
          <a:xfrm>
            <a:off x="9475927" y="384048"/>
            <a:ext cx="2148840" cy="384048"/>
          </a:xfrm>
          <a:prstGeom prst="roundRect">
            <a:avLst>
              <a:gd name="adj" fmla="val 50000"/>
            </a:avLst>
          </a:prstGeom>
          <a:solidFill>
            <a:srgbClr val="13314E"/>
          </a:solidFill>
          <a:ln w="12700">
            <a:solidFill>
              <a:srgbClr val="22D3EE"/>
            </a:solidFill>
            <a:prstDash val="solid"/>
          </a:ln>
        </p:spPr>
      </p:sp>
      <p:sp>
        <p:nvSpPr>
          <p:cNvPr id="5" name="Text 3"/>
          <p:cNvSpPr/>
          <p:nvPr/>
        </p:nvSpPr>
        <p:spPr>
          <a:xfrm>
            <a:off x="9475927" y="384048"/>
            <a:ext cx="2148840" cy="384048"/>
          </a:xfrm>
          <a:prstGeom prst="rect">
            <a:avLst/>
          </a:prstGeom>
          <a:noFill/>
          <a:ln/>
        </p:spPr>
        <p:txBody>
          <a:bodyPr wrap="square" lIns="0" tIns="0" rIns="0" bIns="0" rtlCol="0" anchor="ctr"/>
          <a:lstStyle/>
          <a:p>
            <a:pPr algn="ctr" indent="0" marL="0">
              <a:buNone/>
            </a:pPr>
            <a:r>
              <a:rPr lang="en-US" sz="1150" b="1" dirty="0">
                <a:solidFill>
                  <a:srgbClr val="22D3EE"/>
                </a:solidFill>
                <a:latin typeface="Calibri" pitchFamily="34" charset="0"/>
                <a:ea typeface="Calibri" pitchFamily="34" charset="-122"/>
                <a:cs typeface="Calibri" pitchFamily="34" charset="-120"/>
              </a:rPr>
              <a:t>QUESTION 5</a:t>
            </a:r>
            <a:endParaRPr lang="en-US" sz="1150" dirty="0"/>
          </a:p>
        </p:txBody>
      </p:sp>
      <p:sp>
        <p:nvSpPr>
          <p:cNvPr id="6" name="Shape 4"/>
          <p:cNvSpPr/>
          <p:nvPr/>
        </p:nvSpPr>
        <p:spPr>
          <a:xfrm>
            <a:off x="566928" y="1280160"/>
            <a:ext cx="11057839" cy="969264"/>
          </a:xfrm>
          <a:prstGeom prst="roundRect">
            <a:avLst>
              <a:gd name="adj" fmla="val 11321"/>
            </a:avLst>
          </a:prstGeom>
          <a:solidFill>
            <a:srgbClr val="0F3B2E"/>
          </a:solidFill>
          <a:ln w="19050">
            <a:solidFill>
              <a:srgbClr val="34D399"/>
            </a:solidFill>
            <a:prstDash val="solid"/>
          </a:ln>
        </p:spPr>
      </p:sp>
      <p:sp>
        <p:nvSpPr>
          <p:cNvPr id="7" name="Text 5"/>
          <p:cNvSpPr/>
          <p:nvPr/>
        </p:nvSpPr>
        <p:spPr>
          <a:xfrm>
            <a:off x="896112" y="1389888"/>
            <a:ext cx="2377440" cy="749808"/>
          </a:xfrm>
          <a:prstGeom prst="rect">
            <a:avLst/>
          </a:prstGeom>
          <a:noFill/>
          <a:ln/>
        </p:spPr>
        <p:txBody>
          <a:bodyPr wrap="square" lIns="0" tIns="0" rIns="0" bIns="0" rtlCol="0" anchor="ctr"/>
          <a:lstStyle/>
          <a:p>
            <a:pPr indent="0" marL="0">
              <a:buNone/>
            </a:pPr>
            <a:r>
              <a:rPr lang="en-US" sz="3000" b="1" dirty="0">
                <a:solidFill>
                  <a:srgbClr val="34D399"/>
                </a:solidFill>
                <a:latin typeface="Cambria" pitchFamily="34" charset="0"/>
                <a:ea typeface="Cambria" pitchFamily="34" charset="-122"/>
                <a:cs typeface="Cambria" pitchFamily="34" charset="-120"/>
              </a:rPr>
              <a:t>APPROVE</a:t>
            </a:r>
            <a:endParaRPr lang="en-US" sz="3000" dirty="0"/>
          </a:p>
        </p:txBody>
      </p:sp>
      <p:sp>
        <p:nvSpPr>
          <p:cNvPr id="8" name="Text 6"/>
          <p:cNvSpPr/>
          <p:nvPr/>
        </p:nvSpPr>
        <p:spPr>
          <a:xfrm>
            <a:off x="3364992" y="1389888"/>
            <a:ext cx="7930591" cy="749808"/>
          </a:xfrm>
          <a:prstGeom prst="rect">
            <a:avLst/>
          </a:prstGeom>
          <a:noFill/>
          <a:ln/>
        </p:spPr>
        <p:txBody>
          <a:bodyPr wrap="square" lIns="0" tIns="0" rIns="0" bIns="0" rtlCol="0" anchor="ctr"/>
          <a:lstStyle/>
          <a:p>
            <a:pPr indent="0" marL="0">
              <a:buNone/>
            </a:pPr>
            <a:r>
              <a:rPr lang="en-US" sz="1250" dirty="0">
                <a:solidFill>
                  <a:srgbClr val="F8FAFC"/>
                </a:solidFill>
                <a:latin typeface="Calibri" pitchFamily="34" charset="0"/>
                <a:ea typeface="Calibri" pitchFamily="34" charset="-122"/>
                <a:cs typeface="Calibri" pitchFamily="34" charset="-120"/>
              </a:rPr>
              <a:t>AED 12.08M net present value  ·  26.30% IRR against an 11.50% hurdle  ·  profitability index 1.50  ·  payback inside four years  ·  all five decision rules agree  ·  expected value across weighted scenarios AED 9.56M</a:t>
            </a:r>
            <a:endParaRPr lang="en-US" sz="1250" dirty="0"/>
          </a:p>
        </p:txBody>
      </p:sp>
      <p:sp>
        <p:nvSpPr>
          <p:cNvPr id="9" name="Shape 7"/>
          <p:cNvSpPr/>
          <p:nvPr/>
        </p:nvSpPr>
        <p:spPr>
          <a:xfrm>
            <a:off x="566928" y="2432304"/>
            <a:ext cx="5419192" cy="1700784"/>
          </a:xfrm>
          <a:prstGeom prst="roundRect">
            <a:avLst>
              <a:gd name="adj" fmla="val 5376"/>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0" name="Shape 8"/>
          <p:cNvSpPr/>
          <p:nvPr/>
        </p:nvSpPr>
        <p:spPr>
          <a:xfrm>
            <a:off x="804672" y="2633472"/>
            <a:ext cx="310896" cy="310896"/>
          </a:xfrm>
          <a:prstGeom prst="ellipse">
            <a:avLst/>
          </a:prstGeom>
          <a:solidFill>
            <a:srgbClr val="22D3EE"/>
          </a:solidFill>
          <a:ln w="12700">
            <a:solidFill>
              <a:srgbClr val="22D3EE"/>
            </a:solidFill>
            <a:prstDash val="solid"/>
          </a:ln>
        </p:spPr>
      </p:sp>
      <p:sp>
        <p:nvSpPr>
          <p:cNvPr id="11" name="Text 9"/>
          <p:cNvSpPr/>
          <p:nvPr/>
        </p:nvSpPr>
        <p:spPr>
          <a:xfrm>
            <a:off x="804672" y="2633472"/>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25296" y="2615184"/>
            <a:ext cx="4541368" cy="237744"/>
          </a:xfrm>
          <a:prstGeom prst="rect">
            <a:avLst/>
          </a:prstGeom>
          <a:noFill/>
          <a:ln/>
        </p:spPr>
        <p:txBody>
          <a:bodyPr wrap="square" lIns="0" tIns="0" rIns="0" bIns="0" rtlCol="0" anchor="ctr"/>
          <a:lstStyle/>
          <a:p>
            <a:pPr indent="0" marL="0">
              <a:buNone/>
            </a:pPr>
            <a:r>
              <a:rPr lang="en-US" sz="950" b="1" spc="160" kern="0" dirty="0">
                <a:solidFill>
                  <a:srgbClr val="22D3EE"/>
                </a:solidFill>
                <a:latin typeface="Calibri" pitchFamily="34" charset="0"/>
                <a:ea typeface="Calibri" pitchFamily="34" charset="-122"/>
                <a:cs typeface="Calibri" pitchFamily="34" charset="-120"/>
              </a:rPr>
              <a:t>CONDITION 1</a:t>
            </a:r>
            <a:endParaRPr lang="en-US" sz="950" dirty="0"/>
          </a:p>
        </p:txBody>
      </p:sp>
      <p:sp>
        <p:nvSpPr>
          <p:cNvPr id="13" name="Text 11"/>
          <p:cNvSpPr/>
          <p:nvPr/>
        </p:nvSpPr>
        <p:spPr>
          <a:xfrm>
            <a:off x="1225296" y="2834640"/>
            <a:ext cx="4541368" cy="310896"/>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Release capital against measured savings, not the calendar</a:t>
            </a:r>
            <a:endParaRPr lang="en-US" sz="1300" dirty="0"/>
          </a:p>
        </p:txBody>
      </p:sp>
      <p:sp>
        <p:nvSpPr>
          <p:cNvPr id="14" name="Text 12"/>
          <p:cNvSpPr/>
          <p:nvPr/>
        </p:nvSpPr>
        <p:spPr>
          <a:xfrm>
            <a:off x="822960" y="3218688"/>
            <a:ext cx="4907128" cy="8229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Benefit realisation swings NPV by AED 16.67M — twice the next driver and more than the project’s whole base-case value. Phase 1 of AED 14.0M releases now; the remaining AED 10.0M releases only when Year-1 savings are evidenced.</a:t>
            </a:r>
            <a:endParaRPr lang="en-US" sz="1100" dirty="0"/>
          </a:p>
        </p:txBody>
      </p:sp>
      <p:sp>
        <p:nvSpPr>
          <p:cNvPr id="15" name="Shape 13"/>
          <p:cNvSpPr/>
          <p:nvPr/>
        </p:nvSpPr>
        <p:spPr>
          <a:xfrm>
            <a:off x="6205576" y="2432304"/>
            <a:ext cx="5419192" cy="1700784"/>
          </a:xfrm>
          <a:prstGeom prst="roundRect">
            <a:avLst>
              <a:gd name="adj" fmla="val 5376"/>
            </a:avLst>
          </a:prstGeom>
          <a:solidFill>
            <a:srgbClr val="13314E"/>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16" name="Shape 14"/>
          <p:cNvSpPr/>
          <p:nvPr/>
        </p:nvSpPr>
        <p:spPr>
          <a:xfrm>
            <a:off x="6443320" y="2633472"/>
            <a:ext cx="310896" cy="310896"/>
          </a:xfrm>
          <a:prstGeom prst="ellipse">
            <a:avLst/>
          </a:prstGeom>
          <a:solidFill>
            <a:srgbClr val="22D3EE"/>
          </a:solidFill>
          <a:ln w="12700">
            <a:solidFill>
              <a:srgbClr val="22D3EE"/>
            </a:solidFill>
            <a:prstDash val="solid"/>
          </a:ln>
        </p:spPr>
      </p:sp>
      <p:sp>
        <p:nvSpPr>
          <p:cNvPr id="17" name="Text 15"/>
          <p:cNvSpPr/>
          <p:nvPr/>
        </p:nvSpPr>
        <p:spPr>
          <a:xfrm>
            <a:off x="6443320" y="2633472"/>
            <a:ext cx="310896" cy="310896"/>
          </a:xfrm>
          <a:prstGeom prst="rect">
            <a:avLst/>
          </a:prstGeom>
          <a:noFill/>
          <a:ln/>
        </p:spPr>
        <p:txBody>
          <a:bodyPr wrap="square" lIns="0" tIns="0" rIns="0" bIns="0" rtlCol="0" anchor="ctr"/>
          <a:lstStyle/>
          <a:p>
            <a:pPr algn="ctr" indent="0" marL="0">
              <a:buNone/>
            </a:pPr>
            <a:r>
              <a:rPr lang="en-US" sz="1300" b="1" dirty="0">
                <a:solidFill>
                  <a:srgbClr val="0B1A2E"/>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6863944" y="2615184"/>
            <a:ext cx="4541368" cy="237744"/>
          </a:xfrm>
          <a:prstGeom prst="rect">
            <a:avLst/>
          </a:prstGeom>
          <a:noFill/>
          <a:ln/>
        </p:spPr>
        <p:txBody>
          <a:bodyPr wrap="square" lIns="0" tIns="0" rIns="0" bIns="0" rtlCol="0" anchor="ctr"/>
          <a:lstStyle/>
          <a:p>
            <a:pPr indent="0" marL="0">
              <a:buNone/>
            </a:pPr>
            <a:r>
              <a:rPr lang="en-US" sz="950" b="1" spc="160" kern="0" dirty="0">
                <a:solidFill>
                  <a:srgbClr val="22D3EE"/>
                </a:solidFill>
                <a:latin typeface="Calibri" pitchFamily="34" charset="0"/>
                <a:ea typeface="Calibri" pitchFamily="34" charset="-122"/>
                <a:cs typeface="Calibri" pitchFamily="34" charset="-120"/>
              </a:rPr>
              <a:t>CONDITION 2</a:t>
            </a:r>
            <a:endParaRPr lang="en-US" sz="950" dirty="0"/>
          </a:p>
        </p:txBody>
      </p:sp>
      <p:sp>
        <p:nvSpPr>
          <p:cNvPr id="19" name="Text 17"/>
          <p:cNvSpPr/>
          <p:nvPr/>
        </p:nvSpPr>
        <p:spPr>
          <a:xfrm>
            <a:off x="6863944" y="2834640"/>
            <a:ext cx="4541368" cy="310896"/>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Require a vendor performance guarantee and a buyback</a:t>
            </a:r>
            <a:endParaRPr lang="en-US" sz="1300" dirty="0"/>
          </a:p>
        </p:txBody>
      </p:sp>
      <p:sp>
        <p:nvSpPr>
          <p:cNvPr id="20" name="Text 18"/>
          <p:cNvSpPr/>
          <p:nvPr/>
        </p:nvSpPr>
        <p:spPr>
          <a:xfrm>
            <a:off x="6461608" y="3218688"/>
            <a:ext cx="4907128" cy="8229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The pessimistic case destroys AED 4.94M and the engine returns a hard Reject. A performance guarantee plus a secondary-market equipment buyback truncates that tail before any capital is committed.</a:t>
            </a:r>
            <a:endParaRPr lang="en-US" sz="1100" dirty="0"/>
          </a:p>
        </p:txBody>
      </p:sp>
      <p:sp>
        <p:nvSpPr>
          <p:cNvPr id="21" name="Shape 19"/>
          <p:cNvSpPr/>
          <p:nvPr/>
        </p:nvSpPr>
        <p:spPr>
          <a:xfrm>
            <a:off x="566928" y="4315968"/>
            <a:ext cx="11057839" cy="1298448"/>
          </a:xfrm>
          <a:prstGeom prst="roundRect">
            <a:avLst>
              <a:gd name="adj" fmla="val 7042"/>
            </a:avLst>
          </a:prstGeom>
          <a:solidFill>
            <a:srgbClr val="0F2740"/>
          </a:solidFill>
          <a:ln w="12700">
            <a:solidFill>
              <a:srgbClr val="1E4463"/>
            </a:solidFill>
            <a:prstDash val="solid"/>
          </a:ln>
          <a:effectLst>
            <a:outerShdw sx="100000" sy="100000" kx="0" ky="0" algn="bl" rotWithShape="0" blurRad="177800" dist="38100" dir="5400000">
              <a:srgbClr val="000000">
                <a:alpha val="35000"/>
              </a:srgbClr>
            </a:outerShdw>
          </a:effectLst>
        </p:spPr>
      </p:sp>
      <p:sp>
        <p:nvSpPr>
          <p:cNvPr id="22" name="Text 20"/>
          <p:cNvSpPr/>
          <p:nvPr/>
        </p:nvSpPr>
        <p:spPr>
          <a:xfrm>
            <a:off x="841248" y="4443984"/>
            <a:ext cx="3657600" cy="274320"/>
          </a:xfrm>
          <a:prstGeom prst="rect">
            <a:avLst/>
          </a:prstGeom>
          <a:noFill/>
          <a:ln/>
        </p:spPr>
        <p:txBody>
          <a:bodyPr wrap="square" lIns="0" tIns="0" rIns="0" bIns="0" rtlCol="0" anchor="ctr"/>
          <a:lstStyle/>
          <a:p>
            <a:pPr indent="0" marL="0">
              <a:buNone/>
            </a:pPr>
            <a:r>
              <a:rPr lang="en-US" sz="1350" b="1" dirty="0">
                <a:solidFill>
                  <a:srgbClr val="22D3EE"/>
                </a:solidFill>
                <a:latin typeface="Calibri" pitchFamily="34" charset="0"/>
                <a:ea typeface="Calibri" pitchFamily="34" charset="-122"/>
                <a:cs typeface="Calibri" pitchFamily="34" charset="-120"/>
              </a:rPr>
              <a:t>The risks that attach</a:t>
            </a:r>
            <a:endParaRPr lang="en-US" sz="1350" dirty="0"/>
          </a:p>
        </p:txBody>
      </p:sp>
      <p:sp>
        <p:nvSpPr>
          <p:cNvPr id="23" name="Text 21"/>
          <p:cNvSpPr/>
          <p:nvPr/>
        </p:nvSpPr>
        <p:spPr>
          <a:xfrm>
            <a:off x="841248" y="4736592"/>
            <a:ext cx="10509199" cy="786384"/>
          </a:xfrm>
          <a:prstGeom prst="rect">
            <a:avLst/>
          </a:prstGeom>
          <a:noFill/>
          <a:ln/>
        </p:spPr>
        <p:txBody>
          <a:bodyPr wrap="square" lIns="0" tIns="0" rIns="0" bIns="0" rtlCol="0" anchor="ctr"/>
          <a:lstStyle/>
          <a:p>
            <a:pPr indent="0" marL="0">
              <a:buNone/>
            </a:pPr>
            <a:r>
              <a:rPr lang="en-US" sz="1150" b="1" dirty="0">
                <a:solidFill>
                  <a:srgbClr val="F8FAFC"/>
                </a:solidFill>
                <a:latin typeface="Calibri" pitchFamily="34" charset="0"/>
                <a:ea typeface="Calibri" pitchFamily="34" charset="-122"/>
                <a:cs typeface="Calibri" pitchFamily="34" charset="-120"/>
              </a:rPr>
              <a:t>Financial:  </a:t>
            </a:r>
            <a:pPr indent="0" marL="0">
              <a:buNone/>
            </a:pPr>
            <a:r>
              <a:rPr lang="en-US" sz="1150" dirty="0">
                <a:solidFill>
                  <a:srgbClr val="CADCFC"/>
                </a:solidFill>
                <a:latin typeface="Calibri" pitchFamily="34" charset="0"/>
                <a:ea typeface="Calibri" pitchFamily="34" charset="-122"/>
                <a:cs typeface="Calibri" pitchFamily="34" charset="-120"/>
              </a:rPr>
              <a:t>a benefit shortfall beyond 29.0%, a total outlay overrun beyond 50.4%, or a cost of capital above 26.30% — each individually survivable, dangerous only in combination.   </a:t>
            </a:r>
            <a:pPr indent="0" marL="0">
              <a:buNone/>
            </a:pPr>
            <a:r>
              <a:rPr lang="en-US" sz="1150" b="1" dirty="0">
                <a:solidFill>
                  <a:srgbClr val="F8FAFC"/>
                </a:solidFill>
                <a:latin typeface="Calibri" pitchFamily="34" charset="0"/>
                <a:ea typeface="Calibri" pitchFamily="34" charset="-122"/>
                <a:cs typeface="Calibri" pitchFamily="34" charset="-120"/>
              </a:rPr>
              <a:t>AI-related:  </a:t>
            </a:r>
            <a:pPr indent="0" marL="0">
              <a:buNone/>
            </a:pPr>
            <a:r>
              <a:rPr lang="en-US" sz="1150" dirty="0">
                <a:solidFill>
                  <a:srgbClr val="CADCFC"/>
                </a:solidFill>
                <a:latin typeface="Calibri" pitchFamily="34" charset="0"/>
                <a:ea typeface="Calibri" pitchFamily="34" charset="-122"/>
                <a:cs typeface="Calibri" pitchFamily="34" charset="-120"/>
              </a:rPr>
              <a:t>bounded by architecture — the model never touches the arithmetic, every response is labelled and traceable, and the platform returns identical financial results with no model available at all. The decision, and the accountability for it, remain human.</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CapExIQ — Topic 9 Capital-Budgeting Decision Platform</dc:title>
  <dc:subject>PptxGenJS Presentation</dc:subject>
  <dc:creator>CapExIQ</dc:creator>
  <cp:lastModifiedBy>CapExIQ</cp:lastModifiedBy>
  <cp:revision>1</cp:revision>
  <dcterms:created xsi:type="dcterms:W3CDTF">2026-08-02T14:00:26Z</dcterms:created>
  <dcterms:modified xsi:type="dcterms:W3CDTF">2026-08-02T14:00:26Z</dcterms:modified>
</cp:coreProperties>
</file>