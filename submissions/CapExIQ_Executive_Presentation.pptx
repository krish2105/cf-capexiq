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3.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F8FAFC"/>
                </a:solidFill>
                <a:latin typeface="Calibri"/>
              </a:defRPr>
            </a:pPr>
            <a:r>
              <a:rPr sz="1200" b="0" i="0" u="none" strike="noStrike">
                <a:solidFill>
                  <a:srgbClr val="F8FAFC"/>
                </a:solidFill>
                <a:latin typeface="Calibri"/>
              </a:rPr>
              <a:t>Annual FCF (AED millions)</a:t>
            </a:r>
          </a:p>
        </c:rich>
      </c:tx>
      <c:layout/>
      <c:overlay val="0"/>
    </c:title>
    <c:autoTitleDeleted val="0"/>
    <c:plotArea>
      <c:layout/>
      <c:barChart>
        <c:barDir val="col"/>
        <c:grouping val="clustered"/>
        <c:varyColors val="0"/>
        <c:ser>
          <c:idx val="0"/>
          <c:order val="0"/>
          <c:tx>
            <c:strRef>
              <c:f>Sheet1!$B$1</c:f>
              <c:strCache>
                <c:ptCount val="1"/>
                <c:pt idx="0">
                  <c:v>Free cash flow</c:v>
                </c:pt>
              </c:strCache>
            </c:strRef>
          </c:tx>
          <c:spPr>
            <a:solidFill>
              <a:srgbClr val="22D3EE"/>
            </a:solidFill>
            <a:effectLst/>
          </c:spPr>
          <c:invertIfNegative val="0"/>
          <c:dLbls>
            <c:numFmt formatCode="0.0" sourceLinked="0"/>
            <c:txPr>
              <a:bodyPr/>
              <a:lstStyle/>
              <a:p>
                <a:pPr>
                  <a:defRPr b="0" i="0" strike="noStrike" sz="900" u="none">
                    <a:solidFill>
                      <a:srgbClr val="F8FAFC"/>
                    </a:solidFill>
                    <a:latin typeface="Calibri"/>
                  </a:defRPr>
                </a:pPr>
              </a:p>
            </c:txPr>
            <c:showLegendKey val="0"/>
            <c:showVal val="1"/>
            <c:showCatName val="0"/>
            <c:showSerName val="0"/>
            <c:showPercent val="0"/>
            <c:showBubbleSize val="0"/>
            <c:showLeaderLines val="0"/>
          </c:dLbls>
          <c:cat>
            <c:multiLvlStrRef>
              <c:f>Sheet1!$A$2:$A$8</c:f>
              <c:multiLvlStrCache>
                <c:ptCount val="7"/>
                <c:lvl>
                  <c:pt idx="0">
                    <c:v>Year 0</c:v>
                  </c:pt>
                  <c:pt idx="1">
                    <c:v>Year 1</c:v>
                  </c:pt>
                  <c:pt idx="2">
                    <c:v>Year 2</c:v>
                  </c:pt>
                  <c:pt idx="3">
                    <c:v>Year 3</c:v>
                  </c:pt>
                  <c:pt idx="4">
                    <c:v>Year 4</c:v>
                  </c:pt>
                  <c:pt idx="5">
                    <c:v>Year 5</c:v>
                  </c:pt>
                  <c:pt idx="6">
                    <c:v>Year 6</c:v>
                  </c:pt>
                </c:lvl>
              </c:multiLvlStrCache>
            </c:multiLvlStrRef>
          </c:cat>
          <c:val>
            <c:numRef>
              <c:f>Sheet1!$B$2:$B$8</c:f>
              <c:numCache>
                <c:formatCode>General</c:formatCode>
                <c:ptCount val="7"/>
                <c:pt idx="0">
                  <c:v>-24</c:v>
                </c:pt>
                <c:pt idx="1">
                  <c:v>7.398</c:v>
                </c:pt>
                <c:pt idx="2">
                  <c:v>7.725</c:v>
                </c:pt>
                <c:pt idx="3">
                  <c:v>8.066</c:v>
                </c:pt>
                <c:pt idx="4">
                  <c:v>8.423</c:v>
                </c:pt>
                <c:pt idx="5">
                  <c:v>8.796</c:v>
                </c:pt>
                <c:pt idx="6">
                  <c:v>13.186</c:v>
                </c:pt>
              </c:numCache>
            </c:numRef>
          </c:val>
        </c:ser>
        <c:dLbls>
          <c:numFmt formatCode="0.0" sourceLinked="0"/>
          <c:txPr>
            <a:bodyPr/>
            <a:lstStyle/>
            <a:p>
              <a:pPr>
                <a:defRPr b="0" i="0" strike="noStrike" sz="900" u="none">
                  <a:solidFill>
                    <a:srgbClr val="F8FAFC"/>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50" b="0" i="0" u="none" strike="noStrike">
                <a:solidFill>
                  <a:srgbClr val="94A3B8"/>
                </a:solidFill>
                <a:latin typeface="Calibri"/>
              </a:defRPr>
            </a:pPr>
            <a:endParaRPr lang="en-US"/>
          </a:p>
        </c:txPr>
        <c:crossAx val="2094734552"/>
        <c:crosses val="autoZero"/>
        <c:auto val="1"/>
        <c:lblAlgn val="ctr"/>
        <c:noMultiLvlLbl val="1"/>
      </c:catAx>
      <c:valAx>
        <c:axId val="2094734552"/>
        <c:scaling>
          <c:orientation val="minMax"/>
          <c:max val="15"/>
          <c:min val="-25"/>
        </c:scaling>
        <c:delete val="0"/>
        <c:axPos val="l"/>
        <c:majorGridlines>
          <c:spPr>
            <a:ln w="12700" cap="flat">
              <a:solidFill>
                <a:srgbClr val="1E4463"/>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50" b="0" i="0" u="none" strike="noStrike">
                <a:solidFill>
                  <a:srgbClr val="94A3B8"/>
                </a:solidFill>
                <a:latin typeface="Calibri"/>
              </a:defRPr>
            </a:pPr>
            <a:endParaRPr lang="en-US"/>
          </a:p>
        </c:txPr>
        <c:crossAx val="2094734554"/>
        <c:crosses val="autoZero"/>
        <c:crossBetween val="between"/>
        <c:majorUnit val="5"/>
      </c:valAx>
      <c:spPr>
        <a:noFill/>
        <a:ln w="12700" cap="flat">
          <a:solidFill>
            <a:srgbClr val="0B1A2E"/>
          </a:solid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50" b="0" i="0" u="none" strike="noStrike">
                <a:solidFill>
                  <a:srgbClr val="F8FAFC"/>
                </a:solidFill>
                <a:latin typeface="Calibri"/>
              </a:defRPr>
            </a:pPr>
            <a:r>
              <a:rPr sz="1150" b="0" i="0" u="none" strike="noStrike">
                <a:solidFill>
                  <a:srgbClr val="F8FAFC"/>
                </a:solidFill>
                <a:latin typeface="Calibri"/>
              </a:rPr>
              <a:t>Deviation from base NPV, AED millions — every driver flexed ±20%</a:t>
            </a:r>
          </a:p>
        </c:rich>
      </c:tx>
      <c:layout/>
      <c:overlay val="0"/>
    </c:title>
    <c:autoTitleDeleted val="0"/>
    <c:plotArea>
      <c:layout/>
      <c:barChart>
        <c:barDir val="bar"/>
        <c:grouping val="stacked"/>
        <c:varyColors val="0"/>
        <c:ser>
          <c:idx val="0"/>
          <c:order val="0"/>
          <c:tx>
            <c:strRef>
              <c:f>Sheet1!$B$1</c:f>
              <c:strCache>
                <c:ptCount val="1"/>
                <c:pt idx="0">
                  <c:v>Downside (−20%)</c:v>
                </c:pt>
              </c:strCache>
            </c:strRef>
          </c:tx>
          <c:spPr>
            <a:solidFill>
              <a:srgbClr val="F87171"/>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Salvage value</c:v>
                  </c:pt>
                  <c:pt idx="1">
                    <c:v>Savings growth</c:v>
                  </c:pt>
                  <c:pt idx="2">
                    <c:v>Operating cost</c:v>
                  </c:pt>
                  <c:pt idx="3">
                    <c:v>Discount rate</c:v>
                  </c:pt>
                  <c:pt idx="4">
                    <c:v>Capital expenditure</c:v>
                  </c:pt>
                  <c:pt idx="5">
                    <c:v>Project life</c:v>
                  </c:pt>
                  <c:pt idx="6">
                    <c:v>Operating benefits</c:v>
                  </c:pt>
                </c:lvl>
              </c:multiLvlStrCache>
            </c:multiLvlStrRef>
          </c:cat>
          <c:val>
            <c:numRef>
              <c:f>Sheet1!$B$2:$B$8</c:f>
              <c:numCache>
                <c:formatCode>General</c:formatCode>
                <c:ptCount val="7"/>
                <c:pt idx="0">
                  <c:v>-0.18</c:v>
                </c:pt>
                <c:pt idx="1">
                  <c:v>-0.55</c:v>
                </c:pt>
                <c:pt idx="2">
                  <c:v>1.79</c:v>
                </c:pt>
                <c:pt idx="3">
                  <c:v>2.73</c:v>
                </c:pt>
                <c:pt idx="4">
                  <c:v>4.13</c:v>
                </c:pt>
                <c:pt idx="5">
                  <c:v>-4.32</c:v>
                </c:pt>
                <c:pt idx="6">
                  <c:v>-8.33</c:v>
                </c:pt>
              </c:numCache>
            </c:numRef>
          </c:val>
        </c:ser>
        <c:ser>
          <c:idx val="1"/>
          <c:order val="1"/>
          <c:tx>
            <c:strRef>
              <c:f>Sheet1!$C$1</c:f>
              <c:strCache>
                <c:ptCount val="1"/>
                <c:pt idx="0">
                  <c:v>Upside (+20%)</c:v>
                </c:pt>
              </c:strCache>
            </c:strRef>
          </c:tx>
          <c:spPr>
            <a:solidFill>
              <a:srgbClr val="34D399"/>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Salvage value</c:v>
                  </c:pt>
                  <c:pt idx="1">
                    <c:v>Savings growth</c:v>
                  </c:pt>
                  <c:pt idx="2">
                    <c:v>Operating cost</c:v>
                  </c:pt>
                  <c:pt idx="3">
                    <c:v>Discount rate</c:v>
                  </c:pt>
                  <c:pt idx="4">
                    <c:v>Capital expenditure</c:v>
                  </c:pt>
                  <c:pt idx="5">
                    <c:v>Project life</c:v>
                  </c:pt>
                  <c:pt idx="6">
                    <c:v>Operating benefits</c:v>
                  </c:pt>
                </c:lvl>
              </c:multiLvlStrCache>
            </c:multiLvlStrRef>
          </c:cat>
          <c:val>
            <c:numRef>
              <c:f>Sheet1!$C$2:$C$8</c:f>
              <c:numCache>
                <c:formatCode>General</c:formatCode>
                <c:ptCount val="7"/>
                <c:pt idx="0">
                  <c:v>0.19</c:v>
                </c:pt>
                <c:pt idx="1">
                  <c:v>0.55</c:v>
                </c:pt>
                <c:pt idx="2">
                  <c:v>-1.78</c:v>
                </c:pt>
                <c:pt idx="3">
                  <c:v>-2.44</c:v>
                </c:pt>
                <c:pt idx="4">
                  <c:v>-4.12</c:v>
                </c:pt>
                <c:pt idx="5">
                  <c:v>4.07</c:v>
                </c:pt>
                <c:pt idx="6">
                  <c:v>8.34</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low"/>
        <c:spPr>
          <a:ln w="12700" cap="flat">
            <a:solidFill>
              <a:srgbClr val="888888"/>
            </a:solidFill>
            <a:prstDash val="solid"/>
            <a:round/>
          </a:ln>
        </c:spPr>
        <c:txPr>
          <a:bodyPr/>
          <a:lstStyle/>
          <a:p>
            <a:pPr>
              <a:defRPr sz="950" b="0" i="0" u="none" strike="noStrike">
                <a:solidFill>
                  <a:srgbClr val="94A3B8"/>
                </a:solidFill>
                <a:latin typeface="Calibri"/>
              </a:defRPr>
            </a:pPr>
            <a:endParaRPr lang="en-US"/>
          </a:p>
        </c:txPr>
        <c:crossAx val="2094734552"/>
        <c:crosses val="autoZero"/>
        <c:auto val="1"/>
        <c:lblAlgn val="ctr"/>
        <c:noMultiLvlLbl val="1"/>
      </c:catAx>
      <c:valAx>
        <c:axId val="2094734552"/>
        <c:scaling>
          <c:orientation val="minMax"/>
        </c:scaling>
        <c:delete val="0"/>
        <c:axPos val="b"/>
        <c:majorGridlines>
          <c:spPr>
            <a:ln w="12700" cap="flat">
              <a:solidFill>
                <a:srgbClr val="1E4463"/>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50" b="0" i="0" u="none" strike="noStrike">
                <a:solidFill>
                  <a:srgbClr val="94A3B8"/>
                </a:solidFill>
                <a:latin typeface="Calibri"/>
              </a:defRPr>
            </a:pPr>
            <a:endParaRPr lang="en-US"/>
          </a:p>
        </c:txPr>
        <c:crossAx val="2094734554"/>
        <c:crosses val="autoZero"/>
        <c:crossBetween val="between"/>
      </c:valAx>
      <c:spPr>
        <a:noFill/>
        <a:ln w="12700" cap="flat">
          <a:solidFill>
            <a:srgbClr val="0B1A2E"/>
          </a:solidFill>
        </a:ln>
        <a:effectLst/>
      </c:spPr>
    </c:plotArea>
    <c:legend>
      <c:legendPos val="t"/>
      <c:overlay val="0"/>
      <c:txPr>
        <a:bodyPr/>
        <a:lstStyle/>
        <a:p>
          <a:pPr>
            <a:defRPr sz="950">
              <a:solidFill>
                <a:srgbClr val="94A3B8"/>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50" b="0" i="0" u="none" strike="noStrike">
                <a:solidFill>
                  <a:srgbClr val="F8FAFC"/>
                </a:solidFill>
                <a:latin typeface="Calibri"/>
              </a:defRPr>
            </a:pPr>
            <a:r>
              <a:rPr sz="1150" b="0" i="0" u="none" strike="noStrike">
                <a:solidFill>
                  <a:srgbClr val="F8FAFC"/>
                </a:solidFill>
                <a:latin typeface="Calibri"/>
              </a:rPr>
              <a:t>P(NPV ≤ X) — 5,000 seeded iterations</a:t>
            </a:r>
          </a:p>
        </c:rich>
      </c:tx>
      <c:layout/>
      <c:overlay val="0"/>
    </c:title>
    <c:autoTitleDeleted val="0"/>
    <c:plotArea>
      <c:layout/>
      <c:lineChart>
        <c:varyColors val="0"/>
        <c:ser>
          <c:idx val="0"/>
          <c:order val="0"/>
          <c:tx>
            <c:strRef>
              <c:f>Sheet1!$B$1</c:f>
              <c:strCache>
                <c:ptCount val="1"/>
                <c:pt idx="0">
                  <c:v>Cumulative probability</c:v>
                </c:pt>
              </c:strCache>
            </c:strRef>
          </c:tx>
          <c:spPr>
            <a:solidFill>
              <a:srgbClr val="22D3EE"/>
            </a:solidFill>
            <a:ln w="38100" cap="flat">
              <a:solidFill>
                <a:srgbClr val="22D3EE"/>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2D3EE"/>
              </a:solidFill>
              <a:ln w="9525" cap="flat">
                <a:solidFill>
                  <a:srgbClr val="22D3EE"/>
                </a:solidFill>
                <a:prstDash val="solid"/>
                <a:round/>
              </a:ln>
              <a:effectLst/>
            </c:spPr>
          </c:marker>
          <c:cat>
            <c:multiLvlStrRef>
              <c:f>Sheet1!$A$2:$A$10</c:f>
              <c:multiLvlStrCache>
                <c:ptCount val="9"/>
                <c:lvl>
                  <c:pt idx="0">
                    <c:v>-2</c:v>
                  </c:pt>
                  <c:pt idx="1">
                    <c:v>0</c:v>
                  </c:pt>
                  <c:pt idx="2">
                    <c:v>3</c:v>
                  </c:pt>
                  <c:pt idx="3">
                    <c:v>6</c:v>
                  </c:pt>
                  <c:pt idx="4">
                    <c:v>9</c:v>
                  </c:pt>
                  <c:pt idx="5">
                    <c:v>12</c:v>
                  </c:pt>
                  <c:pt idx="6">
                    <c:v>15</c:v>
                  </c:pt>
                  <c:pt idx="7">
                    <c:v>18</c:v>
                  </c:pt>
                  <c:pt idx="8">
                    <c:v>21</c:v>
                  </c:pt>
                </c:lvl>
              </c:multiLvlStrCache>
            </c:multiLvlStrRef>
          </c:cat>
          <c:val>
            <c:numRef>
              <c:f>Sheet1!$B$2:$B$10</c:f>
              <c:numCache>
                <c:formatCode>General</c:formatCode>
                <c:ptCount val="9"/>
                <c:pt idx="0">
                  <c:v>0.1</c:v>
                </c:pt>
                <c:pt idx="1">
                  <c:v>0.3</c:v>
                </c:pt>
                <c:pt idx="2">
                  <c:v>3.2</c:v>
                </c:pt>
                <c:pt idx="3">
                  <c:v>14.5</c:v>
                </c:pt>
                <c:pt idx="4">
                  <c:v>37</c:v>
                </c:pt>
                <c:pt idx="5">
                  <c:v>58</c:v>
                </c:pt>
                <c:pt idx="6">
                  <c:v>80.5</c:v>
                </c:pt>
                <c:pt idx="7">
                  <c:v>94</c:v>
                </c:pt>
                <c:pt idx="8">
                  <c:v>99.6</c:v>
                </c:pt>
              </c:numCache>
            </c:numRef>
          </c:val>
          <c:smooth val="1"/>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50" b="0" i="0" u="none" strike="noStrike">
                <a:solidFill>
                  <a:srgbClr val="94A3B8"/>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12700" cap="flat">
              <a:solidFill>
                <a:srgbClr val="1E4463"/>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50" b="0" i="0" u="none" strike="noStrike">
                <a:solidFill>
                  <a:srgbClr val="94A3B8"/>
                </a:solidFill>
                <a:latin typeface="Calibri"/>
              </a:defRPr>
            </a:pPr>
            <a:endParaRPr lang="en-US"/>
          </a:p>
        </c:txPr>
        <c:crossAx val="2094734554"/>
        <c:crosses val="autoZero"/>
        <c:crossBetween val="between"/>
      </c:valAx>
      <c:spPr>
        <a:noFill/>
        <a:ln w="12700" cap="flat">
          <a:solidFill>
            <a:srgbClr val="0B1A2E"/>
          </a:solid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CapExIQ is a capital-budgeting decision platform built for Topic 9. The flagship case is NovaRetail GCC, a hypothetical UAE retailer evaluating a 24 million dirham automated micro-fulfilment centre in Dubai, over six years at an 11.5 percent WACC. The headline is on screen: 12.08 million of net present value, a 26.3 percent IRR against an 11.5 percent hurdle, and payback inside 3.1 years. The recommendation is approve, with two conditions I will come back to. One framing point: every number today comes from a deterministic engine. The AI explains, challenges and drafts. It never calculates. (40s)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one. NovaRetail picks online orders by hand from store back-rooms at 14.50 dirhams an order, and picking capacity is now the binding constraint on growth in exactly the postcodes where demand is strongest. Automation takes unit cost to 4.20 and capacity to eight thousand orders a day. There are four options, not two — full commitment, a phased release gated on Year-1 savings, deferral, or rejection. It matters because the error is asymmetric in both directions: approve a weak case and you strand capital in illiquid robotics; reject a strong one and you concede the market. (40s)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two, first half. Five formulas carry the decision. NPV is primary. IRR is the rate that zeroes it — ours is 26.3 against an 11.5 hurdle. MIRR matters because standard IRR quietly assumes you reinvest interim cash at 26.3 percent, which nobody can do; reinvesting at the cost of capital gives a more honest 19.34. Profitability index ranks projects when capital is rationed. Payback is a liquidity screen, not a value measure. Note the line at the bottom: none of these formulas care what generated the cash flows. That is why the platform generalises to eight investment types off one engine. (45s)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 classified five ways as the brief requires. The external inputs are real and current — the UAE nine percent tax band, DEWA's published 2026 tariffs, a three-month EIBOR of 3.79 percent. On the right, the hurdle rate is built rather than assumed: risk-free, plus beta times equity risk premium, plus a UAE country premium, plus three and a half points of execution premium because this is first-of-kind robotics. That gives 11.5 at a sixty-forty structure. The box at the bottom is where I would push hardest. The 7.5 million of savings drives three-quarters of the value, so we derive it from a labour bridge — 66.9 full-time equivalents displaced at 112,000 loaded cost — landing within a tenth of a percent. (55s)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engine. Year zero is the 24 million outflow, years one to five run between 7.4 and 8.8 million, and Year six jumps to 13.2 because it picks up salvage and recovered working capital. On the right is how the Year-1 figure is built, line by line: ten million of benefits, less 2.2 of incremental operating cost, gives 7.8 EBITDA; take off depreciation, tax at nine percent, add depreciation back because it is non-cash, and you get 7,398,000. Depreciation is straight-line to salvage, not to zero, which is why it is 3.33 and not 3.67. (45s)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five rules point the same way, which is worth saying because they often do not. IRR clears the hurdle by 14.8 points. MIRR — the conservative measure — still clears by 7.8. Profitability index of 1.50 means every dirham returns one-fifty in present value. Payback is inside the four-year policy limit, and even discounted payback is inside four and a half. One point worth making: that NPV figure is pinned by an automated regression test. Change an assumption and the test fails, flagging the documents as stale. The report, this deck and the application cannot silently disagree. (45s)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three. Optimistic gives 19 million, base gives 12.08, pessimistic destroys 4.94 million. That last column is the honest one. The engine does not soften it — it returns Reject, not proceed-with-caution. That matters, because a model that only ever approves is not a model, it is a sales document. Weighting the three at fifty, twenty-five, twenty-five gives an expected NPV of 9.56 million. But note what the pessimistic case actually is: a twenty-five percent benefit shortfall and a fifteen percent cost overrun and a three-hundred basis-point rate rise, all at once. A genuine stress test, not a haircut. (45s)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driver here is flexed by an identical plus or minus twenty percent. That matters — flex capex by twenty percent but project life by four years and the ranking is meaningless, which is the flaw in most tornado charts you see in practice. Normalised properly, operating benefits dominates: it swings NPV by 16.67 million, more than the project's entire base-case value and roughly twice the next driver. On the right, the decision actually flips when benefits fall more than twenty-nine percent, when outlay rises more than fifty point four, or when the discount rate passes 26.3. Which leads to the response: gate the money on measured savings rather than squeezing the vendor on price. (50s)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views of risk. On the left, Monte Carlo — five thousand seeded iterations varying capex, savings, operating cost and the discount rate together. The mean lands around 10.5 million, below the base case of 12.08, which tells you the distribution is left-skewed and the headline is mildly optimistic. Probability of loss is about three-tenths of one percent. On the right, eleven severity-ranked deterministic rules. Exactly one fires on the base case. Salvage dependence and benefit sensitivity both trigger at fifteen percent and our figures are 8.6 and 29, so they stay quiet. A panel where everything is green is not a risk panel, and neither is one where everything is red. (50s)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real differentiator. The brief lists eight kinds of investment a capital-budgeting dashboard should handle. Most projects hard-wire one. We generalised: an archetype configuration builds the annual benefit line, and the audited engine evaluates it without being forked. Look at the verdict column — five of eight fail. That is deliberate. If all eight came out comfortably profitable, what I would have shown you is optimistic defaults, not a working engine. The AI platform only breaks even because inference cost scales with usage. The new branch turns entirely on ten percent cannibalisation. And the flagship case still reproduces its numbers to the dirham after the refactor. (50s)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four. Ten capabilities, and every one is documented against the five points the brief asks for. The limitation column on the right is the one I care about. The finance assistant cannot be audited line by line, so its output is labelled advisory. The board recommendation will write a perfectly confident memorandum from bad inputs, which is why sign-off is mandatory rather than optional. And board debate — which simulates a CFO, COO, risk officer and a sceptical non-executive arguing the case — manufactures challenge a single author cannot supply, but simulated dissent is not real governance and I would not claim otherwise. (40s)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five. Three worth calling out. Scenario studio proposes additional scenarios, but note the limitation: it proposes assumptions only, and the deterministic engine evaluates them. The AI never produces a result. ESG returns an explicit not-applicable flag for archetypes where the commentary would be meaningless, rather than inventing content to fill a section. And the quote parser returns ambiguous lines unparsed rather than guessing, because a wrong capex line silently entering the model is worse than a gap. The green box is the principle behind all of it: pull the API key out entirely and the financial results are byte-identical. (40s)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brief asks for seven things under ethical use of AI, and these are all seven. Two I would defend specifically. On accuracy — we did not write a policy saying AI should not calculate; we built it so it structurally cannot, because the routes only ever receive numbers already computed. On bias — forecasts inherit the optimism of whoever set them, and a model trained on published business cases amplifies that, so the pessimistic case and the simulated debate exist as deliberate counterweights. The box at the bottom matters most: responsibility sits with the CFO and the committee. Nothing here transfers accountability. (40s)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five, and the close. Approve. Twelve point zero eight million of net present value, all five decision rules agreeing, expected value of 9.56 million across weighted scenarios. But approve with two conditions, and both come from the analysis rather than from habit. First: because benefit realisation swings the answer by 16.67 million, release the money against measured savings rather than the calendar — fourteen million now, ten million when Year-1 savings are evidenced. Second: because the pessimistic case genuinely destroys value, require a performance guarantee and a buyback, which truncates that tail. Neither weakens the recommendation; both protect it. Thank you. (45s)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A2E"/>
        </a:solidFill>
      </p:bgPr>
    </p:bg>
    <p:spTree>
      <p:nvGrpSpPr>
        <p:cNvPr id="1" name=""/>
        <p:cNvGrpSpPr/>
        <p:nvPr/>
      </p:nvGrpSpPr>
      <p:grpSpPr>
        <a:xfrm>
          <a:off x="0" y="0"/>
          <a:ext cx="0" cy="0"/>
          <a:chOff x="0" y="0"/>
          <a:chExt cx="0" cy="0"/>
        </a:xfrm>
      </p:grpSpPr>
      <p:sp>
        <p:nvSpPr>
          <p:cNvPr id="2" name="Shape 0"/>
          <p:cNvSpPr/>
          <p:nvPr/>
        </p:nvSpPr>
        <p:spPr>
          <a:xfrm>
            <a:off x="8778240" y="-2011680"/>
            <a:ext cx="5852160" cy="5852160"/>
          </a:xfrm>
          <a:prstGeom prst="ellipse">
            <a:avLst/>
          </a:prstGeom>
          <a:solidFill>
            <a:srgbClr val="12304C"/>
          </a:solidFill>
          <a:ln w="12700">
            <a:solidFill>
              <a:srgbClr val="333333"/>
            </a:solidFill>
            <a:prstDash val="solid"/>
          </a:ln>
        </p:spPr>
      </p:sp>
      <p:sp>
        <p:nvSpPr>
          <p:cNvPr id="3" name="Shape 1"/>
          <p:cNvSpPr/>
          <p:nvPr/>
        </p:nvSpPr>
        <p:spPr>
          <a:xfrm>
            <a:off x="10241280" y="4023360"/>
            <a:ext cx="3840480" cy="3840480"/>
          </a:xfrm>
          <a:prstGeom prst="ellipse">
            <a:avLst/>
          </a:prstGeom>
          <a:solidFill>
            <a:srgbClr val="0F2740"/>
          </a:solidFill>
          <a:ln w="12700">
            <a:solidFill>
              <a:srgbClr val="333333"/>
            </a:solidFill>
            <a:prstDash val="solid"/>
          </a:ln>
        </p:spPr>
      </p:sp>
      <p:sp>
        <p:nvSpPr>
          <p:cNvPr id="4" name="Text 2"/>
          <p:cNvSpPr/>
          <p:nvPr/>
        </p:nvSpPr>
        <p:spPr>
          <a:xfrm>
            <a:off x="566928" y="1170432"/>
            <a:ext cx="7863840" cy="1024128"/>
          </a:xfrm>
          <a:prstGeom prst="rect">
            <a:avLst/>
          </a:prstGeom>
          <a:noFill/>
          <a:ln/>
        </p:spPr>
        <p:txBody>
          <a:bodyPr wrap="square" lIns="0" tIns="0" rIns="0" bIns="0" rtlCol="0" anchor="ctr"/>
          <a:lstStyle/>
          <a:p>
            <a:pPr indent="0" marL="0">
              <a:buNone/>
            </a:pPr>
            <a:r>
              <a:rPr lang="en-US" sz="5800" b="1" dirty="0">
                <a:solidFill>
                  <a:srgbClr val="F8FAFC"/>
                </a:solidFill>
                <a:latin typeface="Cambria" pitchFamily="34" charset="0"/>
                <a:ea typeface="Cambria" pitchFamily="34" charset="-122"/>
                <a:cs typeface="Cambria" pitchFamily="34" charset="-120"/>
              </a:rPr>
              <a:t>CapExIQ</a:t>
            </a:r>
            <a:endParaRPr lang="en-US" sz="5800" dirty="0"/>
          </a:p>
        </p:txBody>
      </p:sp>
      <p:sp>
        <p:nvSpPr>
          <p:cNvPr id="5" name="Text 3"/>
          <p:cNvSpPr/>
          <p:nvPr/>
        </p:nvSpPr>
        <p:spPr>
          <a:xfrm>
            <a:off x="566928" y="2176272"/>
            <a:ext cx="8046720" cy="457200"/>
          </a:xfrm>
          <a:prstGeom prst="rect">
            <a:avLst/>
          </a:prstGeom>
          <a:noFill/>
          <a:ln/>
        </p:spPr>
        <p:txBody>
          <a:bodyPr wrap="square" lIns="0" tIns="0" rIns="0" bIns="0" rtlCol="0" anchor="ctr"/>
          <a:lstStyle/>
          <a:p>
            <a:pPr indent="0" marL="0">
              <a:buNone/>
            </a:pPr>
            <a:r>
              <a:rPr lang="en-US" sz="1700" dirty="0">
                <a:solidFill>
                  <a:srgbClr val="CADCFC"/>
                </a:solidFill>
                <a:latin typeface="Calibri" pitchFamily="34" charset="0"/>
                <a:ea typeface="Calibri" pitchFamily="34" charset="-122"/>
                <a:cs typeface="Calibri" pitchFamily="34" charset="-120"/>
              </a:rPr>
              <a:t>An AI-Enabled Capital-Budgeting and Investment Decision Platform</a:t>
            </a:r>
            <a:endParaRPr lang="en-US" sz="1700" dirty="0"/>
          </a:p>
        </p:txBody>
      </p:sp>
      <p:sp>
        <p:nvSpPr>
          <p:cNvPr id="6" name="Text 4"/>
          <p:cNvSpPr/>
          <p:nvPr/>
        </p:nvSpPr>
        <p:spPr>
          <a:xfrm>
            <a:off x="566928" y="2688336"/>
            <a:ext cx="8046720" cy="274320"/>
          </a:xfrm>
          <a:prstGeom prst="rect">
            <a:avLst/>
          </a:prstGeom>
          <a:noFill/>
          <a:ln/>
        </p:spPr>
        <p:txBody>
          <a:bodyPr wrap="square" lIns="0" tIns="0" rIns="0" bIns="0" rtlCol="0" anchor="ctr"/>
          <a:lstStyle/>
          <a:p>
            <a:pPr indent="0" marL="0">
              <a:buNone/>
            </a:pPr>
            <a:r>
              <a:rPr lang="en-US" sz="1150" b="1" spc="200" kern="0" dirty="0">
                <a:solidFill>
                  <a:srgbClr val="22D3EE"/>
                </a:solidFill>
                <a:latin typeface="Calibri" pitchFamily="34" charset="0"/>
                <a:ea typeface="Calibri" pitchFamily="34" charset="-122"/>
                <a:cs typeface="Calibri" pitchFamily="34" charset="-120"/>
              </a:rPr>
              <a:t>TOPIC 9  ·  AI CAPITAL-BUDGETING DASHBOARD</a:t>
            </a:r>
            <a:endParaRPr lang="en-US" sz="1150" dirty="0"/>
          </a:p>
        </p:txBody>
      </p:sp>
      <p:sp>
        <p:nvSpPr>
          <p:cNvPr id="7" name="Text 5"/>
          <p:cNvSpPr/>
          <p:nvPr/>
        </p:nvSpPr>
        <p:spPr>
          <a:xfrm>
            <a:off x="566928" y="3127248"/>
            <a:ext cx="8595360" cy="310896"/>
          </a:xfrm>
          <a:prstGeom prst="rect">
            <a:avLst/>
          </a:prstGeom>
          <a:noFill/>
          <a:ln/>
        </p:spPr>
        <p:txBody>
          <a:bodyPr wrap="square" lIns="0" tIns="0" rIns="0" bIns="0" rtlCol="0" anchor="ctr"/>
          <a:lstStyle/>
          <a:p>
            <a:pPr indent="0" marL="0">
              <a:buNone/>
            </a:pPr>
            <a:r>
              <a:rPr lang="en-US" sz="1250" b="1" dirty="0">
                <a:solidFill>
                  <a:srgbClr val="F8FAFC"/>
                </a:solidFill>
                <a:latin typeface="Calibri" pitchFamily="34" charset="0"/>
                <a:ea typeface="Calibri" pitchFamily="34" charset="-122"/>
                <a:cs typeface="Calibri" pitchFamily="34" charset="-120"/>
              </a:rPr>
              <a:t>NovaRetail GCC</a:t>
            </a:r>
            <a:pPr indent="0" marL="0">
              <a:buNone/>
            </a:pPr>
            <a:r>
              <a:rPr lang="en-US" sz="1250" dirty="0">
                <a:solidFill>
                  <a:srgbClr val="94A3B8"/>
                </a:solidFill>
                <a:latin typeface="Calibri" pitchFamily="34" charset="0"/>
                <a:ea typeface="Calibri" pitchFamily="34" charset="-122"/>
                <a:cs typeface="Calibri" pitchFamily="34" charset="-120"/>
              </a:rPr>
              <a:t>  ·  Automated Micro-Fulfilment Centre, Dubai  ·  AED 24.0M over 6 years at an 11.50% WACC</a:t>
            </a:r>
            <a:endParaRPr lang="en-US" sz="1250" dirty="0"/>
          </a:p>
        </p:txBody>
      </p:sp>
      <p:sp>
        <p:nvSpPr>
          <p:cNvPr id="8" name="Shape 6"/>
          <p:cNvSpPr/>
          <p:nvPr/>
        </p:nvSpPr>
        <p:spPr>
          <a:xfrm>
            <a:off x="566928" y="3822192"/>
            <a:ext cx="2613584" cy="1133856"/>
          </a:xfrm>
          <a:prstGeom prst="roundRect">
            <a:avLst>
              <a:gd name="adj" fmla="val 8065"/>
            </a:avLst>
          </a:prstGeom>
          <a:solidFill>
            <a:srgbClr val="13314E"/>
          </a:solidFill>
          <a:ln w="12700">
            <a:solidFill>
              <a:srgbClr val="1E4463"/>
            </a:solidFill>
            <a:prstDash val="solid"/>
          </a:ln>
          <a:effectLst>
            <a:outerShdw sx="100000" sy="100000" kx="0" ky="0" algn="bl" rotWithShape="0" blurRad="177800" dist="38100" dir="5400000">
              <a:srgbClr val="000000">
                <a:alpha val="35000"/>
              </a:srgbClr>
            </a:outerShdw>
          </a:effectLst>
        </p:spPr>
      </p:sp>
      <p:sp>
        <p:nvSpPr>
          <p:cNvPr id="9" name="Text 7"/>
          <p:cNvSpPr/>
          <p:nvPr/>
        </p:nvSpPr>
        <p:spPr>
          <a:xfrm>
            <a:off x="585216" y="3950208"/>
            <a:ext cx="2577008" cy="566928"/>
          </a:xfrm>
          <a:prstGeom prst="rect">
            <a:avLst/>
          </a:prstGeom>
          <a:noFill/>
          <a:ln/>
        </p:spPr>
        <p:txBody>
          <a:bodyPr wrap="square" lIns="0" tIns="0" rIns="0" bIns="0" rtlCol="0" anchor="ctr"/>
          <a:lstStyle/>
          <a:p>
            <a:pPr algn="ctr" indent="0" marL="0">
              <a:buNone/>
            </a:pPr>
            <a:r>
              <a:rPr lang="en-US" sz="2700" b="1" dirty="0">
                <a:solidFill>
                  <a:srgbClr val="34D399"/>
                </a:solidFill>
                <a:latin typeface="Cambria" pitchFamily="34" charset="0"/>
                <a:ea typeface="Cambria" pitchFamily="34" charset="-122"/>
                <a:cs typeface="Cambria" pitchFamily="34" charset="-120"/>
              </a:rPr>
              <a:t>AED 12.08M</a:t>
            </a:r>
            <a:endParaRPr lang="en-US" sz="2700" dirty="0"/>
          </a:p>
        </p:txBody>
      </p:sp>
      <p:sp>
        <p:nvSpPr>
          <p:cNvPr id="10" name="Text 8"/>
          <p:cNvSpPr/>
          <p:nvPr/>
        </p:nvSpPr>
        <p:spPr>
          <a:xfrm>
            <a:off x="585216" y="4535424"/>
            <a:ext cx="2577008" cy="310896"/>
          </a:xfrm>
          <a:prstGeom prst="rect">
            <a:avLst/>
          </a:prstGeom>
          <a:noFill/>
          <a:ln/>
        </p:spPr>
        <p:txBody>
          <a:bodyPr wrap="square" lIns="0" tIns="0" rIns="0" bIns="0" rtlCol="0" anchor="ctr"/>
          <a:lstStyle/>
          <a:p>
            <a:pPr algn="ctr" indent="0" marL="0">
              <a:buNone/>
            </a:pPr>
            <a:r>
              <a:rPr lang="en-US" sz="1050" dirty="0">
                <a:solidFill>
                  <a:srgbClr val="94A3B8"/>
                </a:solidFill>
                <a:latin typeface="Calibri" pitchFamily="34" charset="0"/>
                <a:ea typeface="Calibri" pitchFamily="34" charset="-122"/>
                <a:cs typeface="Calibri" pitchFamily="34" charset="-120"/>
              </a:rPr>
              <a:t>Net present value</a:t>
            </a:r>
            <a:endParaRPr lang="en-US" sz="1050" dirty="0"/>
          </a:p>
        </p:txBody>
      </p:sp>
      <p:sp>
        <p:nvSpPr>
          <p:cNvPr id="11" name="Shape 9"/>
          <p:cNvSpPr/>
          <p:nvPr/>
        </p:nvSpPr>
        <p:spPr>
          <a:xfrm>
            <a:off x="3381680" y="3822192"/>
            <a:ext cx="2613584" cy="1133856"/>
          </a:xfrm>
          <a:prstGeom prst="roundRect">
            <a:avLst>
              <a:gd name="adj" fmla="val 8065"/>
            </a:avLst>
          </a:prstGeom>
          <a:solidFill>
            <a:srgbClr val="13314E"/>
          </a:solidFill>
          <a:ln w="12700">
            <a:solidFill>
              <a:srgbClr val="1E4463"/>
            </a:solidFill>
            <a:prstDash val="solid"/>
          </a:ln>
          <a:effectLst>
            <a:outerShdw sx="100000" sy="100000" kx="0" ky="0" algn="bl" rotWithShape="0" blurRad="177800" dist="38100" dir="5400000">
              <a:srgbClr val="000000">
                <a:alpha val="35000"/>
              </a:srgbClr>
            </a:outerShdw>
          </a:effectLst>
        </p:spPr>
      </p:sp>
      <p:sp>
        <p:nvSpPr>
          <p:cNvPr id="12" name="Text 10"/>
          <p:cNvSpPr/>
          <p:nvPr/>
        </p:nvSpPr>
        <p:spPr>
          <a:xfrm>
            <a:off x="3399968" y="3950208"/>
            <a:ext cx="2577008" cy="566928"/>
          </a:xfrm>
          <a:prstGeom prst="rect">
            <a:avLst/>
          </a:prstGeom>
          <a:noFill/>
          <a:ln/>
        </p:spPr>
        <p:txBody>
          <a:bodyPr wrap="square" lIns="0" tIns="0" rIns="0" bIns="0" rtlCol="0" anchor="ctr"/>
          <a:lstStyle/>
          <a:p>
            <a:pPr algn="ctr" indent="0" marL="0">
              <a:buNone/>
            </a:pPr>
            <a:r>
              <a:rPr lang="en-US" sz="2700" b="1" dirty="0">
                <a:solidFill>
                  <a:srgbClr val="34D399"/>
                </a:solidFill>
                <a:latin typeface="Cambria" pitchFamily="34" charset="0"/>
                <a:ea typeface="Cambria" pitchFamily="34" charset="-122"/>
                <a:cs typeface="Cambria" pitchFamily="34" charset="-120"/>
              </a:rPr>
              <a:t>26.30%</a:t>
            </a:r>
            <a:endParaRPr lang="en-US" sz="2700" dirty="0"/>
          </a:p>
        </p:txBody>
      </p:sp>
      <p:sp>
        <p:nvSpPr>
          <p:cNvPr id="13" name="Text 11"/>
          <p:cNvSpPr/>
          <p:nvPr/>
        </p:nvSpPr>
        <p:spPr>
          <a:xfrm>
            <a:off x="3399968" y="4535424"/>
            <a:ext cx="2577008" cy="310896"/>
          </a:xfrm>
          <a:prstGeom prst="rect">
            <a:avLst/>
          </a:prstGeom>
          <a:noFill/>
          <a:ln/>
        </p:spPr>
        <p:txBody>
          <a:bodyPr wrap="square" lIns="0" tIns="0" rIns="0" bIns="0" rtlCol="0" anchor="ctr"/>
          <a:lstStyle/>
          <a:p>
            <a:pPr algn="ctr" indent="0" marL="0">
              <a:buNone/>
            </a:pPr>
            <a:r>
              <a:rPr lang="en-US" sz="1050" dirty="0">
                <a:solidFill>
                  <a:srgbClr val="94A3B8"/>
                </a:solidFill>
                <a:latin typeface="Calibri" pitchFamily="34" charset="0"/>
                <a:ea typeface="Calibri" pitchFamily="34" charset="-122"/>
                <a:cs typeface="Calibri" pitchFamily="34" charset="-120"/>
              </a:rPr>
              <a:t>Internal rate of return</a:t>
            </a:r>
            <a:endParaRPr lang="en-US" sz="1050" dirty="0"/>
          </a:p>
        </p:txBody>
      </p:sp>
      <p:sp>
        <p:nvSpPr>
          <p:cNvPr id="14" name="Shape 12"/>
          <p:cNvSpPr/>
          <p:nvPr/>
        </p:nvSpPr>
        <p:spPr>
          <a:xfrm>
            <a:off x="6196432" y="3822192"/>
            <a:ext cx="2613584" cy="1133856"/>
          </a:xfrm>
          <a:prstGeom prst="roundRect">
            <a:avLst>
              <a:gd name="adj" fmla="val 8065"/>
            </a:avLst>
          </a:prstGeom>
          <a:solidFill>
            <a:srgbClr val="13314E"/>
          </a:solidFill>
          <a:ln w="12700">
            <a:solidFill>
              <a:srgbClr val="1E4463"/>
            </a:solidFill>
            <a:prstDash val="solid"/>
          </a:ln>
          <a:effectLst>
            <a:outerShdw sx="100000" sy="100000" kx="0" ky="0" algn="bl" rotWithShape="0" blurRad="177800" dist="38100" dir="5400000">
              <a:srgbClr val="000000">
                <a:alpha val="35000"/>
              </a:srgbClr>
            </a:outerShdw>
          </a:effectLst>
        </p:spPr>
      </p:sp>
      <p:sp>
        <p:nvSpPr>
          <p:cNvPr id="15" name="Text 13"/>
          <p:cNvSpPr/>
          <p:nvPr/>
        </p:nvSpPr>
        <p:spPr>
          <a:xfrm>
            <a:off x="6214720" y="3950208"/>
            <a:ext cx="2577008" cy="566928"/>
          </a:xfrm>
          <a:prstGeom prst="rect">
            <a:avLst/>
          </a:prstGeom>
          <a:noFill/>
          <a:ln/>
        </p:spPr>
        <p:txBody>
          <a:bodyPr wrap="square" lIns="0" tIns="0" rIns="0" bIns="0" rtlCol="0" anchor="ctr"/>
          <a:lstStyle/>
          <a:p>
            <a:pPr algn="ctr" indent="0" marL="0">
              <a:buNone/>
            </a:pPr>
            <a:r>
              <a:rPr lang="en-US" sz="2700" b="1" dirty="0">
                <a:solidFill>
                  <a:srgbClr val="F8FAFC"/>
                </a:solidFill>
                <a:latin typeface="Cambria" pitchFamily="34" charset="0"/>
                <a:ea typeface="Cambria" pitchFamily="34" charset="-122"/>
                <a:cs typeface="Cambria" pitchFamily="34" charset="-120"/>
              </a:rPr>
              <a:t>1.504x</a:t>
            </a:r>
            <a:endParaRPr lang="en-US" sz="2700" dirty="0"/>
          </a:p>
        </p:txBody>
      </p:sp>
      <p:sp>
        <p:nvSpPr>
          <p:cNvPr id="16" name="Text 14"/>
          <p:cNvSpPr/>
          <p:nvPr/>
        </p:nvSpPr>
        <p:spPr>
          <a:xfrm>
            <a:off x="6214720" y="4535424"/>
            <a:ext cx="2577008" cy="310896"/>
          </a:xfrm>
          <a:prstGeom prst="rect">
            <a:avLst/>
          </a:prstGeom>
          <a:noFill/>
          <a:ln/>
        </p:spPr>
        <p:txBody>
          <a:bodyPr wrap="square" lIns="0" tIns="0" rIns="0" bIns="0" rtlCol="0" anchor="ctr"/>
          <a:lstStyle/>
          <a:p>
            <a:pPr algn="ctr" indent="0" marL="0">
              <a:buNone/>
            </a:pPr>
            <a:r>
              <a:rPr lang="en-US" sz="1050" dirty="0">
                <a:solidFill>
                  <a:srgbClr val="94A3B8"/>
                </a:solidFill>
                <a:latin typeface="Calibri" pitchFamily="34" charset="0"/>
                <a:ea typeface="Calibri" pitchFamily="34" charset="-122"/>
                <a:cs typeface="Calibri" pitchFamily="34" charset="-120"/>
              </a:rPr>
              <a:t>Profitability index</a:t>
            </a:r>
            <a:endParaRPr lang="en-US" sz="1050" dirty="0"/>
          </a:p>
        </p:txBody>
      </p:sp>
      <p:sp>
        <p:nvSpPr>
          <p:cNvPr id="17" name="Shape 15"/>
          <p:cNvSpPr/>
          <p:nvPr/>
        </p:nvSpPr>
        <p:spPr>
          <a:xfrm>
            <a:off x="9011183" y="3822192"/>
            <a:ext cx="2613584" cy="1133856"/>
          </a:xfrm>
          <a:prstGeom prst="roundRect">
            <a:avLst>
              <a:gd name="adj" fmla="val 8065"/>
            </a:avLst>
          </a:prstGeom>
          <a:solidFill>
            <a:srgbClr val="13314E"/>
          </a:solidFill>
          <a:ln w="12700">
            <a:solidFill>
              <a:srgbClr val="1E4463"/>
            </a:solidFill>
            <a:prstDash val="solid"/>
          </a:ln>
          <a:effectLst>
            <a:outerShdw sx="100000" sy="100000" kx="0" ky="0" algn="bl" rotWithShape="0" blurRad="177800" dist="38100" dir="5400000">
              <a:srgbClr val="000000">
                <a:alpha val="35000"/>
              </a:srgbClr>
            </a:outerShdw>
          </a:effectLst>
        </p:spPr>
      </p:sp>
      <p:sp>
        <p:nvSpPr>
          <p:cNvPr id="18" name="Text 16"/>
          <p:cNvSpPr/>
          <p:nvPr/>
        </p:nvSpPr>
        <p:spPr>
          <a:xfrm>
            <a:off x="9029471" y="3950208"/>
            <a:ext cx="2577008" cy="566928"/>
          </a:xfrm>
          <a:prstGeom prst="rect">
            <a:avLst/>
          </a:prstGeom>
          <a:noFill/>
          <a:ln/>
        </p:spPr>
        <p:txBody>
          <a:bodyPr wrap="square" lIns="0" tIns="0" rIns="0" bIns="0" rtlCol="0" anchor="ctr"/>
          <a:lstStyle/>
          <a:p>
            <a:pPr algn="ctr" indent="0" marL="0">
              <a:buNone/>
            </a:pPr>
            <a:r>
              <a:rPr lang="en-US" sz="2700" b="1" dirty="0">
                <a:solidFill>
                  <a:srgbClr val="F8FAFC"/>
                </a:solidFill>
                <a:latin typeface="Cambria" pitchFamily="34" charset="0"/>
                <a:ea typeface="Cambria" pitchFamily="34" charset="-122"/>
                <a:cs typeface="Cambria" pitchFamily="34" charset="-120"/>
              </a:rPr>
              <a:t>3.10 yrs</a:t>
            </a:r>
            <a:endParaRPr lang="en-US" sz="2700" dirty="0"/>
          </a:p>
        </p:txBody>
      </p:sp>
      <p:sp>
        <p:nvSpPr>
          <p:cNvPr id="19" name="Text 17"/>
          <p:cNvSpPr/>
          <p:nvPr/>
        </p:nvSpPr>
        <p:spPr>
          <a:xfrm>
            <a:off x="9029471" y="4535424"/>
            <a:ext cx="2577008" cy="310896"/>
          </a:xfrm>
          <a:prstGeom prst="rect">
            <a:avLst/>
          </a:prstGeom>
          <a:noFill/>
          <a:ln/>
        </p:spPr>
        <p:txBody>
          <a:bodyPr wrap="square" lIns="0" tIns="0" rIns="0" bIns="0" rtlCol="0" anchor="ctr"/>
          <a:lstStyle/>
          <a:p>
            <a:pPr algn="ctr" indent="0" marL="0">
              <a:buNone/>
            </a:pPr>
            <a:r>
              <a:rPr lang="en-US" sz="1050" dirty="0">
                <a:solidFill>
                  <a:srgbClr val="94A3B8"/>
                </a:solidFill>
                <a:latin typeface="Calibri" pitchFamily="34" charset="0"/>
                <a:ea typeface="Calibri" pitchFamily="34" charset="-122"/>
                <a:cs typeface="Calibri" pitchFamily="34" charset="-120"/>
              </a:rPr>
              <a:t>Payback period</a:t>
            </a:r>
            <a:endParaRPr lang="en-US" sz="1050" dirty="0"/>
          </a:p>
        </p:txBody>
      </p:sp>
      <p:sp>
        <p:nvSpPr>
          <p:cNvPr id="20" name="Shape 18"/>
          <p:cNvSpPr/>
          <p:nvPr/>
        </p:nvSpPr>
        <p:spPr>
          <a:xfrm>
            <a:off x="566928" y="5230368"/>
            <a:ext cx="11057839" cy="566928"/>
          </a:xfrm>
          <a:prstGeom prst="roundRect">
            <a:avLst>
              <a:gd name="adj" fmla="val 16129"/>
            </a:avLst>
          </a:prstGeom>
          <a:solidFill>
            <a:srgbClr val="0F3B2E"/>
          </a:solidFill>
          <a:ln w="12700">
            <a:solidFill>
              <a:srgbClr val="34D399"/>
            </a:solidFill>
            <a:prstDash val="solid"/>
          </a:ln>
        </p:spPr>
      </p:sp>
      <p:sp>
        <p:nvSpPr>
          <p:cNvPr id="21" name="Text 19"/>
          <p:cNvSpPr/>
          <p:nvPr/>
        </p:nvSpPr>
        <p:spPr>
          <a:xfrm>
            <a:off x="566928" y="5230368"/>
            <a:ext cx="11057839" cy="566928"/>
          </a:xfrm>
          <a:prstGeom prst="rect">
            <a:avLst/>
          </a:prstGeom>
          <a:noFill/>
          <a:ln/>
        </p:spPr>
        <p:txBody>
          <a:bodyPr wrap="square" lIns="0" tIns="0" rIns="0" bIns="0" rtlCol="0" anchor="ctr"/>
          <a:lstStyle/>
          <a:p>
            <a:pPr algn="ctr" indent="0" marL="0">
              <a:buNone/>
            </a:pPr>
            <a:r>
              <a:rPr lang="en-US" sz="1350" b="1" dirty="0">
                <a:solidFill>
                  <a:srgbClr val="34D399"/>
                </a:solidFill>
                <a:latin typeface="Calibri" pitchFamily="34" charset="0"/>
                <a:ea typeface="Calibri" pitchFamily="34" charset="-122"/>
                <a:cs typeface="Calibri" pitchFamily="34" charset="-120"/>
              </a:rPr>
              <a:t>RECOMMENDATION:  APPROVE  —  conditional on measured Year-1 savings and a vendor performance guarantee</a:t>
            </a:r>
            <a:endParaRPr lang="en-US" sz="1350" dirty="0"/>
          </a:p>
        </p:txBody>
      </p:sp>
      <p:sp>
        <p:nvSpPr>
          <p:cNvPr id="22" name="Text 20"/>
          <p:cNvSpPr/>
          <p:nvPr/>
        </p:nvSpPr>
        <p:spPr>
          <a:xfrm>
            <a:off x="566928" y="5989320"/>
            <a:ext cx="11057839" cy="274320"/>
          </a:xfrm>
          <a:prstGeom prst="rect">
            <a:avLst/>
          </a:prstGeom>
          <a:noFill/>
          <a:ln/>
        </p:spPr>
        <p:txBody>
          <a:bodyPr wrap="square" lIns="0" tIns="0" rIns="0" bIns="0" rtlCol="0" anchor="ctr"/>
          <a:lstStyle/>
          <a:p>
            <a:pPr algn="ctr" indent="0" marL="0">
              <a:buNone/>
            </a:pPr>
            <a:r>
              <a:rPr lang="en-US" sz="1100" dirty="0">
                <a:solidFill>
                  <a:srgbClr val="94A3B8"/>
                </a:solidFill>
                <a:latin typeface="Calibri" pitchFamily="34" charset="0"/>
                <a:ea typeface="Calibri" pitchFamily="34" charset="-122"/>
                <a:cs typeface="Calibri" pitchFamily="34" charset="-120"/>
              </a:rPr>
              <a:t>Deterministic finance engine  ·  10 AI capabilities  ·  8 investment archetypes</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A2E"/>
        </a:solidFill>
      </p:bgPr>
    </p:bg>
    <p:spTree>
      <p:nvGrpSpPr>
        <p:cNvPr id="1" name=""/>
        <p:cNvGrpSpPr/>
        <p:nvPr/>
      </p:nvGrpSpPr>
      <p:grpSpPr>
        <a:xfrm>
          <a:off x="0" y="0"/>
          <a:ext cx="0" cy="0"/>
          <a:chOff x="0" y="0"/>
          <a:chExt cx="0" cy="0"/>
        </a:xfrm>
      </p:grpSpPr>
      <p:sp>
        <p:nvSpPr>
          <p:cNvPr id="2" name="Text 0"/>
          <p:cNvSpPr/>
          <p:nvPr/>
        </p:nvSpPr>
        <p:spPr>
          <a:xfrm>
            <a:off x="566928" y="310896"/>
            <a:ext cx="8680399" cy="237744"/>
          </a:xfrm>
          <a:prstGeom prst="rect">
            <a:avLst/>
          </a:prstGeom>
          <a:noFill/>
          <a:ln/>
        </p:spPr>
        <p:txBody>
          <a:bodyPr wrap="square" lIns="0" tIns="0" rIns="0" bIns="0" rtlCol="0" anchor="ctr"/>
          <a:lstStyle/>
          <a:p>
            <a:pPr indent="0" marL="0">
              <a:buNone/>
            </a:pPr>
            <a:r>
              <a:rPr lang="en-US" sz="1100" b="1" spc="200" kern="0" dirty="0">
                <a:solidFill>
                  <a:srgbClr val="22D3EE"/>
                </a:solidFill>
                <a:latin typeface="Calibri" pitchFamily="34" charset="0"/>
                <a:ea typeface="Calibri" pitchFamily="34" charset="-122"/>
                <a:cs typeface="Calibri" pitchFamily="34" charset="-120"/>
              </a:rPr>
              <a:t>THE DECISION</a:t>
            </a:r>
            <a:endParaRPr lang="en-US" sz="1100" dirty="0"/>
          </a:p>
        </p:txBody>
      </p:sp>
      <p:sp>
        <p:nvSpPr>
          <p:cNvPr id="3" name="Text 1"/>
          <p:cNvSpPr/>
          <p:nvPr/>
        </p:nvSpPr>
        <p:spPr>
          <a:xfrm>
            <a:off x="566928" y="548640"/>
            <a:ext cx="8680399" cy="566928"/>
          </a:xfrm>
          <a:prstGeom prst="rect">
            <a:avLst/>
          </a:prstGeom>
          <a:noFill/>
          <a:ln/>
        </p:spPr>
        <p:txBody>
          <a:bodyPr wrap="square" lIns="0" tIns="0" rIns="0" bIns="0" rtlCol="0" anchor="ctr"/>
          <a:lstStyle/>
          <a:p>
            <a:pPr indent="0" marL="0">
              <a:buNone/>
            </a:pPr>
            <a:r>
              <a:rPr lang="en-US" sz="3000" b="1" dirty="0">
                <a:solidFill>
                  <a:srgbClr val="F8FAFC"/>
                </a:solidFill>
                <a:latin typeface="Cambria" pitchFamily="34" charset="0"/>
                <a:ea typeface="Cambria" pitchFamily="34" charset="-122"/>
                <a:cs typeface="Cambria" pitchFamily="34" charset="-120"/>
              </a:rPr>
              <a:t>Automate fulfilment, or keep picking by hand</a:t>
            </a:r>
            <a:endParaRPr lang="en-US" sz="3000" dirty="0"/>
          </a:p>
        </p:txBody>
      </p:sp>
      <p:sp>
        <p:nvSpPr>
          <p:cNvPr id="4" name="Shape 2"/>
          <p:cNvSpPr/>
          <p:nvPr/>
        </p:nvSpPr>
        <p:spPr>
          <a:xfrm>
            <a:off x="9475927" y="384048"/>
            <a:ext cx="2148840" cy="384048"/>
          </a:xfrm>
          <a:prstGeom prst="roundRect">
            <a:avLst>
              <a:gd name="adj" fmla="val 50000"/>
            </a:avLst>
          </a:prstGeom>
          <a:solidFill>
            <a:srgbClr val="13314E"/>
          </a:solidFill>
          <a:ln w="12700">
            <a:solidFill>
              <a:srgbClr val="22D3EE"/>
            </a:solidFill>
            <a:prstDash val="solid"/>
          </a:ln>
        </p:spPr>
      </p:sp>
      <p:sp>
        <p:nvSpPr>
          <p:cNvPr id="5" name="Text 3"/>
          <p:cNvSpPr/>
          <p:nvPr/>
        </p:nvSpPr>
        <p:spPr>
          <a:xfrm>
            <a:off x="9475927" y="384048"/>
            <a:ext cx="2148840" cy="384048"/>
          </a:xfrm>
          <a:prstGeom prst="rect">
            <a:avLst/>
          </a:prstGeom>
          <a:noFill/>
          <a:ln/>
        </p:spPr>
        <p:txBody>
          <a:bodyPr wrap="square" lIns="0" tIns="0" rIns="0" bIns="0" rtlCol="0" anchor="ctr"/>
          <a:lstStyle/>
          <a:p>
            <a:pPr algn="ctr" indent="0" marL="0">
              <a:buNone/>
            </a:pPr>
            <a:r>
              <a:rPr lang="en-US" sz="1150" b="1" dirty="0">
                <a:solidFill>
                  <a:srgbClr val="22D3EE"/>
                </a:solidFill>
                <a:latin typeface="Calibri" pitchFamily="34" charset="0"/>
                <a:ea typeface="Calibri" pitchFamily="34" charset="-122"/>
                <a:cs typeface="Calibri" pitchFamily="34" charset="-120"/>
              </a:rPr>
              <a:t>QUESTION 1</a:t>
            </a:r>
            <a:endParaRPr lang="en-US" sz="1150" dirty="0"/>
          </a:p>
        </p:txBody>
      </p:sp>
      <p:sp>
        <p:nvSpPr>
          <p:cNvPr id="6" name="Shape 4"/>
          <p:cNvSpPr/>
          <p:nvPr/>
        </p:nvSpPr>
        <p:spPr>
          <a:xfrm>
            <a:off x="566928" y="1335024"/>
            <a:ext cx="5230368" cy="2011680"/>
          </a:xfrm>
          <a:prstGeom prst="roundRect">
            <a:avLst>
              <a:gd name="adj" fmla="val 4545"/>
            </a:avLst>
          </a:prstGeom>
          <a:solidFill>
            <a:srgbClr val="13314E"/>
          </a:solidFill>
          <a:ln w="12700">
            <a:solidFill>
              <a:srgbClr val="1E4463"/>
            </a:solidFill>
            <a:prstDash val="solid"/>
          </a:ln>
          <a:effectLst>
            <a:outerShdw sx="100000" sy="100000" kx="0" ky="0" algn="bl" rotWithShape="0" blurRad="177800" dist="38100" dir="5400000">
              <a:srgbClr val="000000">
                <a:alpha val="35000"/>
              </a:srgbClr>
            </a:outerShdw>
          </a:effectLst>
        </p:spPr>
      </p:sp>
      <p:sp>
        <p:nvSpPr>
          <p:cNvPr id="7" name="Shape 5"/>
          <p:cNvSpPr/>
          <p:nvPr/>
        </p:nvSpPr>
        <p:spPr>
          <a:xfrm>
            <a:off x="822960" y="1572768"/>
            <a:ext cx="310896" cy="310896"/>
          </a:xfrm>
          <a:prstGeom prst="ellipse">
            <a:avLst/>
          </a:prstGeom>
          <a:solidFill>
            <a:srgbClr val="22D3EE"/>
          </a:solidFill>
          <a:ln w="12700">
            <a:solidFill>
              <a:srgbClr val="22D3EE"/>
            </a:solidFill>
            <a:prstDash val="solid"/>
          </a:ln>
        </p:spPr>
      </p:sp>
      <p:sp>
        <p:nvSpPr>
          <p:cNvPr id="8" name="Text 6"/>
          <p:cNvSpPr/>
          <p:nvPr/>
        </p:nvSpPr>
        <p:spPr>
          <a:xfrm>
            <a:off x="822960" y="1572768"/>
            <a:ext cx="310896" cy="310896"/>
          </a:xfrm>
          <a:prstGeom prst="rect">
            <a:avLst/>
          </a:prstGeom>
          <a:noFill/>
          <a:ln/>
        </p:spPr>
        <p:txBody>
          <a:bodyPr wrap="square" lIns="0" tIns="0" rIns="0" bIns="0" rtlCol="0" anchor="ctr"/>
          <a:lstStyle/>
          <a:p>
            <a:pPr algn="ctr" indent="0" marL="0">
              <a:buNone/>
            </a:pPr>
            <a:r>
              <a:rPr lang="en-US" sz="1300" b="1" dirty="0">
                <a:solidFill>
                  <a:srgbClr val="0B1A2E"/>
                </a:solidFill>
                <a:latin typeface="Calibri" pitchFamily="34" charset="0"/>
                <a:ea typeface="Calibri" pitchFamily="34" charset="-122"/>
                <a:cs typeface="Calibri" pitchFamily="34" charset="-120"/>
              </a:rPr>
              <a:t>!</a:t>
            </a:r>
            <a:endParaRPr lang="en-US" sz="1300" dirty="0"/>
          </a:p>
        </p:txBody>
      </p:sp>
      <p:sp>
        <p:nvSpPr>
          <p:cNvPr id="9" name="Text 7"/>
          <p:cNvSpPr/>
          <p:nvPr/>
        </p:nvSpPr>
        <p:spPr>
          <a:xfrm>
            <a:off x="1261872" y="1554480"/>
            <a:ext cx="4206240" cy="310896"/>
          </a:xfrm>
          <a:prstGeom prst="rect">
            <a:avLst/>
          </a:prstGeom>
          <a:noFill/>
          <a:ln/>
        </p:spPr>
        <p:txBody>
          <a:bodyPr wrap="square" lIns="0" tIns="0" rIns="0" bIns="0" rtlCol="0" anchor="ctr"/>
          <a:lstStyle/>
          <a:p>
            <a:pPr indent="0" marL="0">
              <a:buNone/>
            </a:pPr>
            <a:r>
              <a:rPr lang="en-US" sz="1450" b="1" dirty="0">
                <a:solidFill>
                  <a:srgbClr val="F8FAFC"/>
                </a:solidFill>
                <a:latin typeface="Calibri" pitchFamily="34" charset="0"/>
                <a:ea typeface="Calibri" pitchFamily="34" charset="-122"/>
                <a:cs typeface="Calibri" pitchFamily="34" charset="-120"/>
              </a:rPr>
              <a:t>The operating problem</a:t>
            </a:r>
            <a:endParaRPr lang="en-US" sz="1450" dirty="0"/>
          </a:p>
        </p:txBody>
      </p:sp>
      <p:sp>
        <p:nvSpPr>
          <p:cNvPr id="10" name="Text 8"/>
          <p:cNvSpPr/>
          <p:nvPr/>
        </p:nvSpPr>
        <p:spPr>
          <a:xfrm>
            <a:off x="841248" y="1975104"/>
            <a:ext cx="4700016" cy="1243584"/>
          </a:xfrm>
          <a:prstGeom prst="rect">
            <a:avLst/>
          </a:prstGeom>
          <a:noFill/>
          <a:ln/>
        </p:spPr>
        <p:txBody>
          <a:bodyPr wrap="square" lIns="0" tIns="0" rIns="0" bIns="0" rtlCol="0" anchor="ctr"/>
          <a:lstStyle/>
          <a:p>
            <a:pPr indent="0" marL="0">
              <a:lnSpc>
                <a:spcPts val="1700"/>
              </a:lnSpc>
              <a:buNone/>
            </a:pPr>
            <a:r>
              <a:rPr lang="en-US" sz="1200" b="1" dirty="0">
                <a:solidFill>
                  <a:srgbClr val="F87171"/>
                </a:solidFill>
                <a:latin typeface="Calibri" pitchFamily="34" charset="0"/>
                <a:ea typeface="Calibri" pitchFamily="34" charset="-122"/>
                <a:cs typeface="Calibri" pitchFamily="34" charset="-120"/>
              </a:rPr>
              <a:t>AED 14.50 </a:t>
            </a:r>
            <a:pPr indent="0" marL="0">
              <a:lnSpc>
                <a:spcPts val="1700"/>
              </a:lnSpc>
              <a:buNone/>
            </a:pPr>
            <a:r>
              <a:rPr lang="en-US" sz="1200" dirty="0">
                <a:solidFill>
                  <a:srgbClr val="CADCFC"/>
                </a:solidFill>
                <a:latin typeface="Calibri" pitchFamily="34" charset="0"/>
                <a:ea typeface="Calibri" pitchFamily="34" charset="-122"/>
                <a:cs typeface="Calibri" pitchFamily="34" charset="-120"/>
              </a:rPr>
              <a:t>direct cost per order, picked manually from store back-rooms</a:t>
            </a:r>
            <a:endParaRPr lang="en-US" sz="1200" dirty="0"/>
          </a:p>
          <a:p>
            <a:pPr indent="0" marL="0">
              <a:lnSpc>
                <a:spcPts val="1700"/>
              </a:lnSpc>
              <a:buNone/>
            </a:pPr>
            <a:r>
              <a:rPr lang="en-US" sz="1200" dirty="0">
                <a:solidFill>
                  <a:srgbClr val="CADCFC"/>
                </a:solidFill>
                <a:latin typeface="Calibri" pitchFamily="34" charset="0"/>
                <a:ea typeface="Calibri" pitchFamily="34" charset="-122"/>
                <a:cs typeface="Calibri" pitchFamily="34" charset="-120"/>
              </a:rPr>
              <a:t>Picking capacity now caps growth in the exact Dubai postcodes where demand is rising fastest</a:t>
            </a:r>
            <a:endParaRPr lang="en-US" sz="1200" dirty="0"/>
          </a:p>
          <a:p>
            <a:pPr indent="0" marL="0">
              <a:lnSpc>
                <a:spcPts val="1700"/>
              </a:lnSpc>
              <a:buNone/>
            </a:pPr>
            <a:r>
              <a:rPr lang="en-US" sz="1200" dirty="0">
                <a:solidFill>
                  <a:srgbClr val="CADCFC"/>
                </a:solidFill>
                <a:latin typeface="Calibri" pitchFamily="34" charset="0"/>
                <a:ea typeface="Calibri" pitchFamily="34" charset="-122"/>
                <a:cs typeface="Calibri" pitchFamily="34" charset="-120"/>
              </a:rPr>
              <a:t>Automation takes cost to </a:t>
            </a:r>
            <a:pPr indent="0" marL="0">
              <a:lnSpc>
                <a:spcPts val="1700"/>
              </a:lnSpc>
              <a:buNone/>
            </a:pPr>
            <a:r>
              <a:rPr lang="en-US" sz="1200" b="1" dirty="0">
                <a:solidFill>
                  <a:srgbClr val="34D399"/>
                </a:solidFill>
                <a:latin typeface="Calibri" pitchFamily="34" charset="0"/>
                <a:ea typeface="Calibri" pitchFamily="34" charset="-122"/>
                <a:cs typeface="Calibri" pitchFamily="34" charset="-120"/>
              </a:rPr>
              <a:t>AED 4.20 </a:t>
            </a:r>
            <a:pPr indent="0" marL="0">
              <a:lnSpc>
                <a:spcPts val="1700"/>
              </a:lnSpc>
              <a:buNone/>
            </a:pPr>
            <a:r>
              <a:rPr lang="en-US" sz="1200" dirty="0">
                <a:solidFill>
                  <a:srgbClr val="CADCFC"/>
                </a:solidFill>
                <a:latin typeface="Calibri" pitchFamily="34" charset="0"/>
                <a:ea typeface="Calibri" pitchFamily="34" charset="-122"/>
                <a:cs typeface="Calibri" pitchFamily="34" charset="-120"/>
              </a:rPr>
              <a:t>and capacity to 8,000 orders a day</a:t>
            </a:r>
            <a:endParaRPr lang="en-US" sz="1200" dirty="0"/>
          </a:p>
        </p:txBody>
      </p:sp>
      <p:sp>
        <p:nvSpPr>
          <p:cNvPr id="11" name="Shape 9"/>
          <p:cNvSpPr/>
          <p:nvPr/>
        </p:nvSpPr>
        <p:spPr>
          <a:xfrm>
            <a:off x="5998464" y="1335024"/>
            <a:ext cx="5626303" cy="2011680"/>
          </a:xfrm>
          <a:prstGeom prst="roundRect">
            <a:avLst>
              <a:gd name="adj" fmla="val 4545"/>
            </a:avLst>
          </a:prstGeom>
          <a:solidFill>
            <a:srgbClr val="13314E"/>
          </a:solidFill>
          <a:ln w="12700">
            <a:solidFill>
              <a:srgbClr val="1E4463"/>
            </a:solidFill>
            <a:prstDash val="solid"/>
          </a:ln>
          <a:effectLst>
            <a:outerShdw sx="100000" sy="100000" kx="0" ky="0" algn="bl" rotWithShape="0" blurRad="177800" dist="38100" dir="5400000">
              <a:srgbClr val="000000">
                <a:alpha val="35000"/>
              </a:srgbClr>
            </a:outerShdw>
          </a:effectLst>
        </p:spPr>
      </p:sp>
      <p:sp>
        <p:nvSpPr>
          <p:cNvPr id="12" name="Shape 10"/>
          <p:cNvSpPr/>
          <p:nvPr/>
        </p:nvSpPr>
        <p:spPr>
          <a:xfrm>
            <a:off x="6254496" y="1572768"/>
            <a:ext cx="310896" cy="310896"/>
          </a:xfrm>
          <a:prstGeom prst="ellipse">
            <a:avLst/>
          </a:prstGeom>
          <a:solidFill>
            <a:srgbClr val="22D3EE"/>
          </a:solidFill>
          <a:ln w="12700">
            <a:solidFill>
              <a:srgbClr val="22D3EE"/>
            </a:solidFill>
            <a:prstDash val="solid"/>
          </a:ln>
        </p:spPr>
      </p:sp>
      <p:sp>
        <p:nvSpPr>
          <p:cNvPr id="13" name="Text 11"/>
          <p:cNvSpPr/>
          <p:nvPr/>
        </p:nvSpPr>
        <p:spPr>
          <a:xfrm>
            <a:off x="6254496" y="1572768"/>
            <a:ext cx="310896" cy="310896"/>
          </a:xfrm>
          <a:prstGeom prst="rect">
            <a:avLst/>
          </a:prstGeom>
          <a:noFill/>
          <a:ln/>
        </p:spPr>
        <p:txBody>
          <a:bodyPr wrap="square" lIns="0" tIns="0" rIns="0" bIns="0" rtlCol="0" anchor="ctr"/>
          <a:lstStyle/>
          <a:p>
            <a:pPr algn="ctr" indent="0" marL="0">
              <a:buNone/>
            </a:pPr>
            <a:r>
              <a:rPr lang="en-US" sz="1300" b="1" dirty="0">
                <a:solidFill>
                  <a:srgbClr val="0B1A2E"/>
                </a:solidFill>
                <a:latin typeface="Calibri" pitchFamily="34" charset="0"/>
                <a:ea typeface="Calibri" pitchFamily="34" charset="-122"/>
                <a:cs typeface="Calibri" pitchFamily="34" charset="-120"/>
              </a:rPr>
              <a:t>?</a:t>
            </a:r>
            <a:endParaRPr lang="en-US" sz="1300" dirty="0"/>
          </a:p>
        </p:txBody>
      </p:sp>
      <p:sp>
        <p:nvSpPr>
          <p:cNvPr id="14" name="Text 12"/>
          <p:cNvSpPr/>
          <p:nvPr/>
        </p:nvSpPr>
        <p:spPr>
          <a:xfrm>
            <a:off x="6693408" y="1554480"/>
            <a:ext cx="4572000" cy="310896"/>
          </a:xfrm>
          <a:prstGeom prst="rect">
            <a:avLst/>
          </a:prstGeom>
          <a:noFill/>
          <a:ln/>
        </p:spPr>
        <p:txBody>
          <a:bodyPr wrap="square" lIns="0" tIns="0" rIns="0" bIns="0" rtlCol="0" anchor="ctr"/>
          <a:lstStyle/>
          <a:p>
            <a:pPr indent="0" marL="0">
              <a:buNone/>
            </a:pPr>
            <a:r>
              <a:rPr lang="en-US" sz="1450" b="1" dirty="0">
                <a:solidFill>
                  <a:srgbClr val="F8FAFC"/>
                </a:solidFill>
                <a:latin typeface="Calibri" pitchFamily="34" charset="0"/>
                <a:ea typeface="Calibri" pitchFamily="34" charset="-122"/>
                <a:cs typeface="Calibri" pitchFamily="34" charset="-120"/>
              </a:rPr>
              <a:t>Four mutually exclusive options</a:t>
            </a:r>
            <a:endParaRPr lang="en-US" sz="1450" dirty="0"/>
          </a:p>
        </p:txBody>
      </p:sp>
      <p:sp>
        <p:nvSpPr>
          <p:cNvPr id="15" name="Text 13"/>
          <p:cNvSpPr/>
          <p:nvPr/>
        </p:nvSpPr>
        <p:spPr>
          <a:xfrm>
            <a:off x="6272784" y="2011680"/>
            <a:ext cx="237744" cy="274320"/>
          </a:xfrm>
          <a:prstGeom prst="rect">
            <a:avLst/>
          </a:prstGeom>
          <a:noFill/>
          <a:ln/>
        </p:spPr>
        <p:txBody>
          <a:bodyPr wrap="square" lIns="0" tIns="0" rIns="0" bIns="0" rtlCol="0" anchor="ctr"/>
          <a:lstStyle/>
          <a:p>
            <a:pPr indent="0" marL="0">
              <a:buNone/>
            </a:pPr>
            <a:r>
              <a:rPr lang="en-US" sz="1150" b="1" dirty="0">
                <a:solidFill>
                  <a:srgbClr val="22D3EE"/>
                </a:solidFill>
                <a:latin typeface="Calibri" pitchFamily="34" charset="0"/>
                <a:ea typeface="Calibri" pitchFamily="34" charset="-122"/>
                <a:cs typeface="Calibri" pitchFamily="34" charset="-120"/>
              </a:rPr>
              <a:t>1</a:t>
            </a:r>
            <a:endParaRPr lang="en-US" sz="1150" dirty="0"/>
          </a:p>
        </p:txBody>
      </p:sp>
      <p:sp>
        <p:nvSpPr>
          <p:cNvPr id="16" name="Text 14"/>
          <p:cNvSpPr/>
          <p:nvPr/>
        </p:nvSpPr>
        <p:spPr>
          <a:xfrm>
            <a:off x="6565392" y="2011680"/>
            <a:ext cx="4663440" cy="274320"/>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Commit the full AED 24.0M now</a:t>
            </a:r>
            <a:endParaRPr lang="en-US" sz="1200" dirty="0"/>
          </a:p>
        </p:txBody>
      </p:sp>
      <p:sp>
        <p:nvSpPr>
          <p:cNvPr id="17" name="Text 15"/>
          <p:cNvSpPr/>
          <p:nvPr/>
        </p:nvSpPr>
        <p:spPr>
          <a:xfrm>
            <a:off x="6272784" y="2331720"/>
            <a:ext cx="237744" cy="274320"/>
          </a:xfrm>
          <a:prstGeom prst="rect">
            <a:avLst/>
          </a:prstGeom>
          <a:noFill/>
          <a:ln/>
        </p:spPr>
        <p:txBody>
          <a:bodyPr wrap="square" lIns="0" tIns="0" rIns="0" bIns="0" rtlCol="0" anchor="ctr"/>
          <a:lstStyle/>
          <a:p>
            <a:pPr indent="0" marL="0">
              <a:buNone/>
            </a:pPr>
            <a:r>
              <a:rPr lang="en-US" sz="1150" b="1" dirty="0">
                <a:solidFill>
                  <a:srgbClr val="22D3EE"/>
                </a:solidFill>
                <a:latin typeface="Calibri" pitchFamily="34" charset="0"/>
                <a:ea typeface="Calibri" pitchFamily="34" charset="-122"/>
                <a:cs typeface="Calibri" pitchFamily="34" charset="-120"/>
              </a:rPr>
              <a:t>2</a:t>
            </a:r>
            <a:endParaRPr lang="en-US" sz="1150" dirty="0"/>
          </a:p>
        </p:txBody>
      </p:sp>
      <p:sp>
        <p:nvSpPr>
          <p:cNvPr id="18" name="Text 16"/>
          <p:cNvSpPr/>
          <p:nvPr/>
        </p:nvSpPr>
        <p:spPr>
          <a:xfrm>
            <a:off x="6565392" y="2331720"/>
            <a:ext cx="4663440" cy="274320"/>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Release AED 14.0M, gate AED 10.0M on Year-1 savings</a:t>
            </a:r>
            <a:endParaRPr lang="en-US" sz="1200" dirty="0"/>
          </a:p>
        </p:txBody>
      </p:sp>
      <p:sp>
        <p:nvSpPr>
          <p:cNvPr id="19" name="Text 17"/>
          <p:cNvSpPr/>
          <p:nvPr/>
        </p:nvSpPr>
        <p:spPr>
          <a:xfrm>
            <a:off x="6272784" y="2651760"/>
            <a:ext cx="237744" cy="274320"/>
          </a:xfrm>
          <a:prstGeom prst="rect">
            <a:avLst/>
          </a:prstGeom>
          <a:noFill/>
          <a:ln/>
        </p:spPr>
        <p:txBody>
          <a:bodyPr wrap="square" lIns="0" tIns="0" rIns="0" bIns="0" rtlCol="0" anchor="ctr"/>
          <a:lstStyle/>
          <a:p>
            <a:pPr indent="0" marL="0">
              <a:buNone/>
            </a:pPr>
            <a:r>
              <a:rPr lang="en-US" sz="1150" b="1" dirty="0">
                <a:solidFill>
                  <a:srgbClr val="22D3EE"/>
                </a:solidFill>
                <a:latin typeface="Calibri" pitchFamily="34" charset="0"/>
                <a:ea typeface="Calibri" pitchFamily="34" charset="-122"/>
                <a:cs typeface="Calibri" pitchFamily="34" charset="-120"/>
              </a:rPr>
              <a:t>3</a:t>
            </a:r>
            <a:endParaRPr lang="en-US" sz="1150" dirty="0"/>
          </a:p>
        </p:txBody>
      </p:sp>
      <p:sp>
        <p:nvSpPr>
          <p:cNvPr id="20" name="Text 18"/>
          <p:cNvSpPr/>
          <p:nvPr/>
        </p:nvSpPr>
        <p:spPr>
          <a:xfrm>
            <a:off x="6565392" y="2651760"/>
            <a:ext cx="4663440" cy="274320"/>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Defer 12 months pending vendor evidence</a:t>
            </a:r>
            <a:endParaRPr lang="en-US" sz="1200" dirty="0"/>
          </a:p>
        </p:txBody>
      </p:sp>
      <p:sp>
        <p:nvSpPr>
          <p:cNvPr id="21" name="Text 19"/>
          <p:cNvSpPr/>
          <p:nvPr/>
        </p:nvSpPr>
        <p:spPr>
          <a:xfrm>
            <a:off x="6272784" y="2971800"/>
            <a:ext cx="237744" cy="274320"/>
          </a:xfrm>
          <a:prstGeom prst="rect">
            <a:avLst/>
          </a:prstGeom>
          <a:noFill/>
          <a:ln/>
        </p:spPr>
        <p:txBody>
          <a:bodyPr wrap="square" lIns="0" tIns="0" rIns="0" bIns="0" rtlCol="0" anchor="ctr"/>
          <a:lstStyle/>
          <a:p>
            <a:pPr indent="0" marL="0">
              <a:buNone/>
            </a:pPr>
            <a:r>
              <a:rPr lang="en-US" sz="1150" b="1" dirty="0">
                <a:solidFill>
                  <a:srgbClr val="22D3EE"/>
                </a:solidFill>
                <a:latin typeface="Calibri" pitchFamily="34" charset="0"/>
                <a:ea typeface="Calibri" pitchFamily="34" charset="-122"/>
                <a:cs typeface="Calibri" pitchFamily="34" charset="-120"/>
              </a:rPr>
              <a:t>4</a:t>
            </a:r>
            <a:endParaRPr lang="en-US" sz="1150" dirty="0"/>
          </a:p>
        </p:txBody>
      </p:sp>
      <p:sp>
        <p:nvSpPr>
          <p:cNvPr id="22" name="Text 20"/>
          <p:cNvSpPr/>
          <p:nvPr/>
        </p:nvSpPr>
        <p:spPr>
          <a:xfrm>
            <a:off x="6565392" y="2971800"/>
            <a:ext cx="4663440" cy="274320"/>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Reject and retain manual fulfilment</a:t>
            </a:r>
            <a:endParaRPr lang="en-US" sz="1200" dirty="0"/>
          </a:p>
        </p:txBody>
      </p:sp>
      <p:sp>
        <p:nvSpPr>
          <p:cNvPr id="23" name="Shape 21"/>
          <p:cNvSpPr/>
          <p:nvPr/>
        </p:nvSpPr>
        <p:spPr>
          <a:xfrm>
            <a:off x="566928" y="3529584"/>
            <a:ext cx="11057839" cy="1188720"/>
          </a:xfrm>
          <a:prstGeom prst="roundRect">
            <a:avLst>
              <a:gd name="adj" fmla="val 7692"/>
            </a:avLst>
          </a:prstGeom>
          <a:solidFill>
            <a:srgbClr val="0F2740"/>
          </a:solidFill>
          <a:ln w="12700">
            <a:solidFill>
              <a:srgbClr val="1E4463"/>
            </a:solidFill>
            <a:prstDash val="solid"/>
          </a:ln>
          <a:effectLst>
            <a:outerShdw sx="100000" sy="100000" kx="0" ky="0" algn="bl" rotWithShape="0" blurRad="177800" dist="38100" dir="5400000">
              <a:srgbClr val="000000">
                <a:alpha val="35000"/>
              </a:srgbClr>
            </a:outerShdw>
          </a:effectLst>
        </p:spPr>
      </p:sp>
      <p:sp>
        <p:nvSpPr>
          <p:cNvPr id="24" name="Text 22"/>
          <p:cNvSpPr/>
          <p:nvPr/>
        </p:nvSpPr>
        <p:spPr>
          <a:xfrm>
            <a:off x="841248" y="3657600"/>
            <a:ext cx="2743200" cy="274320"/>
          </a:xfrm>
          <a:prstGeom prst="rect">
            <a:avLst/>
          </a:prstGeom>
          <a:noFill/>
          <a:ln/>
        </p:spPr>
        <p:txBody>
          <a:bodyPr wrap="square" lIns="0" tIns="0" rIns="0" bIns="0" rtlCol="0" anchor="ctr"/>
          <a:lstStyle/>
          <a:p>
            <a:pPr indent="0" marL="0">
              <a:buNone/>
            </a:pPr>
            <a:r>
              <a:rPr lang="en-US" sz="1450" b="1" dirty="0">
                <a:solidFill>
                  <a:srgbClr val="22D3EE"/>
                </a:solidFill>
                <a:latin typeface="Calibri" pitchFamily="34" charset="0"/>
                <a:ea typeface="Calibri" pitchFamily="34" charset="-122"/>
                <a:cs typeface="Calibri" pitchFamily="34" charset="-120"/>
              </a:rPr>
              <a:t>Why it matters</a:t>
            </a:r>
            <a:endParaRPr lang="en-US" sz="1450" dirty="0"/>
          </a:p>
        </p:txBody>
      </p:sp>
      <p:sp>
        <p:nvSpPr>
          <p:cNvPr id="25" name="Text 23"/>
          <p:cNvSpPr/>
          <p:nvPr/>
        </p:nvSpPr>
        <p:spPr>
          <a:xfrm>
            <a:off x="841248" y="3968496"/>
            <a:ext cx="10509199" cy="658368"/>
          </a:xfrm>
          <a:prstGeom prst="rect">
            <a:avLst/>
          </a:prstGeom>
          <a:noFill/>
          <a:ln/>
        </p:spPr>
        <p:txBody>
          <a:bodyPr wrap="square" lIns="0" tIns="0" rIns="0" bIns="0" rtlCol="0" anchor="ctr"/>
          <a:lstStyle/>
          <a:p>
            <a:pPr indent="0" marL="0">
              <a:buNone/>
            </a:pPr>
            <a:r>
              <a:rPr lang="en-US" sz="1300" dirty="0">
                <a:solidFill>
                  <a:srgbClr val="CADCFC"/>
                </a:solidFill>
                <a:latin typeface="Calibri" pitchFamily="34" charset="0"/>
                <a:ea typeface="Calibri" pitchFamily="34" charset="-122"/>
                <a:cs typeface="Calibri" pitchFamily="34" charset="-120"/>
              </a:rPr>
              <a:t>AED 24.0M is a material share of the annual capital budget, the assets are highly specific and hard to redeploy, and the error is asymmetric in both directions — approving a weak case strands capital in illiquid robotics, while rejecting a strong one forfeits a defensible position in a market that is consolidating.</a:t>
            </a:r>
            <a:endParaRPr lang="en-US" sz="1300" dirty="0"/>
          </a:p>
        </p:txBody>
      </p:sp>
      <p:sp>
        <p:nvSpPr>
          <p:cNvPr id="26" name="Shape 24"/>
          <p:cNvSpPr/>
          <p:nvPr/>
        </p:nvSpPr>
        <p:spPr>
          <a:xfrm>
            <a:off x="566928" y="4901184"/>
            <a:ext cx="2613584" cy="1133856"/>
          </a:xfrm>
          <a:prstGeom prst="roundRect">
            <a:avLst>
              <a:gd name="adj" fmla="val 8065"/>
            </a:avLst>
          </a:prstGeom>
          <a:solidFill>
            <a:srgbClr val="13314E"/>
          </a:solidFill>
          <a:ln w="12700">
            <a:solidFill>
              <a:srgbClr val="1E4463"/>
            </a:solidFill>
            <a:prstDash val="solid"/>
          </a:ln>
          <a:effectLst>
            <a:outerShdw sx="100000" sy="100000" kx="0" ky="0" algn="bl" rotWithShape="0" blurRad="177800" dist="38100" dir="5400000">
              <a:srgbClr val="000000">
                <a:alpha val="35000"/>
              </a:srgbClr>
            </a:outerShdw>
          </a:effectLst>
        </p:spPr>
      </p:sp>
      <p:sp>
        <p:nvSpPr>
          <p:cNvPr id="27" name="Text 25"/>
          <p:cNvSpPr/>
          <p:nvPr/>
        </p:nvSpPr>
        <p:spPr>
          <a:xfrm>
            <a:off x="585216" y="5029200"/>
            <a:ext cx="2577008" cy="566928"/>
          </a:xfrm>
          <a:prstGeom prst="rect">
            <a:avLst/>
          </a:prstGeom>
          <a:noFill/>
          <a:ln/>
        </p:spPr>
        <p:txBody>
          <a:bodyPr wrap="square" lIns="0" tIns="0" rIns="0" bIns="0" rtlCol="0" anchor="ctr"/>
          <a:lstStyle/>
          <a:p>
            <a:pPr algn="ctr" indent="0" marL="0">
              <a:buNone/>
            </a:pPr>
            <a:r>
              <a:rPr lang="en-US" sz="2700" b="1" dirty="0">
                <a:solidFill>
                  <a:srgbClr val="F8FAFC"/>
                </a:solidFill>
                <a:latin typeface="Cambria" pitchFamily="34" charset="0"/>
                <a:ea typeface="Cambria" pitchFamily="34" charset="-122"/>
                <a:cs typeface="Cambria" pitchFamily="34" charset="-120"/>
              </a:rPr>
              <a:t>AED 22.0M</a:t>
            </a:r>
            <a:endParaRPr lang="en-US" sz="2700" dirty="0"/>
          </a:p>
        </p:txBody>
      </p:sp>
      <p:sp>
        <p:nvSpPr>
          <p:cNvPr id="28" name="Text 26"/>
          <p:cNvSpPr/>
          <p:nvPr/>
        </p:nvSpPr>
        <p:spPr>
          <a:xfrm>
            <a:off x="585216" y="5614416"/>
            <a:ext cx="2577008" cy="310896"/>
          </a:xfrm>
          <a:prstGeom prst="rect">
            <a:avLst/>
          </a:prstGeom>
          <a:noFill/>
          <a:ln/>
        </p:spPr>
        <p:txBody>
          <a:bodyPr wrap="square" lIns="0" tIns="0" rIns="0" bIns="0" rtlCol="0" anchor="ctr"/>
          <a:lstStyle/>
          <a:p>
            <a:pPr algn="ctr" indent="0" marL="0">
              <a:buNone/>
            </a:pPr>
            <a:r>
              <a:rPr lang="en-US" sz="1050" dirty="0">
                <a:solidFill>
                  <a:srgbClr val="94A3B8"/>
                </a:solidFill>
                <a:latin typeface="Calibri" pitchFamily="34" charset="0"/>
                <a:ea typeface="Calibri" pitchFamily="34" charset="-122"/>
                <a:cs typeface="Calibri" pitchFamily="34" charset="-120"/>
              </a:rPr>
              <a:t>Capital expenditure</a:t>
            </a:r>
            <a:endParaRPr lang="en-US" sz="1050" dirty="0"/>
          </a:p>
        </p:txBody>
      </p:sp>
      <p:sp>
        <p:nvSpPr>
          <p:cNvPr id="29" name="Shape 27"/>
          <p:cNvSpPr/>
          <p:nvPr/>
        </p:nvSpPr>
        <p:spPr>
          <a:xfrm>
            <a:off x="3381680" y="4901184"/>
            <a:ext cx="2613584" cy="1133856"/>
          </a:xfrm>
          <a:prstGeom prst="roundRect">
            <a:avLst>
              <a:gd name="adj" fmla="val 8065"/>
            </a:avLst>
          </a:prstGeom>
          <a:solidFill>
            <a:srgbClr val="13314E"/>
          </a:solidFill>
          <a:ln w="12700">
            <a:solidFill>
              <a:srgbClr val="1E4463"/>
            </a:solidFill>
            <a:prstDash val="solid"/>
          </a:ln>
          <a:effectLst>
            <a:outerShdw sx="100000" sy="100000" kx="0" ky="0" algn="bl" rotWithShape="0" blurRad="177800" dist="38100" dir="5400000">
              <a:srgbClr val="000000">
                <a:alpha val="35000"/>
              </a:srgbClr>
            </a:outerShdw>
          </a:effectLst>
        </p:spPr>
      </p:sp>
      <p:sp>
        <p:nvSpPr>
          <p:cNvPr id="30" name="Text 28"/>
          <p:cNvSpPr/>
          <p:nvPr/>
        </p:nvSpPr>
        <p:spPr>
          <a:xfrm>
            <a:off x="3399968" y="5029200"/>
            <a:ext cx="2577008" cy="566928"/>
          </a:xfrm>
          <a:prstGeom prst="rect">
            <a:avLst/>
          </a:prstGeom>
          <a:noFill/>
          <a:ln/>
        </p:spPr>
        <p:txBody>
          <a:bodyPr wrap="square" lIns="0" tIns="0" rIns="0" bIns="0" rtlCol="0" anchor="ctr"/>
          <a:lstStyle/>
          <a:p>
            <a:pPr algn="ctr" indent="0" marL="0">
              <a:buNone/>
            </a:pPr>
            <a:r>
              <a:rPr lang="en-US" sz="2700" b="1" dirty="0">
                <a:solidFill>
                  <a:srgbClr val="F8FAFC"/>
                </a:solidFill>
                <a:latin typeface="Cambria" pitchFamily="34" charset="0"/>
                <a:ea typeface="Cambria" pitchFamily="34" charset="-122"/>
                <a:cs typeface="Cambria" pitchFamily="34" charset="-120"/>
              </a:rPr>
              <a:t>AED 2.0M</a:t>
            </a:r>
            <a:endParaRPr lang="en-US" sz="2700" dirty="0"/>
          </a:p>
        </p:txBody>
      </p:sp>
      <p:sp>
        <p:nvSpPr>
          <p:cNvPr id="31" name="Text 29"/>
          <p:cNvSpPr/>
          <p:nvPr/>
        </p:nvSpPr>
        <p:spPr>
          <a:xfrm>
            <a:off x="3399968" y="5614416"/>
            <a:ext cx="2577008" cy="310896"/>
          </a:xfrm>
          <a:prstGeom prst="rect">
            <a:avLst/>
          </a:prstGeom>
          <a:noFill/>
          <a:ln/>
        </p:spPr>
        <p:txBody>
          <a:bodyPr wrap="square" lIns="0" tIns="0" rIns="0" bIns="0" rtlCol="0" anchor="ctr"/>
          <a:lstStyle/>
          <a:p>
            <a:pPr algn="ctr" indent="0" marL="0">
              <a:buNone/>
            </a:pPr>
            <a:r>
              <a:rPr lang="en-US" sz="1050" dirty="0">
                <a:solidFill>
                  <a:srgbClr val="94A3B8"/>
                </a:solidFill>
                <a:latin typeface="Calibri" pitchFamily="34" charset="0"/>
                <a:ea typeface="Calibri" pitchFamily="34" charset="-122"/>
                <a:cs typeface="Calibri" pitchFamily="34" charset="-120"/>
              </a:rPr>
              <a:t>Working capital</a:t>
            </a:r>
            <a:endParaRPr lang="en-US" sz="1050" dirty="0"/>
          </a:p>
        </p:txBody>
      </p:sp>
      <p:sp>
        <p:nvSpPr>
          <p:cNvPr id="32" name="Shape 30"/>
          <p:cNvSpPr/>
          <p:nvPr/>
        </p:nvSpPr>
        <p:spPr>
          <a:xfrm>
            <a:off x="6196432" y="4901184"/>
            <a:ext cx="2613584" cy="1133856"/>
          </a:xfrm>
          <a:prstGeom prst="roundRect">
            <a:avLst>
              <a:gd name="adj" fmla="val 8065"/>
            </a:avLst>
          </a:prstGeom>
          <a:solidFill>
            <a:srgbClr val="13314E"/>
          </a:solidFill>
          <a:ln w="12700">
            <a:solidFill>
              <a:srgbClr val="1E4463"/>
            </a:solidFill>
            <a:prstDash val="solid"/>
          </a:ln>
          <a:effectLst>
            <a:outerShdw sx="100000" sy="100000" kx="0" ky="0" algn="bl" rotWithShape="0" blurRad="177800" dist="38100" dir="5400000">
              <a:srgbClr val="000000">
                <a:alpha val="35000"/>
              </a:srgbClr>
            </a:outerShdw>
          </a:effectLst>
        </p:spPr>
      </p:sp>
      <p:sp>
        <p:nvSpPr>
          <p:cNvPr id="33" name="Text 31"/>
          <p:cNvSpPr/>
          <p:nvPr/>
        </p:nvSpPr>
        <p:spPr>
          <a:xfrm>
            <a:off x="6214720" y="5029200"/>
            <a:ext cx="2577008" cy="566928"/>
          </a:xfrm>
          <a:prstGeom prst="rect">
            <a:avLst/>
          </a:prstGeom>
          <a:noFill/>
          <a:ln/>
        </p:spPr>
        <p:txBody>
          <a:bodyPr wrap="square" lIns="0" tIns="0" rIns="0" bIns="0" rtlCol="0" anchor="ctr"/>
          <a:lstStyle/>
          <a:p>
            <a:pPr algn="ctr" indent="0" marL="0">
              <a:buNone/>
            </a:pPr>
            <a:r>
              <a:rPr lang="en-US" sz="2700" b="1" dirty="0">
                <a:solidFill>
                  <a:srgbClr val="F8FAFC"/>
                </a:solidFill>
                <a:latin typeface="Cambria" pitchFamily="34" charset="0"/>
                <a:ea typeface="Cambria" pitchFamily="34" charset="-122"/>
                <a:cs typeface="Cambria" pitchFamily="34" charset="-120"/>
              </a:rPr>
              <a:t>6 years</a:t>
            </a:r>
            <a:endParaRPr lang="en-US" sz="2700" dirty="0"/>
          </a:p>
        </p:txBody>
      </p:sp>
      <p:sp>
        <p:nvSpPr>
          <p:cNvPr id="34" name="Text 32"/>
          <p:cNvSpPr/>
          <p:nvPr/>
        </p:nvSpPr>
        <p:spPr>
          <a:xfrm>
            <a:off x="6214720" y="5614416"/>
            <a:ext cx="2577008" cy="310896"/>
          </a:xfrm>
          <a:prstGeom prst="rect">
            <a:avLst/>
          </a:prstGeom>
          <a:noFill/>
          <a:ln/>
        </p:spPr>
        <p:txBody>
          <a:bodyPr wrap="square" lIns="0" tIns="0" rIns="0" bIns="0" rtlCol="0" anchor="ctr"/>
          <a:lstStyle/>
          <a:p>
            <a:pPr algn="ctr" indent="0" marL="0">
              <a:buNone/>
            </a:pPr>
            <a:r>
              <a:rPr lang="en-US" sz="1050" dirty="0">
                <a:solidFill>
                  <a:srgbClr val="94A3B8"/>
                </a:solidFill>
                <a:latin typeface="Calibri" pitchFamily="34" charset="0"/>
                <a:ea typeface="Calibri" pitchFamily="34" charset="-122"/>
                <a:cs typeface="Calibri" pitchFamily="34" charset="-120"/>
              </a:rPr>
              <a:t>Economic life</a:t>
            </a:r>
            <a:endParaRPr lang="en-US" sz="1050" dirty="0"/>
          </a:p>
        </p:txBody>
      </p:sp>
      <p:sp>
        <p:nvSpPr>
          <p:cNvPr id="35" name="Shape 33"/>
          <p:cNvSpPr/>
          <p:nvPr/>
        </p:nvSpPr>
        <p:spPr>
          <a:xfrm>
            <a:off x="9011183" y="4901184"/>
            <a:ext cx="2613584" cy="1133856"/>
          </a:xfrm>
          <a:prstGeom prst="roundRect">
            <a:avLst>
              <a:gd name="adj" fmla="val 8065"/>
            </a:avLst>
          </a:prstGeom>
          <a:solidFill>
            <a:srgbClr val="13314E"/>
          </a:solidFill>
          <a:ln w="12700">
            <a:solidFill>
              <a:srgbClr val="1E4463"/>
            </a:solidFill>
            <a:prstDash val="solid"/>
          </a:ln>
          <a:effectLst>
            <a:outerShdw sx="100000" sy="100000" kx="0" ky="0" algn="bl" rotWithShape="0" blurRad="177800" dist="38100" dir="5400000">
              <a:srgbClr val="000000">
                <a:alpha val="35000"/>
              </a:srgbClr>
            </a:outerShdw>
          </a:effectLst>
        </p:spPr>
      </p:sp>
      <p:sp>
        <p:nvSpPr>
          <p:cNvPr id="36" name="Text 34"/>
          <p:cNvSpPr/>
          <p:nvPr/>
        </p:nvSpPr>
        <p:spPr>
          <a:xfrm>
            <a:off x="9029471" y="5029200"/>
            <a:ext cx="2577008" cy="566928"/>
          </a:xfrm>
          <a:prstGeom prst="rect">
            <a:avLst/>
          </a:prstGeom>
          <a:noFill/>
          <a:ln/>
        </p:spPr>
        <p:txBody>
          <a:bodyPr wrap="square" lIns="0" tIns="0" rIns="0" bIns="0" rtlCol="0" anchor="ctr"/>
          <a:lstStyle/>
          <a:p>
            <a:pPr algn="ctr" indent="0" marL="0">
              <a:buNone/>
            </a:pPr>
            <a:r>
              <a:rPr lang="en-US" sz="2700" b="1" dirty="0">
                <a:solidFill>
                  <a:srgbClr val="F8FAFC"/>
                </a:solidFill>
                <a:latin typeface="Cambria" pitchFamily="34" charset="0"/>
                <a:ea typeface="Cambria" pitchFamily="34" charset="-122"/>
                <a:cs typeface="Cambria" pitchFamily="34" charset="-120"/>
              </a:rPr>
              <a:t>11.50%</a:t>
            </a:r>
            <a:endParaRPr lang="en-US" sz="2700" dirty="0"/>
          </a:p>
        </p:txBody>
      </p:sp>
      <p:sp>
        <p:nvSpPr>
          <p:cNvPr id="37" name="Text 35"/>
          <p:cNvSpPr/>
          <p:nvPr/>
        </p:nvSpPr>
        <p:spPr>
          <a:xfrm>
            <a:off x="9029471" y="5614416"/>
            <a:ext cx="2577008" cy="310896"/>
          </a:xfrm>
          <a:prstGeom prst="rect">
            <a:avLst/>
          </a:prstGeom>
          <a:noFill/>
          <a:ln/>
        </p:spPr>
        <p:txBody>
          <a:bodyPr wrap="square" lIns="0" tIns="0" rIns="0" bIns="0" rtlCol="0" anchor="ctr"/>
          <a:lstStyle/>
          <a:p>
            <a:pPr algn="ctr" indent="0" marL="0">
              <a:buNone/>
            </a:pPr>
            <a:r>
              <a:rPr lang="en-US" sz="1050" dirty="0">
                <a:solidFill>
                  <a:srgbClr val="94A3B8"/>
                </a:solidFill>
                <a:latin typeface="Calibri" pitchFamily="34" charset="0"/>
                <a:ea typeface="Calibri" pitchFamily="34" charset="-122"/>
                <a:cs typeface="Calibri" pitchFamily="34" charset="-120"/>
              </a:rPr>
              <a:t>Hurdle rate (derived)</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A2E"/>
        </a:solidFill>
      </p:bgPr>
    </p:bg>
    <p:spTree>
      <p:nvGrpSpPr>
        <p:cNvPr id="1" name=""/>
        <p:cNvGrpSpPr/>
        <p:nvPr/>
      </p:nvGrpSpPr>
      <p:grpSpPr>
        <a:xfrm>
          <a:off x="0" y="0"/>
          <a:ext cx="0" cy="0"/>
          <a:chOff x="0" y="0"/>
          <a:chExt cx="0" cy="0"/>
        </a:xfrm>
      </p:grpSpPr>
      <p:sp>
        <p:nvSpPr>
          <p:cNvPr id="2" name="Text 0"/>
          <p:cNvSpPr/>
          <p:nvPr/>
        </p:nvSpPr>
        <p:spPr>
          <a:xfrm>
            <a:off x="566928" y="310896"/>
            <a:ext cx="8680399" cy="237744"/>
          </a:xfrm>
          <a:prstGeom prst="rect">
            <a:avLst/>
          </a:prstGeom>
          <a:noFill/>
          <a:ln/>
        </p:spPr>
        <p:txBody>
          <a:bodyPr wrap="square" lIns="0" tIns="0" rIns="0" bIns="0" rtlCol="0" anchor="ctr"/>
          <a:lstStyle/>
          <a:p>
            <a:pPr indent="0" marL="0">
              <a:buNone/>
            </a:pPr>
            <a:r>
              <a:rPr lang="en-US" sz="1100" b="1" spc="200" kern="0" dirty="0">
                <a:solidFill>
                  <a:srgbClr val="22D3EE"/>
                </a:solidFill>
                <a:latin typeface="Calibri" pitchFamily="34" charset="0"/>
                <a:ea typeface="Calibri" pitchFamily="34" charset="-122"/>
                <a:cs typeface="Calibri" pitchFamily="34" charset="-120"/>
              </a:rPr>
              <a:t>CORPORATE FINANCE METHOD</a:t>
            </a:r>
            <a:endParaRPr lang="en-US" sz="1100" dirty="0"/>
          </a:p>
        </p:txBody>
      </p:sp>
      <p:sp>
        <p:nvSpPr>
          <p:cNvPr id="3" name="Text 1"/>
          <p:cNvSpPr/>
          <p:nvPr/>
        </p:nvSpPr>
        <p:spPr>
          <a:xfrm>
            <a:off x="566928" y="548640"/>
            <a:ext cx="8680399" cy="566928"/>
          </a:xfrm>
          <a:prstGeom prst="rect">
            <a:avLst/>
          </a:prstGeom>
          <a:noFill/>
          <a:ln/>
        </p:spPr>
        <p:txBody>
          <a:bodyPr wrap="square" lIns="0" tIns="0" rIns="0" bIns="0" rtlCol="0" anchor="ctr"/>
          <a:lstStyle/>
          <a:p>
            <a:pPr indent="0" marL="0">
              <a:buNone/>
            </a:pPr>
            <a:r>
              <a:rPr lang="en-US" sz="3000" b="1" dirty="0">
                <a:solidFill>
                  <a:srgbClr val="F8FAFC"/>
                </a:solidFill>
                <a:latin typeface="Cambria" pitchFamily="34" charset="0"/>
                <a:ea typeface="Cambria" pitchFamily="34" charset="-122"/>
                <a:cs typeface="Cambria" pitchFamily="34" charset="-120"/>
              </a:rPr>
              <a:t>Five formulas carry the decision</a:t>
            </a:r>
            <a:endParaRPr lang="en-US" sz="3000" dirty="0"/>
          </a:p>
        </p:txBody>
      </p:sp>
      <p:sp>
        <p:nvSpPr>
          <p:cNvPr id="4" name="Shape 2"/>
          <p:cNvSpPr/>
          <p:nvPr/>
        </p:nvSpPr>
        <p:spPr>
          <a:xfrm>
            <a:off x="9475927" y="384048"/>
            <a:ext cx="2148840" cy="384048"/>
          </a:xfrm>
          <a:prstGeom prst="roundRect">
            <a:avLst>
              <a:gd name="adj" fmla="val 50000"/>
            </a:avLst>
          </a:prstGeom>
          <a:solidFill>
            <a:srgbClr val="13314E"/>
          </a:solidFill>
          <a:ln w="12700">
            <a:solidFill>
              <a:srgbClr val="22D3EE"/>
            </a:solidFill>
            <a:prstDash val="solid"/>
          </a:ln>
        </p:spPr>
      </p:sp>
      <p:sp>
        <p:nvSpPr>
          <p:cNvPr id="5" name="Text 3"/>
          <p:cNvSpPr/>
          <p:nvPr/>
        </p:nvSpPr>
        <p:spPr>
          <a:xfrm>
            <a:off x="9475927" y="384048"/>
            <a:ext cx="2148840" cy="384048"/>
          </a:xfrm>
          <a:prstGeom prst="rect">
            <a:avLst/>
          </a:prstGeom>
          <a:noFill/>
          <a:ln/>
        </p:spPr>
        <p:txBody>
          <a:bodyPr wrap="square" lIns="0" tIns="0" rIns="0" bIns="0" rtlCol="0" anchor="ctr"/>
          <a:lstStyle/>
          <a:p>
            <a:pPr algn="ctr" indent="0" marL="0">
              <a:buNone/>
            </a:pPr>
            <a:r>
              <a:rPr lang="en-US" sz="1150" b="1" dirty="0">
                <a:solidFill>
                  <a:srgbClr val="22D3EE"/>
                </a:solidFill>
                <a:latin typeface="Calibri" pitchFamily="34" charset="0"/>
                <a:ea typeface="Calibri" pitchFamily="34" charset="-122"/>
                <a:cs typeface="Calibri" pitchFamily="34" charset="-120"/>
              </a:rPr>
              <a:t>QUESTION 2 · A</a:t>
            </a:r>
            <a:endParaRPr lang="en-US" sz="1150" dirty="0"/>
          </a:p>
        </p:txBody>
      </p:sp>
      <p:sp>
        <p:nvSpPr>
          <p:cNvPr id="6" name="Shape 4"/>
          <p:cNvSpPr/>
          <p:nvPr/>
        </p:nvSpPr>
        <p:spPr>
          <a:xfrm>
            <a:off x="566928" y="1335024"/>
            <a:ext cx="11057839" cy="621792"/>
          </a:xfrm>
          <a:prstGeom prst="roundRect">
            <a:avLst>
              <a:gd name="adj" fmla="val 14706"/>
            </a:avLst>
          </a:prstGeom>
          <a:solidFill>
            <a:srgbClr val="13314E"/>
          </a:solidFill>
          <a:ln w="12700">
            <a:solidFill>
              <a:srgbClr val="1E4463"/>
            </a:solidFill>
            <a:prstDash val="solid"/>
          </a:ln>
          <a:effectLst>
            <a:outerShdw sx="100000" sy="100000" kx="0" ky="0" algn="bl" rotWithShape="0" blurRad="177800" dist="38100" dir="5400000">
              <a:srgbClr val="000000">
                <a:alpha val="35000"/>
              </a:srgbClr>
            </a:outerShdw>
          </a:effectLst>
        </p:spPr>
      </p:sp>
      <p:sp>
        <p:nvSpPr>
          <p:cNvPr id="7" name="Text 5"/>
          <p:cNvSpPr/>
          <p:nvPr/>
        </p:nvSpPr>
        <p:spPr>
          <a:xfrm>
            <a:off x="804672" y="1389888"/>
            <a:ext cx="969264" cy="512064"/>
          </a:xfrm>
          <a:prstGeom prst="rect">
            <a:avLst/>
          </a:prstGeom>
          <a:noFill/>
          <a:ln/>
        </p:spPr>
        <p:txBody>
          <a:bodyPr wrap="square" lIns="0" tIns="0" rIns="0" bIns="0" rtlCol="0" anchor="ctr"/>
          <a:lstStyle/>
          <a:p>
            <a:pPr indent="0" marL="0">
              <a:buNone/>
            </a:pPr>
            <a:r>
              <a:rPr lang="en-US" sz="1600" b="1" dirty="0">
                <a:solidFill>
                  <a:srgbClr val="22D3EE"/>
                </a:solidFill>
                <a:latin typeface="Cambria" pitchFamily="34" charset="0"/>
                <a:ea typeface="Cambria" pitchFamily="34" charset="-122"/>
                <a:cs typeface="Cambria" pitchFamily="34" charset="-120"/>
              </a:rPr>
              <a:t>NPV</a:t>
            </a:r>
            <a:endParaRPr lang="en-US" sz="1600" dirty="0"/>
          </a:p>
        </p:txBody>
      </p:sp>
      <p:sp>
        <p:nvSpPr>
          <p:cNvPr id="8" name="Text 6"/>
          <p:cNvSpPr/>
          <p:nvPr/>
        </p:nvSpPr>
        <p:spPr>
          <a:xfrm>
            <a:off x="1847088" y="1389888"/>
            <a:ext cx="3529584" cy="512064"/>
          </a:xfrm>
          <a:prstGeom prst="rect">
            <a:avLst/>
          </a:prstGeom>
          <a:noFill/>
          <a:ln/>
        </p:spPr>
        <p:txBody>
          <a:bodyPr wrap="square" lIns="0" tIns="0" rIns="0" bIns="0" rtlCol="0" anchor="ctr"/>
          <a:lstStyle/>
          <a:p>
            <a:pPr indent="0" marL="0">
              <a:buNone/>
            </a:pPr>
            <a:r>
              <a:rPr lang="en-US" sz="1200" dirty="0">
                <a:solidFill>
                  <a:srgbClr val="F8FAFC"/>
                </a:solidFill>
                <a:latin typeface="Calibri" pitchFamily="34" charset="0"/>
                <a:ea typeface="Calibri" pitchFamily="34" charset="-122"/>
                <a:cs typeface="Calibri" pitchFamily="34" charset="-120"/>
              </a:rPr>
              <a:t>Σ FCFt ÷ (1 + r)^t</a:t>
            </a:r>
            <a:endParaRPr lang="en-US" sz="1200" dirty="0"/>
          </a:p>
        </p:txBody>
      </p:sp>
      <p:sp>
        <p:nvSpPr>
          <p:cNvPr id="9" name="Text 7"/>
          <p:cNvSpPr/>
          <p:nvPr/>
        </p:nvSpPr>
        <p:spPr>
          <a:xfrm>
            <a:off x="5468112" y="1389888"/>
            <a:ext cx="4480560" cy="512064"/>
          </a:xfrm>
          <a:prstGeom prst="rect">
            <a:avLst/>
          </a:prstGeom>
          <a:noFill/>
          <a:ln/>
        </p:spPr>
        <p:txBody>
          <a:bodyPr wrap="square" lIns="0" tIns="0" rIns="0" bIns="0" rtlCol="0" anchor="ctr"/>
          <a:lstStyle/>
          <a:p>
            <a:pPr indent="0" marL="0">
              <a:buNone/>
            </a:pPr>
            <a:r>
              <a:rPr lang="en-US" sz="1150" dirty="0">
                <a:solidFill>
                  <a:srgbClr val="94A3B8"/>
                </a:solidFill>
                <a:latin typeface="Calibri" pitchFamily="34" charset="0"/>
                <a:ea typeface="Calibri" pitchFamily="34" charset="-122"/>
                <a:cs typeface="Calibri" pitchFamily="34" charset="-120"/>
              </a:rPr>
              <a:t>Accept above zero — the primary rule</a:t>
            </a:r>
            <a:endParaRPr lang="en-US" sz="1150" dirty="0"/>
          </a:p>
        </p:txBody>
      </p:sp>
      <p:sp>
        <p:nvSpPr>
          <p:cNvPr id="10" name="Text 8"/>
          <p:cNvSpPr/>
          <p:nvPr/>
        </p:nvSpPr>
        <p:spPr>
          <a:xfrm>
            <a:off x="10003536" y="1389888"/>
            <a:ext cx="1389888" cy="512064"/>
          </a:xfrm>
          <a:prstGeom prst="rect">
            <a:avLst/>
          </a:prstGeom>
          <a:noFill/>
          <a:ln/>
        </p:spPr>
        <p:txBody>
          <a:bodyPr wrap="square" lIns="0" tIns="0" rIns="0" bIns="0" rtlCol="0" anchor="ctr"/>
          <a:lstStyle/>
          <a:p>
            <a:pPr algn="r" indent="0" marL="0">
              <a:buNone/>
            </a:pPr>
            <a:r>
              <a:rPr lang="en-US" sz="1600" b="1" dirty="0">
                <a:solidFill>
                  <a:srgbClr val="34D399"/>
                </a:solidFill>
                <a:latin typeface="Cambria" pitchFamily="34" charset="0"/>
                <a:ea typeface="Cambria" pitchFamily="34" charset="-122"/>
                <a:cs typeface="Cambria" pitchFamily="34" charset="-120"/>
              </a:rPr>
              <a:t>+AED 12.08M</a:t>
            </a:r>
            <a:endParaRPr lang="en-US" sz="1600" dirty="0"/>
          </a:p>
        </p:txBody>
      </p:sp>
      <p:sp>
        <p:nvSpPr>
          <p:cNvPr id="11" name="Shape 9"/>
          <p:cNvSpPr/>
          <p:nvPr/>
        </p:nvSpPr>
        <p:spPr>
          <a:xfrm>
            <a:off x="566928" y="2057400"/>
            <a:ext cx="11057839" cy="621792"/>
          </a:xfrm>
          <a:prstGeom prst="roundRect">
            <a:avLst>
              <a:gd name="adj" fmla="val 14706"/>
            </a:avLst>
          </a:prstGeom>
          <a:solidFill>
            <a:srgbClr val="0F2740"/>
          </a:solidFill>
          <a:ln w="12700">
            <a:solidFill>
              <a:srgbClr val="1E4463"/>
            </a:solidFill>
            <a:prstDash val="solid"/>
          </a:ln>
          <a:effectLst>
            <a:outerShdw sx="100000" sy="100000" kx="0" ky="0" algn="bl" rotWithShape="0" blurRad="177800" dist="38100" dir="5400000">
              <a:srgbClr val="000000">
                <a:alpha val="35000"/>
              </a:srgbClr>
            </a:outerShdw>
          </a:effectLst>
        </p:spPr>
      </p:sp>
      <p:sp>
        <p:nvSpPr>
          <p:cNvPr id="12" name="Text 10"/>
          <p:cNvSpPr/>
          <p:nvPr/>
        </p:nvSpPr>
        <p:spPr>
          <a:xfrm>
            <a:off x="804672" y="2112264"/>
            <a:ext cx="969264" cy="512064"/>
          </a:xfrm>
          <a:prstGeom prst="rect">
            <a:avLst/>
          </a:prstGeom>
          <a:noFill/>
          <a:ln/>
        </p:spPr>
        <p:txBody>
          <a:bodyPr wrap="square" lIns="0" tIns="0" rIns="0" bIns="0" rtlCol="0" anchor="ctr"/>
          <a:lstStyle/>
          <a:p>
            <a:pPr indent="0" marL="0">
              <a:buNone/>
            </a:pPr>
            <a:r>
              <a:rPr lang="en-US" sz="1600" b="1" dirty="0">
                <a:solidFill>
                  <a:srgbClr val="22D3EE"/>
                </a:solidFill>
                <a:latin typeface="Cambria" pitchFamily="34" charset="0"/>
                <a:ea typeface="Cambria" pitchFamily="34" charset="-122"/>
                <a:cs typeface="Cambria" pitchFamily="34" charset="-120"/>
              </a:rPr>
              <a:t>IRR</a:t>
            </a:r>
            <a:endParaRPr lang="en-US" sz="1600" dirty="0"/>
          </a:p>
        </p:txBody>
      </p:sp>
      <p:sp>
        <p:nvSpPr>
          <p:cNvPr id="13" name="Text 11"/>
          <p:cNvSpPr/>
          <p:nvPr/>
        </p:nvSpPr>
        <p:spPr>
          <a:xfrm>
            <a:off x="1847088" y="2112264"/>
            <a:ext cx="3529584" cy="512064"/>
          </a:xfrm>
          <a:prstGeom prst="rect">
            <a:avLst/>
          </a:prstGeom>
          <a:noFill/>
          <a:ln/>
        </p:spPr>
        <p:txBody>
          <a:bodyPr wrap="square" lIns="0" tIns="0" rIns="0" bIns="0" rtlCol="0" anchor="ctr"/>
          <a:lstStyle/>
          <a:p>
            <a:pPr indent="0" marL="0">
              <a:buNone/>
            </a:pPr>
            <a:r>
              <a:rPr lang="en-US" sz="1200" dirty="0">
                <a:solidFill>
                  <a:srgbClr val="F8FAFC"/>
                </a:solidFill>
                <a:latin typeface="Calibri" pitchFamily="34" charset="0"/>
                <a:ea typeface="Calibri" pitchFamily="34" charset="-122"/>
                <a:cs typeface="Calibri" pitchFamily="34" charset="-120"/>
              </a:rPr>
              <a:t>The rate r* where NPV(r*) = 0</a:t>
            </a:r>
            <a:endParaRPr lang="en-US" sz="1200" dirty="0"/>
          </a:p>
        </p:txBody>
      </p:sp>
      <p:sp>
        <p:nvSpPr>
          <p:cNvPr id="14" name="Text 12"/>
          <p:cNvSpPr/>
          <p:nvPr/>
        </p:nvSpPr>
        <p:spPr>
          <a:xfrm>
            <a:off x="5468112" y="2112264"/>
            <a:ext cx="4480560" cy="512064"/>
          </a:xfrm>
          <a:prstGeom prst="rect">
            <a:avLst/>
          </a:prstGeom>
          <a:noFill/>
          <a:ln/>
        </p:spPr>
        <p:txBody>
          <a:bodyPr wrap="square" lIns="0" tIns="0" rIns="0" bIns="0" rtlCol="0" anchor="ctr"/>
          <a:lstStyle/>
          <a:p>
            <a:pPr indent="0" marL="0">
              <a:buNone/>
            </a:pPr>
            <a:r>
              <a:rPr lang="en-US" sz="1150" dirty="0">
                <a:solidFill>
                  <a:srgbClr val="94A3B8"/>
                </a:solidFill>
                <a:latin typeface="Calibri" pitchFamily="34" charset="0"/>
                <a:ea typeface="Calibri" pitchFamily="34" charset="-122"/>
                <a:cs typeface="Calibri" pitchFamily="34" charset="-120"/>
              </a:rPr>
              <a:t>Accept above the hurdle rate</a:t>
            </a:r>
            <a:endParaRPr lang="en-US" sz="1150" dirty="0"/>
          </a:p>
        </p:txBody>
      </p:sp>
      <p:sp>
        <p:nvSpPr>
          <p:cNvPr id="15" name="Text 13"/>
          <p:cNvSpPr/>
          <p:nvPr/>
        </p:nvSpPr>
        <p:spPr>
          <a:xfrm>
            <a:off x="10003536" y="2112264"/>
            <a:ext cx="1389888" cy="512064"/>
          </a:xfrm>
          <a:prstGeom prst="rect">
            <a:avLst/>
          </a:prstGeom>
          <a:noFill/>
          <a:ln/>
        </p:spPr>
        <p:txBody>
          <a:bodyPr wrap="square" lIns="0" tIns="0" rIns="0" bIns="0" rtlCol="0" anchor="ctr"/>
          <a:lstStyle/>
          <a:p>
            <a:pPr algn="r" indent="0" marL="0">
              <a:buNone/>
            </a:pPr>
            <a:r>
              <a:rPr lang="en-US" sz="1600" b="1" dirty="0">
                <a:solidFill>
                  <a:srgbClr val="34D399"/>
                </a:solidFill>
                <a:latin typeface="Cambria" pitchFamily="34" charset="0"/>
                <a:ea typeface="Cambria" pitchFamily="34" charset="-122"/>
                <a:cs typeface="Cambria" pitchFamily="34" charset="-120"/>
              </a:rPr>
              <a:t>26.30%</a:t>
            </a:r>
            <a:endParaRPr lang="en-US" sz="1600" dirty="0"/>
          </a:p>
        </p:txBody>
      </p:sp>
      <p:sp>
        <p:nvSpPr>
          <p:cNvPr id="16" name="Shape 14"/>
          <p:cNvSpPr/>
          <p:nvPr/>
        </p:nvSpPr>
        <p:spPr>
          <a:xfrm>
            <a:off x="566928" y="2779776"/>
            <a:ext cx="11057839" cy="621792"/>
          </a:xfrm>
          <a:prstGeom prst="roundRect">
            <a:avLst>
              <a:gd name="adj" fmla="val 14706"/>
            </a:avLst>
          </a:prstGeom>
          <a:solidFill>
            <a:srgbClr val="13314E"/>
          </a:solidFill>
          <a:ln w="12700">
            <a:solidFill>
              <a:srgbClr val="1E4463"/>
            </a:solidFill>
            <a:prstDash val="solid"/>
          </a:ln>
          <a:effectLst>
            <a:outerShdw sx="100000" sy="100000" kx="0" ky="0" algn="bl" rotWithShape="0" blurRad="177800" dist="38100" dir="5400000">
              <a:srgbClr val="000000">
                <a:alpha val="35000"/>
              </a:srgbClr>
            </a:outerShdw>
          </a:effectLst>
        </p:spPr>
      </p:sp>
      <p:sp>
        <p:nvSpPr>
          <p:cNvPr id="17" name="Text 15"/>
          <p:cNvSpPr/>
          <p:nvPr/>
        </p:nvSpPr>
        <p:spPr>
          <a:xfrm>
            <a:off x="804672" y="2834640"/>
            <a:ext cx="969264" cy="512064"/>
          </a:xfrm>
          <a:prstGeom prst="rect">
            <a:avLst/>
          </a:prstGeom>
          <a:noFill/>
          <a:ln/>
        </p:spPr>
        <p:txBody>
          <a:bodyPr wrap="square" lIns="0" tIns="0" rIns="0" bIns="0" rtlCol="0" anchor="ctr"/>
          <a:lstStyle/>
          <a:p>
            <a:pPr indent="0" marL="0">
              <a:buNone/>
            </a:pPr>
            <a:r>
              <a:rPr lang="en-US" sz="1600" b="1" dirty="0">
                <a:solidFill>
                  <a:srgbClr val="22D3EE"/>
                </a:solidFill>
                <a:latin typeface="Cambria" pitchFamily="34" charset="0"/>
                <a:ea typeface="Cambria" pitchFamily="34" charset="-122"/>
                <a:cs typeface="Cambria" pitchFamily="34" charset="-120"/>
              </a:rPr>
              <a:t>MIRR</a:t>
            </a:r>
            <a:endParaRPr lang="en-US" sz="1600" dirty="0"/>
          </a:p>
        </p:txBody>
      </p:sp>
      <p:sp>
        <p:nvSpPr>
          <p:cNvPr id="18" name="Text 16"/>
          <p:cNvSpPr/>
          <p:nvPr/>
        </p:nvSpPr>
        <p:spPr>
          <a:xfrm>
            <a:off x="1847088" y="2834640"/>
            <a:ext cx="3529584" cy="512064"/>
          </a:xfrm>
          <a:prstGeom prst="rect">
            <a:avLst/>
          </a:prstGeom>
          <a:noFill/>
          <a:ln/>
        </p:spPr>
        <p:txBody>
          <a:bodyPr wrap="square" lIns="0" tIns="0" rIns="0" bIns="0" rtlCol="0" anchor="ctr"/>
          <a:lstStyle/>
          <a:p>
            <a:pPr indent="0" marL="0">
              <a:buNone/>
            </a:pPr>
            <a:r>
              <a:rPr lang="en-US" sz="1200" dirty="0">
                <a:solidFill>
                  <a:srgbClr val="F8FAFC"/>
                </a:solidFill>
                <a:latin typeface="Calibri" pitchFamily="34" charset="0"/>
                <a:ea typeface="Calibri" pitchFamily="34" charset="-122"/>
                <a:cs typeface="Calibri" pitchFamily="34" charset="-120"/>
              </a:rPr>
              <a:t>(FV inflows ÷ PV outflows)^(1/N) − 1</a:t>
            </a:r>
            <a:endParaRPr lang="en-US" sz="1200" dirty="0"/>
          </a:p>
        </p:txBody>
      </p:sp>
      <p:sp>
        <p:nvSpPr>
          <p:cNvPr id="19" name="Text 17"/>
          <p:cNvSpPr/>
          <p:nvPr/>
        </p:nvSpPr>
        <p:spPr>
          <a:xfrm>
            <a:off x="5468112" y="2834640"/>
            <a:ext cx="4480560" cy="512064"/>
          </a:xfrm>
          <a:prstGeom prst="rect">
            <a:avLst/>
          </a:prstGeom>
          <a:noFill/>
          <a:ln/>
        </p:spPr>
        <p:txBody>
          <a:bodyPr wrap="square" lIns="0" tIns="0" rIns="0" bIns="0" rtlCol="0" anchor="ctr"/>
          <a:lstStyle/>
          <a:p>
            <a:pPr indent="0" marL="0">
              <a:buNone/>
            </a:pPr>
            <a:r>
              <a:rPr lang="en-US" sz="1150" dirty="0">
                <a:solidFill>
                  <a:srgbClr val="94A3B8"/>
                </a:solidFill>
                <a:latin typeface="Calibri" pitchFamily="34" charset="0"/>
                <a:ea typeface="Calibri" pitchFamily="34" charset="-122"/>
                <a:cs typeface="Calibri" pitchFamily="34" charset="-120"/>
              </a:rPr>
              <a:t>Reinvests interim flows at WACC, not at the project return</a:t>
            </a:r>
            <a:endParaRPr lang="en-US" sz="1150" dirty="0"/>
          </a:p>
        </p:txBody>
      </p:sp>
      <p:sp>
        <p:nvSpPr>
          <p:cNvPr id="20" name="Text 18"/>
          <p:cNvSpPr/>
          <p:nvPr/>
        </p:nvSpPr>
        <p:spPr>
          <a:xfrm>
            <a:off x="10003536" y="2834640"/>
            <a:ext cx="1389888" cy="512064"/>
          </a:xfrm>
          <a:prstGeom prst="rect">
            <a:avLst/>
          </a:prstGeom>
          <a:noFill/>
          <a:ln/>
        </p:spPr>
        <p:txBody>
          <a:bodyPr wrap="square" lIns="0" tIns="0" rIns="0" bIns="0" rtlCol="0" anchor="ctr"/>
          <a:lstStyle/>
          <a:p>
            <a:pPr algn="r" indent="0" marL="0">
              <a:buNone/>
            </a:pPr>
            <a:r>
              <a:rPr lang="en-US" sz="1600" b="1" dirty="0">
                <a:solidFill>
                  <a:srgbClr val="34D399"/>
                </a:solidFill>
                <a:latin typeface="Cambria" pitchFamily="34" charset="0"/>
                <a:ea typeface="Cambria" pitchFamily="34" charset="-122"/>
                <a:cs typeface="Cambria" pitchFamily="34" charset="-120"/>
              </a:rPr>
              <a:t>19.34%</a:t>
            </a:r>
            <a:endParaRPr lang="en-US" sz="1600" dirty="0"/>
          </a:p>
        </p:txBody>
      </p:sp>
      <p:sp>
        <p:nvSpPr>
          <p:cNvPr id="21" name="Shape 19"/>
          <p:cNvSpPr/>
          <p:nvPr/>
        </p:nvSpPr>
        <p:spPr>
          <a:xfrm>
            <a:off x="566928" y="3502152"/>
            <a:ext cx="11057839" cy="621792"/>
          </a:xfrm>
          <a:prstGeom prst="roundRect">
            <a:avLst>
              <a:gd name="adj" fmla="val 14706"/>
            </a:avLst>
          </a:prstGeom>
          <a:solidFill>
            <a:srgbClr val="0F2740"/>
          </a:solidFill>
          <a:ln w="12700">
            <a:solidFill>
              <a:srgbClr val="1E4463"/>
            </a:solidFill>
            <a:prstDash val="solid"/>
          </a:ln>
          <a:effectLst>
            <a:outerShdw sx="100000" sy="100000" kx="0" ky="0" algn="bl" rotWithShape="0" blurRad="177800" dist="38100" dir="5400000">
              <a:srgbClr val="000000">
                <a:alpha val="35000"/>
              </a:srgbClr>
            </a:outerShdw>
          </a:effectLst>
        </p:spPr>
      </p:sp>
      <p:sp>
        <p:nvSpPr>
          <p:cNvPr id="22" name="Text 20"/>
          <p:cNvSpPr/>
          <p:nvPr/>
        </p:nvSpPr>
        <p:spPr>
          <a:xfrm>
            <a:off x="804672" y="3557016"/>
            <a:ext cx="969264" cy="512064"/>
          </a:xfrm>
          <a:prstGeom prst="rect">
            <a:avLst/>
          </a:prstGeom>
          <a:noFill/>
          <a:ln/>
        </p:spPr>
        <p:txBody>
          <a:bodyPr wrap="square" lIns="0" tIns="0" rIns="0" bIns="0" rtlCol="0" anchor="ctr"/>
          <a:lstStyle/>
          <a:p>
            <a:pPr indent="0" marL="0">
              <a:buNone/>
            </a:pPr>
            <a:r>
              <a:rPr lang="en-US" sz="1600" b="1" dirty="0">
                <a:solidFill>
                  <a:srgbClr val="22D3EE"/>
                </a:solidFill>
                <a:latin typeface="Cambria" pitchFamily="34" charset="0"/>
                <a:ea typeface="Cambria" pitchFamily="34" charset="-122"/>
                <a:cs typeface="Cambria" pitchFamily="34" charset="-120"/>
              </a:rPr>
              <a:t>PI</a:t>
            </a:r>
            <a:endParaRPr lang="en-US" sz="1600" dirty="0"/>
          </a:p>
        </p:txBody>
      </p:sp>
      <p:sp>
        <p:nvSpPr>
          <p:cNvPr id="23" name="Text 21"/>
          <p:cNvSpPr/>
          <p:nvPr/>
        </p:nvSpPr>
        <p:spPr>
          <a:xfrm>
            <a:off x="1847088" y="3557016"/>
            <a:ext cx="3529584" cy="512064"/>
          </a:xfrm>
          <a:prstGeom prst="rect">
            <a:avLst/>
          </a:prstGeom>
          <a:noFill/>
          <a:ln/>
        </p:spPr>
        <p:txBody>
          <a:bodyPr wrap="square" lIns="0" tIns="0" rIns="0" bIns="0" rtlCol="0" anchor="ctr"/>
          <a:lstStyle/>
          <a:p>
            <a:pPr indent="0" marL="0">
              <a:buNone/>
            </a:pPr>
            <a:r>
              <a:rPr lang="en-US" sz="1200" dirty="0">
                <a:solidFill>
                  <a:srgbClr val="F8FAFC"/>
                </a:solidFill>
                <a:latin typeface="Calibri" pitchFamily="34" charset="0"/>
                <a:ea typeface="Calibri" pitchFamily="34" charset="-122"/>
                <a:cs typeface="Calibri" pitchFamily="34" charset="-120"/>
              </a:rPr>
              <a:t>PV of inflows ÷ initial outlay</a:t>
            </a:r>
            <a:endParaRPr lang="en-US" sz="1200" dirty="0"/>
          </a:p>
        </p:txBody>
      </p:sp>
      <p:sp>
        <p:nvSpPr>
          <p:cNvPr id="24" name="Text 22"/>
          <p:cNvSpPr/>
          <p:nvPr/>
        </p:nvSpPr>
        <p:spPr>
          <a:xfrm>
            <a:off x="5468112" y="3557016"/>
            <a:ext cx="4480560" cy="512064"/>
          </a:xfrm>
          <a:prstGeom prst="rect">
            <a:avLst/>
          </a:prstGeom>
          <a:noFill/>
          <a:ln/>
        </p:spPr>
        <p:txBody>
          <a:bodyPr wrap="square" lIns="0" tIns="0" rIns="0" bIns="0" rtlCol="0" anchor="ctr"/>
          <a:lstStyle/>
          <a:p>
            <a:pPr indent="0" marL="0">
              <a:buNone/>
            </a:pPr>
            <a:r>
              <a:rPr lang="en-US" sz="1150" dirty="0">
                <a:solidFill>
                  <a:srgbClr val="94A3B8"/>
                </a:solidFill>
                <a:latin typeface="Calibri" pitchFamily="34" charset="0"/>
                <a:ea typeface="Calibri" pitchFamily="34" charset="-122"/>
                <a:cs typeface="Calibri" pitchFamily="34" charset="-120"/>
              </a:rPr>
              <a:t>Accept above 1.0 — ranks under capital rationing</a:t>
            </a:r>
            <a:endParaRPr lang="en-US" sz="1150" dirty="0"/>
          </a:p>
        </p:txBody>
      </p:sp>
      <p:sp>
        <p:nvSpPr>
          <p:cNvPr id="25" name="Text 23"/>
          <p:cNvSpPr/>
          <p:nvPr/>
        </p:nvSpPr>
        <p:spPr>
          <a:xfrm>
            <a:off x="10003536" y="3557016"/>
            <a:ext cx="1389888" cy="512064"/>
          </a:xfrm>
          <a:prstGeom prst="rect">
            <a:avLst/>
          </a:prstGeom>
          <a:noFill/>
          <a:ln/>
        </p:spPr>
        <p:txBody>
          <a:bodyPr wrap="square" lIns="0" tIns="0" rIns="0" bIns="0" rtlCol="0" anchor="ctr"/>
          <a:lstStyle/>
          <a:p>
            <a:pPr algn="r" indent="0" marL="0">
              <a:buNone/>
            </a:pPr>
            <a:r>
              <a:rPr lang="en-US" sz="1600" b="1" dirty="0">
                <a:solidFill>
                  <a:srgbClr val="34D399"/>
                </a:solidFill>
                <a:latin typeface="Cambria" pitchFamily="34" charset="0"/>
                <a:ea typeface="Cambria" pitchFamily="34" charset="-122"/>
                <a:cs typeface="Cambria" pitchFamily="34" charset="-120"/>
              </a:rPr>
              <a:t>1.5035x</a:t>
            </a:r>
            <a:endParaRPr lang="en-US" sz="1600" dirty="0"/>
          </a:p>
        </p:txBody>
      </p:sp>
      <p:sp>
        <p:nvSpPr>
          <p:cNvPr id="26" name="Shape 24"/>
          <p:cNvSpPr/>
          <p:nvPr/>
        </p:nvSpPr>
        <p:spPr>
          <a:xfrm>
            <a:off x="566928" y="4224528"/>
            <a:ext cx="11057839" cy="621792"/>
          </a:xfrm>
          <a:prstGeom prst="roundRect">
            <a:avLst>
              <a:gd name="adj" fmla="val 14706"/>
            </a:avLst>
          </a:prstGeom>
          <a:solidFill>
            <a:srgbClr val="13314E"/>
          </a:solidFill>
          <a:ln w="12700">
            <a:solidFill>
              <a:srgbClr val="1E4463"/>
            </a:solidFill>
            <a:prstDash val="solid"/>
          </a:ln>
          <a:effectLst>
            <a:outerShdw sx="100000" sy="100000" kx="0" ky="0" algn="bl" rotWithShape="0" blurRad="177800" dist="38100" dir="5400000">
              <a:srgbClr val="000000">
                <a:alpha val="35000"/>
              </a:srgbClr>
            </a:outerShdw>
          </a:effectLst>
        </p:spPr>
      </p:sp>
      <p:sp>
        <p:nvSpPr>
          <p:cNvPr id="27" name="Text 25"/>
          <p:cNvSpPr/>
          <p:nvPr/>
        </p:nvSpPr>
        <p:spPr>
          <a:xfrm>
            <a:off x="804672" y="4279392"/>
            <a:ext cx="969264" cy="512064"/>
          </a:xfrm>
          <a:prstGeom prst="rect">
            <a:avLst/>
          </a:prstGeom>
          <a:noFill/>
          <a:ln/>
        </p:spPr>
        <p:txBody>
          <a:bodyPr wrap="square" lIns="0" tIns="0" rIns="0" bIns="0" rtlCol="0" anchor="ctr"/>
          <a:lstStyle/>
          <a:p>
            <a:pPr indent="0" marL="0">
              <a:buNone/>
            </a:pPr>
            <a:r>
              <a:rPr lang="en-US" sz="1600" b="1" dirty="0">
                <a:solidFill>
                  <a:srgbClr val="22D3EE"/>
                </a:solidFill>
                <a:latin typeface="Cambria" pitchFamily="34" charset="0"/>
                <a:ea typeface="Cambria" pitchFamily="34" charset="-122"/>
                <a:cs typeface="Cambria" pitchFamily="34" charset="-120"/>
              </a:rPr>
              <a:t>Payback</a:t>
            </a:r>
            <a:endParaRPr lang="en-US" sz="1600" dirty="0"/>
          </a:p>
        </p:txBody>
      </p:sp>
      <p:sp>
        <p:nvSpPr>
          <p:cNvPr id="28" name="Text 26"/>
          <p:cNvSpPr/>
          <p:nvPr/>
        </p:nvSpPr>
        <p:spPr>
          <a:xfrm>
            <a:off x="1847088" y="4279392"/>
            <a:ext cx="3529584" cy="512064"/>
          </a:xfrm>
          <a:prstGeom prst="rect">
            <a:avLst/>
          </a:prstGeom>
          <a:noFill/>
          <a:ln/>
        </p:spPr>
        <p:txBody>
          <a:bodyPr wrap="square" lIns="0" tIns="0" rIns="0" bIns="0" rtlCol="0" anchor="ctr"/>
          <a:lstStyle/>
          <a:p>
            <a:pPr indent="0" marL="0">
              <a:buNone/>
            </a:pPr>
            <a:r>
              <a:rPr lang="en-US" sz="1200" dirty="0">
                <a:solidFill>
                  <a:srgbClr val="F8FAFC"/>
                </a:solidFill>
                <a:latin typeface="Calibri" pitchFamily="34" charset="0"/>
                <a:ea typeface="Calibri" pitchFamily="34" charset="-122"/>
                <a:cs typeface="Calibri" pitchFamily="34" charset="-120"/>
              </a:rPr>
              <a:t>Years until cumulative flow turns positive</a:t>
            </a:r>
            <a:endParaRPr lang="en-US" sz="1200" dirty="0"/>
          </a:p>
        </p:txBody>
      </p:sp>
      <p:sp>
        <p:nvSpPr>
          <p:cNvPr id="29" name="Text 27"/>
          <p:cNvSpPr/>
          <p:nvPr/>
        </p:nvSpPr>
        <p:spPr>
          <a:xfrm>
            <a:off x="5468112" y="4279392"/>
            <a:ext cx="4480560" cy="512064"/>
          </a:xfrm>
          <a:prstGeom prst="rect">
            <a:avLst/>
          </a:prstGeom>
          <a:noFill/>
          <a:ln/>
        </p:spPr>
        <p:txBody>
          <a:bodyPr wrap="square" lIns="0" tIns="0" rIns="0" bIns="0" rtlCol="0" anchor="ctr"/>
          <a:lstStyle/>
          <a:p>
            <a:pPr indent="0" marL="0">
              <a:buNone/>
            </a:pPr>
            <a:r>
              <a:rPr lang="en-US" sz="1150" dirty="0">
                <a:solidFill>
                  <a:srgbClr val="94A3B8"/>
                </a:solidFill>
                <a:latin typeface="Calibri" pitchFamily="34" charset="0"/>
                <a:ea typeface="Calibri" pitchFamily="34" charset="-122"/>
                <a:cs typeface="Calibri" pitchFamily="34" charset="-120"/>
              </a:rPr>
              <a:t>Liquidity screen only — measures exposure, not value</a:t>
            </a:r>
            <a:endParaRPr lang="en-US" sz="1150" dirty="0"/>
          </a:p>
        </p:txBody>
      </p:sp>
      <p:sp>
        <p:nvSpPr>
          <p:cNvPr id="30" name="Text 28"/>
          <p:cNvSpPr/>
          <p:nvPr/>
        </p:nvSpPr>
        <p:spPr>
          <a:xfrm>
            <a:off x="10003536" y="4279392"/>
            <a:ext cx="1389888" cy="512064"/>
          </a:xfrm>
          <a:prstGeom prst="rect">
            <a:avLst/>
          </a:prstGeom>
          <a:noFill/>
          <a:ln/>
        </p:spPr>
        <p:txBody>
          <a:bodyPr wrap="square" lIns="0" tIns="0" rIns="0" bIns="0" rtlCol="0" anchor="ctr"/>
          <a:lstStyle/>
          <a:p>
            <a:pPr algn="r" indent="0" marL="0">
              <a:buNone/>
            </a:pPr>
            <a:r>
              <a:rPr lang="en-US" sz="1600" b="1" dirty="0">
                <a:solidFill>
                  <a:srgbClr val="F8FAFC"/>
                </a:solidFill>
                <a:latin typeface="Cambria" pitchFamily="34" charset="0"/>
                <a:ea typeface="Cambria" pitchFamily="34" charset="-122"/>
                <a:cs typeface="Cambria" pitchFamily="34" charset="-120"/>
              </a:rPr>
              <a:t>3.10 yrs</a:t>
            </a:r>
            <a:endParaRPr lang="en-US" sz="1600" dirty="0"/>
          </a:p>
        </p:txBody>
      </p:sp>
      <p:sp>
        <p:nvSpPr>
          <p:cNvPr id="31" name="Text 29"/>
          <p:cNvSpPr/>
          <p:nvPr/>
        </p:nvSpPr>
        <p:spPr>
          <a:xfrm>
            <a:off x="566928" y="5047488"/>
            <a:ext cx="11057839" cy="310896"/>
          </a:xfrm>
          <a:prstGeom prst="rect">
            <a:avLst/>
          </a:prstGeom>
          <a:noFill/>
          <a:ln/>
        </p:spPr>
        <p:txBody>
          <a:bodyPr wrap="square" lIns="0" tIns="0" rIns="0" bIns="0" rtlCol="0" anchor="ctr"/>
          <a:lstStyle/>
          <a:p>
            <a:pPr algn="ctr" indent="0" marL="0">
              <a:buNone/>
            </a:pPr>
            <a:r>
              <a:rPr lang="en-US" sz="1150" dirty="0">
                <a:solidFill>
                  <a:srgbClr val="CADCFC"/>
                </a:solidFill>
                <a:latin typeface="Calibri" pitchFamily="34" charset="0"/>
                <a:ea typeface="Calibri" pitchFamily="34" charset="-122"/>
                <a:cs typeface="Calibri" pitchFamily="34" charset="-120"/>
              </a:rPr>
              <a:t>FCFt = (EBITDAt − Dt)(1 − τ) + Dt − ΔNWCt − CapExt + Terminalt      ·      depreciation is deducted for tax, then added back as a non-cash charge</a:t>
            </a:r>
            <a:endParaRPr lang="en-US" sz="1150" dirty="0"/>
          </a:p>
        </p:txBody>
      </p:sp>
      <p:sp>
        <p:nvSpPr>
          <p:cNvPr id="32" name="Text 30"/>
          <p:cNvSpPr/>
          <p:nvPr/>
        </p:nvSpPr>
        <p:spPr>
          <a:xfrm>
            <a:off x="566928" y="5413248"/>
            <a:ext cx="11057839" cy="310896"/>
          </a:xfrm>
          <a:prstGeom prst="rect">
            <a:avLst/>
          </a:prstGeom>
          <a:noFill/>
          <a:ln/>
        </p:spPr>
        <p:txBody>
          <a:bodyPr wrap="square" lIns="0" tIns="0" rIns="0" bIns="0" rtlCol="0" anchor="ctr"/>
          <a:lstStyle/>
          <a:p>
            <a:pPr algn="ctr" indent="0" marL="0">
              <a:buNone/>
            </a:pPr>
            <a:r>
              <a:rPr lang="en-US" sz="1150" i="1" dirty="0">
                <a:solidFill>
                  <a:srgbClr val="94A3B8"/>
                </a:solidFill>
                <a:latin typeface="Calibri" pitchFamily="34" charset="0"/>
                <a:ea typeface="Calibri" pitchFamily="34" charset="-122"/>
                <a:cs typeface="Calibri" pitchFamily="34" charset="-120"/>
              </a:rPr>
              <a:t>These formulas are archetype-independent — which is exactly why the platform generalises to eight investment types without forking the engine.</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1A2E"/>
        </a:solidFill>
      </p:bgPr>
    </p:bg>
    <p:spTree>
      <p:nvGrpSpPr>
        <p:cNvPr id="1" name=""/>
        <p:cNvGrpSpPr/>
        <p:nvPr/>
      </p:nvGrpSpPr>
      <p:grpSpPr>
        <a:xfrm>
          <a:off x="0" y="0"/>
          <a:ext cx="0" cy="0"/>
          <a:chOff x="0" y="0"/>
          <a:chExt cx="0" cy="0"/>
        </a:xfrm>
      </p:grpSpPr>
      <p:sp>
        <p:nvSpPr>
          <p:cNvPr id="2" name="Text 0"/>
          <p:cNvSpPr/>
          <p:nvPr/>
        </p:nvSpPr>
        <p:spPr>
          <a:xfrm>
            <a:off x="566928" y="310896"/>
            <a:ext cx="8680399" cy="237744"/>
          </a:xfrm>
          <a:prstGeom prst="rect">
            <a:avLst/>
          </a:prstGeom>
          <a:noFill/>
          <a:ln/>
        </p:spPr>
        <p:txBody>
          <a:bodyPr wrap="square" lIns="0" tIns="0" rIns="0" bIns="0" rtlCol="0" anchor="ctr"/>
          <a:lstStyle/>
          <a:p>
            <a:pPr indent="0" marL="0">
              <a:buNone/>
            </a:pPr>
            <a:r>
              <a:rPr lang="en-US" sz="1100" b="1" spc="200" kern="0" dirty="0">
                <a:solidFill>
                  <a:srgbClr val="22D3EE"/>
                </a:solidFill>
                <a:latin typeface="Calibri" pitchFamily="34" charset="0"/>
                <a:ea typeface="Calibri" pitchFamily="34" charset="-122"/>
                <a:cs typeface="Calibri" pitchFamily="34" charset="-120"/>
              </a:rPr>
              <a:t>DATA AND ASSUMPTIONS</a:t>
            </a:r>
            <a:endParaRPr lang="en-US" sz="1100" dirty="0"/>
          </a:p>
        </p:txBody>
      </p:sp>
      <p:sp>
        <p:nvSpPr>
          <p:cNvPr id="3" name="Text 1"/>
          <p:cNvSpPr/>
          <p:nvPr/>
        </p:nvSpPr>
        <p:spPr>
          <a:xfrm>
            <a:off x="566928" y="548640"/>
            <a:ext cx="8680399" cy="566928"/>
          </a:xfrm>
          <a:prstGeom prst="rect">
            <a:avLst/>
          </a:prstGeom>
          <a:noFill/>
          <a:ln/>
        </p:spPr>
        <p:txBody>
          <a:bodyPr wrap="square" lIns="0" tIns="0" rIns="0" bIns="0" rtlCol="0" anchor="ctr"/>
          <a:lstStyle/>
          <a:p>
            <a:pPr indent="0" marL="0">
              <a:buNone/>
            </a:pPr>
            <a:r>
              <a:rPr lang="en-US" sz="3000" b="1" dirty="0">
                <a:solidFill>
                  <a:srgbClr val="F8FAFC"/>
                </a:solidFill>
                <a:latin typeface="Cambria" pitchFamily="34" charset="0"/>
                <a:ea typeface="Cambria" pitchFamily="34" charset="-122"/>
                <a:cs typeface="Cambria" pitchFamily="34" charset="-120"/>
              </a:rPr>
              <a:t>Every input is classified by provenance</a:t>
            </a:r>
            <a:endParaRPr lang="en-US" sz="3000" dirty="0"/>
          </a:p>
        </p:txBody>
      </p:sp>
      <p:sp>
        <p:nvSpPr>
          <p:cNvPr id="4" name="Shape 2"/>
          <p:cNvSpPr/>
          <p:nvPr/>
        </p:nvSpPr>
        <p:spPr>
          <a:xfrm>
            <a:off x="9475927" y="384048"/>
            <a:ext cx="2148840" cy="384048"/>
          </a:xfrm>
          <a:prstGeom prst="roundRect">
            <a:avLst>
              <a:gd name="adj" fmla="val 50000"/>
            </a:avLst>
          </a:prstGeom>
          <a:solidFill>
            <a:srgbClr val="13314E"/>
          </a:solidFill>
          <a:ln w="12700">
            <a:solidFill>
              <a:srgbClr val="22D3EE"/>
            </a:solidFill>
            <a:prstDash val="solid"/>
          </a:ln>
        </p:spPr>
      </p:sp>
      <p:sp>
        <p:nvSpPr>
          <p:cNvPr id="5" name="Text 3"/>
          <p:cNvSpPr/>
          <p:nvPr/>
        </p:nvSpPr>
        <p:spPr>
          <a:xfrm>
            <a:off x="9475927" y="384048"/>
            <a:ext cx="2148840" cy="384048"/>
          </a:xfrm>
          <a:prstGeom prst="rect">
            <a:avLst/>
          </a:prstGeom>
          <a:noFill/>
          <a:ln/>
        </p:spPr>
        <p:txBody>
          <a:bodyPr wrap="square" lIns="0" tIns="0" rIns="0" bIns="0" rtlCol="0" anchor="ctr"/>
          <a:lstStyle/>
          <a:p>
            <a:pPr algn="ctr" indent="0" marL="0">
              <a:buNone/>
            </a:pPr>
            <a:r>
              <a:rPr lang="en-US" sz="1150" b="1" dirty="0">
                <a:solidFill>
                  <a:srgbClr val="22D3EE"/>
                </a:solidFill>
                <a:latin typeface="Calibri" pitchFamily="34" charset="0"/>
                <a:ea typeface="Calibri" pitchFamily="34" charset="-122"/>
                <a:cs typeface="Calibri" pitchFamily="34" charset="-120"/>
              </a:rPr>
              <a:t>QUESTION 2 · B</a:t>
            </a:r>
            <a:endParaRPr lang="en-US" sz="1150" dirty="0"/>
          </a:p>
        </p:txBody>
      </p:sp>
      <p:sp>
        <p:nvSpPr>
          <p:cNvPr id="6" name="Shape 4"/>
          <p:cNvSpPr/>
          <p:nvPr/>
        </p:nvSpPr>
        <p:spPr>
          <a:xfrm>
            <a:off x="566928" y="1335024"/>
            <a:ext cx="6903720" cy="493776"/>
          </a:xfrm>
          <a:prstGeom prst="roundRect">
            <a:avLst>
              <a:gd name="adj" fmla="val 18519"/>
            </a:avLst>
          </a:prstGeom>
          <a:solidFill>
            <a:srgbClr val="13314E"/>
          </a:solidFill>
          <a:ln w="12700">
            <a:solidFill>
              <a:srgbClr val="1E4463"/>
            </a:solidFill>
            <a:prstDash val="solid"/>
          </a:ln>
          <a:effectLst>
            <a:outerShdw sx="100000" sy="100000" kx="0" ky="0" algn="bl" rotWithShape="0" blurRad="177800" dist="38100" dir="5400000">
              <a:srgbClr val="000000">
                <a:alpha val="35000"/>
              </a:srgbClr>
            </a:outerShdw>
          </a:effectLst>
        </p:spPr>
      </p:sp>
      <p:sp>
        <p:nvSpPr>
          <p:cNvPr id="7" name="Text 5"/>
          <p:cNvSpPr/>
          <p:nvPr/>
        </p:nvSpPr>
        <p:spPr>
          <a:xfrm>
            <a:off x="768096" y="1371600"/>
            <a:ext cx="1481328" cy="420624"/>
          </a:xfrm>
          <a:prstGeom prst="rect">
            <a:avLst/>
          </a:prstGeom>
          <a:noFill/>
          <a:ln/>
        </p:spPr>
        <p:txBody>
          <a:bodyPr wrap="square" lIns="0" tIns="0" rIns="0" bIns="0" rtlCol="0" anchor="ctr"/>
          <a:lstStyle/>
          <a:p>
            <a:pPr indent="0" marL="0">
              <a:buNone/>
            </a:pPr>
            <a:r>
              <a:rPr lang="en-US" sz="1150" b="1" dirty="0">
                <a:solidFill>
                  <a:srgbClr val="22D3EE"/>
                </a:solidFill>
                <a:latin typeface="Calibri" pitchFamily="34" charset="0"/>
                <a:ea typeface="Calibri" pitchFamily="34" charset="-122"/>
                <a:cs typeface="Calibri" pitchFamily="34" charset="-120"/>
              </a:rPr>
              <a:t>Historical</a:t>
            </a:r>
            <a:endParaRPr lang="en-US" sz="1150" dirty="0"/>
          </a:p>
        </p:txBody>
      </p:sp>
      <p:sp>
        <p:nvSpPr>
          <p:cNvPr id="8" name="Text 6"/>
          <p:cNvSpPr/>
          <p:nvPr/>
        </p:nvSpPr>
        <p:spPr>
          <a:xfrm>
            <a:off x="2304288" y="1371600"/>
            <a:ext cx="4983480" cy="420624"/>
          </a:xfrm>
          <a:prstGeom prst="rect">
            <a:avLst/>
          </a:prstGeom>
          <a:noFill/>
          <a:ln/>
        </p:spPr>
        <p:txBody>
          <a:bodyPr wrap="square" lIns="0" tIns="0" rIns="0" bIns="0" rtlCol="0" anchor="ctr"/>
          <a:lstStyle/>
          <a:p>
            <a:pPr indent="0" marL="0">
              <a:buNone/>
            </a:pPr>
            <a:r>
              <a:rPr lang="en-US" sz="1050" dirty="0">
                <a:solidFill>
                  <a:srgbClr val="CADCFC"/>
                </a:solidFill>
                <a:latin typeface="Calibri" pitchFamily="34" charset="0"/>
                <a:ea typeface="Calibri" pitchFamily="34" charset="-122"/>
                <a:cs typeface="Calibri" pitchFamily="34" charset="-120"/>
              </a:rPr>
              <a:t>Shipping performance, delivery lateness, order profitability</a:t>
            </a:r>
            <a:endParaRPr lang="en-US" sz="1050" dirty="0"/>
          </a:p>
        </p:txBody>
      </p:sp>
      <p:sp>
        <p:nvSpPr>
          <p:cNvPr id="9" name="Shape 7"/>
          <p:cNvSpPr/>
          <p:nvPr/>
        </p:nvSpPr>
        <p:spPr>
          <a:xfrm>
            <a:off x="566928" y="1901952"/>
            <a:ext cx="6903720" cy="493776"/>
          </a:xfrm>
          <a:prstGeom prst="roundRect">
            <a:avLst>
              <a:gd name="adj" fmla="val 18519"/>
            </a:avLst>
          </a:prstGeom>
          <a:solidFill>
            <a:srgbClr val="0F2740"/>
          </a:solidFill>
          <a:ln w="12700">
            <a:solidFill>
              <a:srgbClr val="1E4463"/>
            </a:solidFill>
            <a:prstDash val="solid"/>
          </a:ln>
          <a:effectLst>
            <a:outerShdw sx="100000" sy="100000" kx="0" ky="0" algn="bl" rotWithShape="0" blurRad="177800" dist="38100" dir="5400000">
              <a:srgbClr val="000000">
                <a:alpha val="35000"/>
              </a:srgbClr>
            </a:outerShdw>
          </a:effectLst>
        </p:spPr>
      </p:sp>
      <p:sp>
        <p:nvSpPr>
          <p:cNvPr id="10" name="Text 8"/>
          <p:cNvSpPr/>
          <p:nvPr/>
        </p:nvSpPr>
        <p:spPr>
          <a:xfrm>
            <a:off x="768096" y="1938528"/>
            <a:ext cx="1481328" cy="420624"/>
          </a:xfrm>
          <a:prstGeom prst="rect">
            <a:avLst/>
          </a:prstGeom>
          <a:noFill/>
          <a:ln/>
        </p:spPr>
        <p:txBody>
          <a:bodyPr wrap="square" lIns="0" tIns="0" rIns="0" bIns="0" rtlCol="0" anchor="ctr"/>
          <a:lstStyle/>
          <a:p>
            <a:pPr indent="0" marL="0">
              <a:buNone/>
            </a:pPr>
            <a:r>
              <a:rPr lang="en-US" sz="1150" b="1" dirty="0">
                <a:solidFill>
                  <a:srgbClr val="22D3EE"/>
                </a:solidFill>
                <a:latin typeface="Calibri" pitchFamily="34" charset="0"/>
                <a:ea typeface="Calibri" pitchFamily="34" charset="-122"/>
                <a:cs typeface="Calibri" pitchFamily="34" charset="-120"/>
              </a:rPr>
              <a:t>Current external</a:t>
            </a:r>
            <a:endParaRPr lang="en-US" sz="1150" dirty="0"/>
          </a:p>
        </p:txBody>
      </p:sp>
      <p:sp>
        <p:nvSpPr>
          <p:cNvPr id="11" name="Text 9"/>
          <p:cNvSpPr/>
          <p:nvPr/>
        </p:nvSpPr>
        <p:spPr>
          <a:xfrm>
            <a:off x="2304288" y="1938528"/>
            <a:ext cx="4983480" cy="420624"/>
          </a:xfrm>
          <a:prstGeom prst="rect">
            <a:avLst/>
          </a:prstGeom>
          <a:noFill/>
          <a:ln/>
        </p:spPr>
        <p:txBody>
          <a:bodyPr wrap="square" lIns="0" tIns="0" rIns="0" bIns="0" rtlCol="0" anchor="ctr"/>
          <a:lstStyle/>
          <a:p>
            <a:pPr indent="0" marL="0">
              <a:buNone/>
            </a:pPr>
            <a:r>
              <a:rPr lang="en-US" sz="1050" dirty="0">
                <a:solidFill>
                  <a:srgbClr val="CADCFC"/>
                </a:solidFill>
                <a:latin typeface="Calibri" pitchFamily="34" charset="0"/>
                <a:ea typeface="Calibri" pitchFamily="34" charset="-122"/>
                <a:cs typeface="Calibri" pitchFamily="34" charset="-120"/>
              </a:rPr>
              <a:t>UAE tax 9% above AED 375k · DEWA 23/28/32/38 fils per kWh · EIBOR 3.79%</a:t>
            </a:r>
            <a:endParaRPr lang="en-US" sz="1050" dirty="0"/>
          </a:p>
        </p:txBody>
      </p:sp>
      <p:sp>
        <p:nvSpPr>
          <p:cNvPr id="12" name="Shape 10"/>
          <p:cNvSpPr/>
          <p:nvPr/>
        </p:nvSpPr>
        <p:spPr>
          <a:xfrm>
            <a:off x="566928" y="2468880"/>
            <a:ext cx="6903720" cy="493776"/>
          </a:xfrm>
          <a:prstGeom prst="roundRect">
            <a:avLst>
              <a:gd name="adj" fmla="val 18519"/>
            </a:avLst>
          </a:prstGeom>
          <a:solidFill>
            <a:srgbClr val="13314E"/>
          </a:solidFill>
          <a:ln w="12700">
            <a:solidFill>
              <a:srgbClr val="1E4463"/>
            </a:solidFill>
            <a:prstDash val="solid"/>
          </a:ln>
          <a:effectLst>
            <a:outerShdw sx="100000" sy="100000" kx="0" ky="0" algn="bl" rotWithShape="0" blurRad="177800" dist="38100" dir="5400000">
              <a:srgbClr val="000000">
                <a:alpha val="35000"/>
              </a:srgbClr>
            </a:outerShdw>
          </a:effectLst>
        </p:spPr>
      </p:sp>
      <p:sp>
        <p:nvSpPr>
          <p:cNvPr id="13" name="Text 11"/>
          <p:cNvSpPr/>
          <p:nvPr/>
        </p:nvSpPr>
        <p:spPr>
          <a:xfrm>
            <a:off x="768096" y="2505456"/>
            <a:ext cx="1481328" cy="420624"/>
          </a:xfrm>
          <a:prstGeom prst="rect">
            <a:avLst/>
          </a:prstGeom>
          <a:noFill/>
          <a:ln/>
        </p:spPr>
        <p:txBody>
          <a:bodyPr wrap="square" lIns="0" tIns="0" rIns="0" bIns="0" rtlCol="0" anchor="ctr"/>
          <a:lstStyle/>
          <a:p>
            <a:pPr indent="0" marL="0">
              <a:buNone/>
            </a:pPr>
            <a:r>
              <a:rPr lang="en-US" sz="1150" b="1" dirty="0">
                <a:solidFill>
                  <a:srgbClr val="22D3EE"/>
                </a:solidFill>
                <a:latin typeface="Calibri" pitchFamily="34" charset="0"/>
                <a:ea typeface="Calibri" pitchFamily="34" charset="-122"/>
                <a:cs typeface="Calibri" pitchFamily="34" charset="-120"/>
              </a:rPr>
              <a:t>Forecast</a:t>
            </a:r>
            <a:endParaRPr lang="en-US" sz="1150" dirty="0"/>
          </a:p>
        </p:txBody>
      </p:sp>
      <p:sp>
        <p:nvSpPr>
          <p:cNvPr id="14" name="Text 12"/>
          <p:cNvSpPr/>
          <p:nvPr/>
        </p:nvSpPr>
        <p:spPr>
          <a:xfrm>
            <a:off x="2304288" y="2505456"/>
            <a:ext cx="4983480" cy="420624"/>
          </a:xfrm>
          <a:prstGeom prst="rect">
            <a:avLst/>
          </a:prstGeom>
          <a:noFill/>
          <a:ln/>
        </p:spPr>
        <p:txBody>
          <a:bodyPr wrap="square" lIns="0" tIns="0" rIns="0" bIns="0" rtlCol="0" anchor="ctr"/>
          <a:lstStyle/>
          <a:p>
            <a:pPr indent="0" marL="0">
              <a:buNone/>
            </a:pPr>
            <a:r>
              <a:rPr lang="en-US" sz="1050" dirty="0">
                <a:solidFill>
                  <a:srgbClr val="CADCFC"/>
                </a:solidFill>
                <a:latin typeface="Calibri" pitchFamily="34" charset="0"/>
                <a:ea typeface="Calibri" pitchFamily="34" charset="-122"/>
                <a:cs typeface="Calibri" pitchFamily="34" charset="-120"/>
              </a:rPr>
              <a:t>Savings AED 7.5M (+4%) · margin AED 2.5M (+5%) · OpEx AED 2.2M (+3%)</a:t>
            </a:r>
            <a:endParaRPr lang="en-US" sz="1050" dirty="0"/>
          </a:p>
        </p:txBody>
      </p:sp>
      <p:sp>
        <p:nvSpPr>
          <p:cNvPr id="15" name="Shape 13"/>
          <p:cNvSpPr/>
          <p:nvPr/>
        </p:nvSpPr>
        <p:spPr>
          <a:xfrm>
            <a:off x="566928" y="3035808"/>
            <a:ext cx="6903720" cy="493776"/>
          </a:xfrm>
          <a:prstGeom prst="roundRect">
            <a:avLst>
              <a:gd name="adj" fmla="val 18519"/>
            </a:avLst>
          </a:prstGeom>
          <a:solidFill>
            <a:srgbClr val="0F2740"/>
          </a:solidFill>
          <a:ln w="12700">
            <a:solidFill>
              <a:srgbClr val="1E4463"/>
            </a:solidFill>
            <a:prstDash val="solid"/>
          </a:ln>
          <a:effectLst>
            <a:outerShdw sx="100000" sy="100000" kx="0" ky="0" algn="bl" rotWithShape="0" blurRad="177800" dist="38100" dir="5400000">
              <a:srgbClr val="000000">
                <a:alpha val="35000"/>
              </a:srgbClr>
            </a:outerShdw>
          </a:effectLst>
        </p:spPr>
      </p:sp>
      <p:sp>
        <p:nvSpPr>
          <p:cNvPr id="16" name="Text 14"/>
          <p:cNvSpPr/>
          <p:nvPr/>
        </p:nvSpPr>
        <p:spPr>
          <a:xfrm>
            <a:off x="768096" y="3072384"/>
            <a:ext cx="1481328" cy="420624"/>
          </a:xfrm>
          <a:prstGeom prst="rect">
            <a:avLst/>
          </a:prstGeom>
          <a:noFill/>
          <a:ln/>
        </p:spPr>
        <p:txBody>
          <a:bodyPr wrap="square" lIns="0" tIns="0" rIns="0" bIns="0" rtlCol="0" anchor="ctr"/>
          <a:lstStyle/>
          <a:p>
            <a:pPr indent="0" marL="0">
              <a:buNone/>
            </a:pPr>
            <a:r>
              <a:rPr lang="en-US" sz="1150" b="1" dirty="0">
                <a:solidFill>
                  <a:srgbClr val="22D3EE"/>
                </a:solidFill>
                <a:latin typeface="Calibri" pitchFamily="34" charset="0"/>
                <a:ea typeface="Calibri" pitchFamily="34" charset="-122"/>
                <a:cs typeface="Calibri" pitchFamily="34" charset="-120"/>
              </a:rPr>
              <a:t>User-entered</a:t>
            </a:r>
            <a:endParaRPr lang="en-US" sz="1150" dirty="0"/>
          </a:p>
        </p:txBody>
      </p:sp>
      <p:sp>
        <p:nvSpPr>
          <p:cNvPr id="17" name="Text 15"/>
          <p:cNvSpPr/>
          <p:nvPr/>
        </p:nvSpPr>
        <p:spPr>
          <a:xfrm>
            <a:off x="2304288" y="3072384"/>
            <a:ext cx="4983480" cy="420624"/>
          </a:xfrm>
          <a:prstGeom prst="rect">
            <a:avLst/>
          </a:prstGeom>
          <a:noFill/>
          <a:ln/>
        </p:spPr>
        <p:txBody>
          <a:bodyPr wrap="square" lIns="0" tIns="0" rIns="0" bIns="0" rtlCol="0" anchor="ctr"/>
          <a:lstStyle/>
          <a:p>
            <a:pPr indent="0" marL="0">
              <a:buNone/>
            </a:pPr>
            <a:r>
              <a:rPr lang="en-US" sz="1050" dirty="0">
                <a:solidFill>
                  <a:srgbClr val="CADCFC"/>
                </a:solidFill>
                <a:latin typeface="Calibri" pitchFamily="34" charset="0"/>
                <a:ea typeface="Calibri" pitchFamily="34" charset="-122"/>
                <a:cs typeface="Calibri" pitchFamily="34" charset="-120"/>
              </a:rPr>
              <a:t>CapEx AED 22.0M · working capital AED 2.0M · life 6 years · WACC 11.50%</a:t>
            </a:r>
            <a:endParaRPr lang="en-US" sz="1050" dirty="0"/>
          </a:p>
        </p:txBody>
      </p:sp>
      <p:sp>
        <p:nvSpPr>
          <p:cNvPr id="18" name="Shape 16"/>
          <p:cNvSpPr/>
          <p:nvPr/>
        </p:nvSpPr>
        <p:spPr>
          <a:xfrm>
            <a:off x="566928" y="3602736"/>
            <a:ext cx="6903720" cy="493776"/>
          </a:xfrm>
          <a:prstGeom prst="roundRect">
            <a:avLst>
              <a:gd name="adj" fmla="val 18519"/>
            </a:avLst>
          </a:prstGeom>
          <a:solidFill>
            <a:srgbClr val="13314E"/>
          </a:solidFill>
          <a:ln w="12700">
            <a:solidFill>
              <a:srgbClr val="1E4463"/>
            </a:solidFill>
            <a:prstDash val="solid"/>
          </a:ln>
          <a:effectLst>
            <a:outerShdw sx="100000" sy="100000" kx="0" ky="0" algn="bl" rotWithShape="0" blurRad="177800" dist="38100" dir="5400000">
              <a:srgbClr val="000000">
                <a:alpha val="35000"/>
              </a:srgbClr>
            </a:outerShdw>
          </a:effectLst>
        </p:spPr>
      </p:sp>
      <p:sp>
        <p:nvSpPr>
          <p:cNvPr id="19" name="Text 17"/>
          <p:cNvSpPr/>
          <p:nvPr/>
        </p:nvSpPr>
        <p:spPr>
          <a:xfrm>
            <a:off x="768096" y="3639312"/>
            <a:ext cx="1481328" cy="420624"/>
          </a:xfrm>
          <a:prstGeom prst="rect">
            <a:avLst/>
          </a:prstGeom>
          <a:noFill/>
          <a:ln/>
        </p:spPr>
        <p:txBody>
          <a:bodyPr wrap="square" lIns="0" tIns="0" rIns="0" bIns="0" rtlCol="0" anchor="ctr"/>
          <a:lstStyle/>
          <a:p>
            <a:pPr indent="0" marL="0">
              <a:buNone/>
            </a:pPr>
            <a:r>
              <a:rPr lang="en-US" sz="1150" b="1" dirty="0">
                <a:solidFill>
                  <a:srgbClr val="22D3EE"/>
                </a:solidFill>
                <a:latin typeface="Calibri" pitchFamily="34" charset="0"/>
                <a:ea typeface="Calibri" pitchFamily="34" charset="-122"/>
                <a:cs typeface="Calibri" pitchFamily="34" charset="-120"/>
              </a:rPr>
              <a:t>AI-generated</a:t>
            </a:r>
            <a:endParaRPr lang="en-US" sz="1150" dirty="0"/>
          </a:p>
        </p:txBody>
      </p:sp>
      <p:sp>
        <p:nvSpPr>
          <p:cNvPr id="20" name="Text 18"/>
          <p:cNvSpPr/>
          <p:nvPr/>
        </p:nvSpPr>
        <p:spPr>
          <a:xfrm>
            <a:off x="2304288" y="3639312"/>
            <a:ext cx="4983480" cy="420624"/>
          </a:xfrm>
          <a:prstGeom prst="rect">
            <a:avLst/>
          </a:prstGeom>
          <a:noFill/>
          <a:ln/>
        </p:spPr>
        <p:txBody>
          <a:bodyPr wrap="square" lIns="0" tIns="0" rIns="0" bIns="0" rtlCol="0" anchor="ctr"/>
          <a:lstStyle/>
          <a:p>
            <a:pPr indent="0" marL="0">
              <a:buNone/>
            </a:pPr>
            <a:r>
              <a:rPr lang="en-US" sz="1050" dirty="0">
                <a:solidFill>
                  <a:srgbClr val="CADCFC"/>
                </a:solidFill>
                <a:latin typeface="Calibri" pitchFamily="34" charset="0"/>
                <a:ea typeface="Calibri" pitchFamily="34" charset="-122"/>
                <a:cs typeface="Calibri" pitchFamily="34" charset="-120"/>
              </a:rPr>
              <a:t>Narrative, risk framing, scenario proposals, memo drafts</a:t>
            </a:r>
            <a:endParaRPr lang="en-US" sz="1050" dirty="0"/>
          </a:p>
        </p:txBody>
      </p:sp>
      <p:sp>
        <p:nvSpPr>
          <p:cNvPr id="21" name="Shape 19"/>
          <p:cNvSpPr/>
          <p:nvPr/>
        </p:nvSpPr>
        <p:spPr>
          <a:xfrm>
            <a:off x="7653528" y="1335024"/>
            <a:ext cx="3971239" cy="2724912"/>
          </a:xfrm>
          <a:prstGeom prst="roundRect">
            <a:avLst>
              <a:gd name="adj" fmla="val 3356"/>
            </a:avLst>
          </a:prstGeom>
          <a:solidFill>
            <a:srgbClr val="0F2740"/>
          </a:solidFill>
          <a:ln w="12700">
            <a:solidFill>
              <a:srgbClr val="1E4463"/>
            </a:solidFill>
            <a:prstDash val="solid"/>
          </a:ln>
          <a:effectLst>
            <a:outerShdw sx="100000" sy="100000" kx="0" ky="0" algn="bl" rotWithShape="0" blurRad="177800" dist="38100" dir="5400000">
              <a:srgbClr val="000000">
                <a:alpha val="35000"/>
              </a:srgbClr>
            </a:outerShdw>
          </a:effectLst>
        </p:spPr>
      </p:sp>
      <p:sp>
        <p:nvSpPr>
          <p:cNvPr id="22" name="Text 20"/>
          <p:cNvSpPr/>
          <p:nvPr/>
        </p:nvSpPr>
        <p:spPr>
          <a:xfrm>
            <a:off x="7872984" y="1481328"/>
            <a:ext cx="3657600" cy="292608"/>
          </a:xfrm>
          <a:prstGeom prst="rect">
            <a:avLst/>
          </a:prstGeom>
          <a:noFill/>
          <a:ln/>
        </p:spPr>
        <p:txBody>
          <a:bodyPr wrap="square" lIns="0" tIns="0" rIns="0" bIns="0" rtlCol="0" anchor="ctr"/>
          <a:lstStyle/>
          <a:p>
            <a:pPr indent="0" marL="0">
              <a:buNone/>
            </a:pPr>
            <a:r>
              <a:rPr lang="en-US" sz="1350" b="1" dirty="0">
                <a:solidFill>
                  <a:srgbClr val="22D3EE"/>
                </a:solidFill>
                <a:latin typeface="Calibri" pitchFamily="34" charset="0"/>
                <a:ea typeface="Calibri" pitchFamily="34" charset="-122"/>
                <a:cs typeface="Calibri" pitchFamily="34" charset="-120"/>
              </a:rPr>
              <a:t>The hurdle rate is derived, not asserted</a:t>
            </a:r>
            <a:endParaRPr lang="en-US" sz="1350" dirty="0"/>
          </a:p>
        </p:txBody>
      </p:sp>
      <p:sp>
        <p:nvSpPr>
          <p:cNvPr id="23" name="Text 21"/>
          <p:cNvSpPr/>
          <p:nvPr/>
        </p:nvSpPr>
        <p:spPr>
          <a:xfrm>
            <a:off x="7872984" y="1847088"/>
            <a:ext cx="2606040" cy="274320"/>
          </a:xfrm>
          <a:prstGeom prst="rect">
            <a:avLst/>
          </a:prstGeom>
          <a:noFill/>
          <a:ln/>
        </p:spPr>
        <p:txBody>
          <a:bodyPr wrap="square" lIns="0" tIns="0" rIns="0" bIns="0" rtlCol="0" anchor="ctr"/>
          <a:lstStyle/>
          <a:p>
            <a:pPr indent="0" marL="0">
              <a:buNone/>
            </a:pPr>
            <a:r>
              <a:rPr lang="en-US" sz="1100" dirty="0">
                <a:solidFill>
                  <a:srgbClr val="CADCFC"/>
                </a:solidFill>
                <a:latin typeface="Calibri" pitchFamily="34" charset="0"/>
                <a:ea typeface="Calibri" pitchFamily="34" charset="-122"/>
                <a:cs typeface="Calibri" pitchFamily="34" charset="-120"/>
              </a:rPr>
              <a:t>Risk-free rate</a:t>
            </a:r>
            <a:endParaRPr lang="en-US" sz="1100" dirty="0"/>
          </a:p>
        </p:txBody>
      </p:sp>
      <p:sp>
        <p:nvSpPr>
          <p:cNvPr id="24" name="Text 22"/>
          <p:cNvSpPr/>
          <p:nvPr/>
        </p:nvSpPr>
        <p:spPr>
          <a:xfrm>
            <a:off x="10479024" y="1847088"/>
            <a:ext cx="960120" cy="274320"/>
          </a:xfrm>
          <a:prstGeom prst="rect">
            <a:avLst/>
          </a:prstGeom>
          <a:noFill/>
          <a:ln/>
        </p:spPr>
        <p:txBody>
          <a:bodyPr wrap="square" lIns="0" tIns="0" rIns="0" bIns="0" rtlCol="0" anchor="ctr"/>
          <a:lstStyle/>
          <a:p>
            <a:pPr algn="r" indent="0" marL="0">
              <a:buNone/>
            </a:pPr>
            <a:r>
              <a:rPr lang="en-US" sz="1100" dirty="0">
                <a:solidFill>
                  <a:srgbClr val="CADCFC"/>
                </a:solidFill>
                <a:latin typeface="Calibri" pitchFamily="34" charset="0"/>
                <a:ea typeface="Calibri" pitchFamily="34" charset="-122"/>
                <a:cs typeface="Calibri" pitchFamily="34" charset="-120"/>
              </a:rPr>
              <a:t>4.20%</a:t>
            </a:r>
            <a:endParaRPr lang="en-US" sz="1100" dirty="0"/>
          </a:p>
        </p:txBody>
      </p:sp>
      <p:sp>
        <p:nvSpPr>
          <p:cNvPr id="25" name="Text 23"/>
          <p:cNvSpPr/>
          <p:nvPr/>
        </p:nvSpPr>
        <p:spPr>
          <a:xfrm>
            <a:off x="7872984" y="2153412"/>
            <a:ext cx="2606040" cy="274320"/>
          </a:xfrm>
          <a:prstGeom prst="rect">
            <a:avLst/>
          </a:prstGeom>
          <a:noFill/>
          <a:ln/>
        </p:spPr>
        <p:txBody>
          <a:bodyPr wrap="square" lIns="0" tIns="0" rIns="0" bIns="0" rtlCol="0" anchor="ctr"/>
          <a:lstStyle/>
          <a:p>
            <a:pPr indent="0" marL="0">
              <a:buNone/>
            </a:pPr>
            <a:r>
              <a:rPr lang="en-US" sz="1100" dirty="0">
                <a:solidFill>
                  <a:srgbClr val="CADCFC"/>
                </a:solidFill>
                <a:latin typeface="Calibri" pitchFamily="34" charset="0"/>
                <a:ea typeface="Calibri" pitchFamily="34" charset="-122"/>
                <a:cs typeface="Calibri" pitchFamily="34" charset="-120"/>
              </a:rPr>
              <a:t>Beta 1.15 × ERP 6.00%</a:t>
            </a:r>
            <a:endParaRPr lang="en-US" sz="1100" dirty="0"/>
          </a:p>
        </p:txBody>
      </p:sp>
      <p:sp>
        <p:nvSpPr>
          <p:cNvPr id="26" name="Text 24"/>
          <p:cNvSpPr/>
          <p:nvPr/>
        </p:nvSpPr>
        <p:spPr>
          <a:xfrm>
            <a:off x="10479024" y="2153412"/>
            <a:ext cx="960120" cy="274320"/>
          </a:xfrm>
          <a:prstGeom prst="rect">
            <a:avLst/>
          </a:prstGeom>
          <a:noFill/>
          <a:ln/>
        </p:spPr>
        <p:txBody>
          <a:bodyPr wrap="square" lIns="0" tIns="0" rIns="0" bIns="0" rtlCol="0" anchor="ctr"/>
          <a:lstStyle/>
          <a:p>
            <a:pPr algn="r" indent="0" marL="0">
              <a:buNone/>
            </a:pPr>
            <a:r>
              <a:rPr lang="en-US" sz="1100" dirty="0">
                <a:solidFill>
                  <a:srgbClr val="CADCFC"/>
                </a:solidFill>
                <a:latin typeface="Calibri" pitchFamily="34" charset="0"/>
                <a:ea typeface="Calibri" pitchFamily="34" charset="-122"/>
                <a:cs typeface="Calibri" pitchFamily="34" charset="-120"/>
              </a:rPr>
              <a:t>6.90%</a:t>
            </a:r>
            <a:endParaRPr lang="en-US" sz="1100" dirty="0"/>
          </a:p>
        </p:txBody>
      </p:sp>
      <p:sp>
        <p:nvSpPr>
          <p:cNvPr id="27" name="Text 25"/>
          <p:cNvSpPr/>
          <p:nvPr/>
        </p:nvSpPr>
        <p:spPr>
          <a:xfrm>
            <a:off x="7872984" y="2459736"/>
            <a:ext cx="2606040" cy="274320"/>
          </a:xfrm>
          <a:prstGeom prst="rect">
            <a:avLst/>
          </a:prstGeom>
          <a:noFill/>
          <a:ln/>
        </p:spPr>
        <p:txBody>
          <a:bodyPr wrap="square" lIns="0" tIns="0" rIns="0" bIns="0" rtlCol="0" anchor="ctr"/>
          <a:lstStyle/>
          <a:p>
            <a:pPr indent="0" marL="0">
              <a:buNone/>
            </a:pPr>
            <a:r>
              <a:rPr lang="en-US" sz="1100" dirty="0">
                <a:solidFill>
                  <a:srgbClr val="CADCFC"/>
                </a:solidFill>
                <a:latin typeface="Calibri" pitchFamily="34" charset="0"/>
                <a:ea typeface="Calibri" pitchFamily="34" charset="-122"/>
                <a:cs typeface="Calibri" pitchFamily="34" charset="-120"/>
              </a:rPr>
              <a:t>UAE country risk premium</a:t>
            </a:r>
            <a:endParaRPr lang="en-US" sz="1100" dirty="0"/>
          </a:p>
        </p:txBody>
      </p:sp>
      <p:sp>
        <p:nvSpPr>
          <p:cNvPr id="28" name="Text 26"/>
          <p:cNvSpPr/>
          <p:nvPr/>
        </p:nvSpPr>
        <p:spPr>
          <a:xfrm>
            <a:off x="10479024" y="2459736"/>
            <a:ext cx="960120" cy="274320"/>
          </a:xfrm>
          <a:prstGeom prst="rect">
            <a:avLst/>
          </a:prstGeom>
          <a:noFill/>
          <a:ln/>
        </p:spPr>
        <p:txBody>
          <a:bodyPr wrap="square" lIns="0" tIns="0" rIns="0" bIns="0" rtlCol="0" anchor="ctr"/>
          <a:lstStyle/>
          <a:p>
            <a:pPr algn="r" indent="0" marL="0">
              <a:buNone/>
            </a:pPr>
            <a:r>
              <a:rPr lang="en-US" sz="1100" dirty="0">
                <a:solidFill>
                  <a:srgbClr val="CADCFC"/>
                </a:solidFill>
                <a:latin typeface="Calibri" pitchFamily="34" charset="0"/>
                <a:ea typeface="Calibri" pitchFamily="34" charset="-122"/>
                <a:cs typeface="Calibri" pitchFamily="34" charset="-120"/>
              </a:rPr>
              <a:t>0.75%</a:t>
            </a:r>
            <a:endParaRPr lang="en-US" sz="1100" dirty="0"/>
          </a:p>
        </p:txBody>
      </p:sp>
      <p:sp>
        <p:nvSpPr>
          <p:cNvPr id="29" name="Text 27"/>
          <p:cNvSpPr/>
          <p:nvPr/>
        </p:nvSpPr>
        <p:spPr>
          <a:xfrm>
            <a:off x="7872984" y="2766060"/>
            <a:ext cx="2606040" cy="274320"/>
          </a:xfrm>
          <a:prstGeom prst="rect">
            <a:avLst/>
          </a:prstGeom>
          <a:noFill/>
          <a:ln/>
        </p:spPr>
        <p:txBody>
          <a:bodyPr wrap="square" lIns="0" tIns="0" rIns="0" bIns="0" rtlCol="0" anchor="ctr"/>
          <a:lstStyle/>
          <a:p>
            <a:pPr indent="0" marL="0">
              <a:buNone/>
            </a:pPr>
            <a:r>
              <a:rPr lang="en-US" sz="1100" dirty="0">
                <a:solidFill>
                  <a:srgbClr val="CADCFC"/>
                </a:solidFill>
                <a:latin typeface="Calibri" pitchFamily="34" charset="0"/>
                <a:ea typeface="Calibri" pitchFamily="34" charset="-122"/>
                <a:cs typeface="Calibri" pitchFamily="34" charset="-120"/>
              </a:rPr>
              <a:t>Project execution premium</a:t>
            </a:r>
            <a:endParaRPr lang="en-US" sz="1100" dirty="0"/>
          </a:p>
        </p:txBody>
      </p:sp>
      <p:sp>
        <p:nvSpPr>
          <p:cNvPr id="30" name="Text 28"/>
          <p:cNvSpPr/>
          <p:nvPr/>
        </p:nvSpPr>
        <p:spPr>
          <a:xfrm>
            <a:off x="10479024" y="2766060"/>
            <a:ext cx="960120" cy="274320"/>
          </a:xfrm>
          <a:prstGeom prst="rect">
            <a:avLst/>
          </a:prstGeom>
          <a:noFill/>
          <a:ln/>
        </p:spPr>
        <p:txBody>
          <a:bodyPr wrap="square" lIns="0" tIns="0" rIns="0" bIns="0" rtlCol="0" anchor="ctr"/>
          <a:lstStyle/>
          <a:p>
            <a:pPr algn="r" indent="0" marL="0">
              <a:buNone/>
            </a:pPr>
            <a:r>
              <a:rPr lang="en-US" sz="1100" dirty="0">
                <a:solidFill>
                  <a:srgbClr val="CADCFC"/>
                </a:solidFill>
                <a:latin typeface="Calibri" pitchFamily="34" charset="0"/>
                <a:ea typeface="Calibri" pitchFamily="34" charset="-122"/>
                <a:cs typeface="Calibri" pitchFamily="34" charset="-120"/>
              </a:rPr>
              <a:t>3.50%</a:t>
            </a:r>
            <a:endParaRPr lang="en-US" sz="1100" dirty="0"/>
          </a:p>
        </p:txBody>
      </p:sp>
      <p:sp>
        <p:nvSpPr>
          <p:cNvPr id="31" name="Text 29"/>
          <p:cNvSpPr/>
          <p:nvPr/>
        </p:nvSpPr>
        <p:spPr>
          <a:xfrm>
            <a:off x="7872984" y="3072384"/>
            <a:ext cx="2606040" cy="274320"/>
          </a:xfrm>
          <a:prstGeom prst="rect">
            <a:avLst/>
          </a:prstGeom>
          <a:noFill/>
          <a:ln/>
        </p:spPr>
        <p:txBody>
          <a:bodyPr wrap="square" lIns="0" tIns="0" rIns="0" bIns="0" rtlCol="0" anchor="ctr"/>
          <a:lstStyle/>
          <a:p>
            <a:pPr indent="0" marL="0">
              <a:buNone/>
            </a:pPr>
            <a:r>
              <a:rPr lang="en-US" sz="1100" b="1" dirty="0">
                <a:solidFill>
                  <a:srgbClr val="F8FAFC"/>
                </a:solidFill>
                <a:latin typeface="Calibri" pitchFamily="34" charset="0"/>
                <a:ea typeface="Calibri" pitchFamily="34" charset="-122"/>
                <a:cs typeface="Calibri" pitchFamily="34" charset="-120"/>
              </a:rPr>
              <a:t>Cost of equity</a:t>
            </a:r>
            <a:endParaRPr lang="en-US" sz="1100" dirty="0"/>
          </a:p>
        </p:txBody>
      </p:sp>
      <p:sp>
        <p:nvSpPr>
          <p:cNvPr id="32" name="Text 30"/>
          <p:cNvSpPr/>
          <p:nvPr/>
        </p:nvSpPr>
        <p:spPr>
          <a:xfrm>
            <a:off x="10479024" y="3072384"/>
            <a:ext cx="960120" cy="274320"/>
          </a:xfrm>
          <a:prstGeom prst="rect">
            <a:avLst/>
          </a:prstGeom>
          <a:noFill/>
          <a:ln/>
        </p:spPr>
        <p:txBody>
          <a:bodyPr wrap="square" lIns="0" tIns="0" rIns="0" bIns="0" rtlCol="0" anchor="ctr"/>
          <a:lstStyle/>
          <a:p>
            <a:pPr algn="r" indent="0" marL="0">
              <a:buNone/>
            </a:pPr>
            <a:r>
              <a:rPr lang="en-US" sz="1100" b="1" dirty="0">
                <a:solidFill>
                  <a:srgbClr val="22D3EE"/>
                </a:solidFill>
                <a:latin typeface="Calibri" pitchFamily="34" charset="0"/>
                <a:ea typeface="Calibri" pitchFamily="34" charset="-122"/>
                <a:cs typeface="Calibri" pitchFamily="34" charset="-120"/>
              </a:rPr>
              <a:t>15.35%</a:t>
            </a:r>
            <a:endParaRPr lang="en-US" sz="1100" dirty="0"/>
          </a:p>
        </p:txBody>
      </p:sp>
      <p:sp>
        <p:nvSpPr>
          <p:cNvPr id="33" name="Text 31"/>
          <p:cNvSpPr/>
          <p:nvPr/>
        </p:nvSpPr>
        <p:spPr>
          <a:xfrm>
            <a:off x="7872984" y="3378708"/>
            <a:ext cx="2606040" cy="274320"/>
          </a:xfrm>
          <a:prstGeom prst="rect">
            <a:avLst/>
          </a:prstGeom>
          <a:noFill/>
          <a:ln/>
        </p:spPr>
        <p:txBody>
          <a:bodyPr wrap="square" lIns="0" tIns="0" rIns="0" bIns="0" rtlCol="0" anchor="ctr"/>
          <a:lstStyle/>
          <a:p>
            <a:pPr indent="0" marL="0">
              <a:buNone/>
            </a:pPr>
            <a:r>
              <a:rPr lang="en-US" sz="1100" b="1" dirty="0">
                <a:solidFill>
                  <a:srgbClr val="F8FAFC"/>
                </a:solidFill>
                <a:latin typeface="Calibri" pitchFamily="34" charset="0"/>
                <a:ea typeface="Calibri" pitchFamily="34" charset="-122"/>
                <a:cs typeface="Calibri" pitchFamily="34" charset="-120"/>
              </a:rPr>
              <a:t>After-tax cost of debt</a:t>
            </a:r>
            <a:endParaRPr lang="en-US" sz="1100" dirty="0"/>
          </a:p>
        </p:txBody>
      </p:sp>
      <p:sp>
        <p:nvSpPr>
          <p:cNvPr id="34" name="Text 32"/>
          <p:cNvSpPr/>
          <p:nvPr/>
        </p:nvSpPr>
        <p:spPr>
          <a:xfrm>
            <a:off x="10479024" y="3378708"/>
            <a:ext cx="960120" cy="274320"/>
          </a:xfrm>
          <a:prstGeom prst="rect">
            <a:avLst/>
          </a:prstGeom>
          <a:noFill/>
          <a:ln/>
        </p:spPr>
        <p:txBody>
          <a:bodyPr wrap="square" lIns="0" tIns="0" rIns="0" bIns="0" rtlCol="0" anchor="ctr"/>
          <a:lstStyle/>
          <a:p>
            <a:pPr algn="r" indent="0" marL="0">
              <a:buNone/>
            </a:pPr>
            <a:r>
              <a:rPr lang="en-US" sz="1100" b="1" dirty="0">
                <a:solidFill>
                  <a:srgbClr val="22D3EE"/>
                </a:solidFill>
                <a:latin typeface="Calibri" pitchFamily="34" charset="0"/>
                <a:ea typeface="Calibri" pitchFamily="34" charset="-122"/>
                <a:cs typeface="Calibri" pitchFamily="34" charset="-120"/>
              </a:rPr>
              <a:t>5.72%</a:t>
            </a:r>
            <a:endParaRPr lang="en-US" sz="1100" dirty="0"/>
          </a:p>
        </p:txBody>
      </p:sp>
      <p:sp>
        <p:nvSpPr>
          <p:cNvPr id="35" name="Text 33"/>
          <p:cNvSpPr/>
          <p:nvPr/>
        </p:nvSpPr>
        <p:spPr>
          <a:xfrm>
            <a:off x="7872984" y="3685032"/>
            <a:ext cx="2606040" cy="274320"/>
          </a:xfrm>
          <a:prstGeom prst="rect">
            <a:avLst/>
          </a:prstGeom>
          <a:noFill/>
          <a:ln/>
        </p:spPr>
        <p:txBody>
          <a:bodyPr wrap="square" lIns="0" tIns="0" rIns="0" bIns="0" rtlCol="0" anchor="ctr"/>
          <a:lstStyle/>
          <a:p>
            <a:pPr indent="0" marL="0">
              <a:buNone/>
            </a:pPr>
            <a:r>
              <a:rPr lang="en-US" sz="1100" b="1" dirty="0">
                <a:solidFill>
                  <a:srgbClr val="F8FAFC"/>
                </a:solidFill>
                <a:latin typeface="Calibri" pitchFamily="34" charset="0"/>
                <a:ea typeface="Calibri" pitchFamily="34" charset="-122"/>
                <a:cs typeface="Calibri" pitchFamily="34" charset="-120"/>
              </a:rPr>
              <a:t>WACC at 60/40 equity–debt</a:t>
            </a:r>
            <a:endParaRPr lang="en-US" sz="1100" dirty="0"/>
          </a:p>
        </p:txBody>
      </p:sp>
      <p:sp>
        <p:nvSpPr>
          <p:cNvPr id="36" name="Text 34"/>
          <p:cNvSpPr/>
          <p:nvPr/>
        </p:nvSpPr>
        <p:spPr>
          <a:xfrm>
            <a:off x="10479024" y="3685032"/>
            <a:ext cx="960120" cy="274320"/>
          </a:xfrm>
          <a:prstGeom prst="rect">
            <a:avLst/>
          </a:prstGeom>
          <a:noFill/>
          <a:ln/>
        </p:spPr>
        <p:txBody>
          <a:bodyPr wrap="square" lIns="0" tIns="0" rIns="0" bIns="0" rtlCol="0" anchor="ctr"/>
          <a:lstStyle/>
          <a:p>
            <a:pPr algn="r" indent="0" marL="0">
              <a:buNone/>
            </a:pPr>
            <a:r>
              <a:rPr lang="en-US" sz="1100" b="1" dirty="0">
                <a:solidFill>
                  <a:srgbClr val="22D3EE"/>
                </a:solidFill>
                <a:latin typeface="Calibri" pitchFamily="34" charset="0"/>
                <a:ea typeface="Calibri" pitchFamily="34" charset="-122"/>
                <a:cs typeface="Calibri" pitchFamily="34" charset="-120"/>
              </a:rPr>
              <a:t>11.50%</a:t>
            </a:r>
            <a:endParaRPr lang="en-US" sz="1100" dirty="0"/>
          </a:p>
        </p:txBody>
      </p:sp>
      <p:sp>
        <p:nvSpPr>
          <p:cNvPr id="37" name="Shape 35"/>
          <p:cNvSpPr/>
          <p:nvPr/>
        </p:nvSpPr>
        <p:spPr>
          <a:xfrm>
            <a:off x="566928" y="4224528"/>
            <a:ext cx="11057839" cy="1207008"/>
          </a:xfrm>
          <a:prstGeom prst="roundRect">
            <a:avLst>
              <a:gd name="adj" fmla="val 7576"/>
            </a:avLst>
          </a:prstGeom>
          <a:solidFill>
            <a:srgbClr val="13314E"/>
          </a:solidFill>
          <a:ln w="12700">
            <a:solidFill>
              <a:srgbClr val="1E4463"/>
            </a:solidFill>
            <a:prstDash val="solid"/>
          </a:ln>
          <a:effectLst>
            <a:outerShdw sx="100000" sy="100000" kx="0" ky="0" algn="bl" rotWithShape="0" blurRad="177800" dist="38100" dir="5400000">
              <a:srgbClr val="000000">
                <a:alpha val="35000"/>
              </a:srgbClr>
            </a:outerShdw>
          </a:effectLst>
        </p:spPr>
      </p:sp>
      <p:sp>
        <p:nvSpPr>
          <p:cNvPr id="38" name="Shape 36"/>
          <p:cNvSpPr/>
          <p:nvPr/>
        </p:nvSpPr>
        <p:spPr>
          <a:xfrm>
            <a:off x="822960" y="4443984"/>
            <a:ext cx="310896" cy="310896"/>
          </a:xfrm>
          <a:prstGeom prst="ellipse">
            <a:avLst/>
          </a:prstGeom>
          <a:solidFill>
            <a:srgbClr val="22D3EE"/>
          </a:solidFill>
          <a:ln w="12700">
            <a:solidFill>
              <a:srgbClr val="22D3EE"/>
            </a:solidFill>
            <a:prstDash val="solid"/>
          </a:ln>
        </p:spPr>
      </p:sp>
      <p:sp>
        <p:nvSpPr>
          <p:cNvPr id="39" name="Text 37"/>
          <p:cNvSpPr/>
          <p:nvPr/>
        </p:nvSpPr>
        <p:spPr>
          <a:xfrm>
            <a:off x="822960" y="4443984"/>
            <a:ext cx="310896" cy="310896"/>
          </a:xfrm>
          <a:prstGeom prst="rect">
            <a:avLst/>
          </a:prstGeom>
          <a:noFill/>
          <a:ln/>
        </p:spPr>
        <p:txBody>
          <a:bodyPr wrap="square" lIns="0" tIns="0" rIns="0" bIns="0" rtlCol="0" anchor="ctr"/>
          <a:lstStyle/>
          <a:p>
            <a:pPr algn="ctr" indent="0" marL="0">
              <a:buNone/>
            </a:pPr>
            <a:r>
              <a:rPr lang="en-US" sz="1300" b="1" dirty="0">
                <a:solidFill>
                  <a:srgbClr val="0B1A2E"/>
                </a:solidFill>
                <a:latin typeface="Calibri" pitchFamily="34" charset="0"/>
                <a:ea typeface="Calibri" pitchFamily="34" charset="-122"/>
                <a:cs typeface="Calibri" pitchFamily="34" charset="-120"/>
              </a:rPr>
              <a:t>✓</a:t>
            </a:r>
            <a:endParaRPr lang="en-US" sz="1300" dirty="0"/>
          </a:p>
        </p:txBody>
      </p:sp>
      <p:sp>
        <p:nvSpPr>
          <p:cNvPr id="40" name="Text 38"/>
          <p:cNvSpPr/>
          <p:nvPr/>
        </p:nvSpPr>
        <p:spPr>
          <a:xfrm>
            <a:off x="1261872" y="4425696"/>
            <a:ext cx="5486400" cy="292608"/>
          </a:xfrm>
          <a:prstGeom prst="rect">
            <a:avLst/>
          </a:prstGeom>
          <a:noFill/>
          <a:ln/>
        </p:spPr>
        <p:txBody>
          <a:bodyPr wrap="square" lIns="0" tIns="0" rIns="0" bIns="0" rtlCol="0" anchor="ctr"/>
          <a:lstStyle/>
          <a:p>
            <a:pPr indent="0" marL="0">
              <a:buNone/>
            </a:pPr>
            <a:r>
              <a:rPr lang="en-US" sz="1400" b="1" dirty="0">
                <a:solidFill>
                  <a:srgbClr val="F8FAFC"/>
                </a:solidFill>
                <a:latin typeface="Calibri" pitchFamily="34" charset="0"/>
                <a:ea typeface="Calibri" pitchFamily="34" charset="-122"/>
                <a:cs typeface="Calibri" pitchFamily="34" charset="-120"/>
              </a:rPr>
              <a:t>The AED 7.5M savings figure is derived, not assumed</a:t>
            </a:r>
            <a:endParaRPr lang="en-US" sz="1400" dirty="0"/>
          </a:p>
        </p:txBody>
      </p:sp>
      <p:sp>
        <p:nvSpPr>
          <p:cNvPr id="41" name="Text 39"/>
          <p:cNvSpPr/>
          <p:nvPr/>
        </p:nvSpPr>
        <p:spPr>
          <a:xfrm>
            <a:off x="841248" y="4754880"/>
            <a:ext cx="10509199" cy="56692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75.2 manual full-time equivalents against 8.3 automated  →  66.9 displaced  ×  AED 112,000 all-in loaded cost  =  AED 7,491,556 — within 0.11% of the forecast. This single input drives roughly three-quarters of the project value, so it is the one number that must not be asserted.</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1A2E"/>
        </a:solidFill>
      </p:bgPr>
    </p:bg>
    <p:spTree>
      <p:nvGrpSpPr>
        <p:cNvPr id="1" name=""/>
        <p:cNvGrpSpPr/>
        <p:nvPr/>
      </p:nvGrpSpPr>
      <p:grpSpPr>
        <a:xfrm>
          <a:off x="0" y="0"/>
          <a:ext cx="0" cy="0"/>
          <a:chOff x="0" y="0"/>
          <a:chExt cx="0" cy="0"/>
        </a:xfrm>
      </p:grpSpPr>
      <p:sp>
        <p:nvSpPr>
          <p:cNvPr id="2" name="Text 0"/>
          <p:cNvSpPr/>
          <p:nvPr/>
        </p:nvSpPr>
        <p:spPr>
          <a:xfrm>
            <a:off x="566928" y="310896"/>
            <a:ext cx="8680399" cy="237744"/>
          </a:xfrm>
          <a:prstGeom prst="rect">
            <a:avLst/>
          </a:prstGeom>
          <a:noFill/>
          <a:ln/>
        </p:spPr>
        <p:txBody>
          <a:bodyPr wrap="square" lIns="0" tIns="0" rIns="0" bIns="0" rtlCol="0" anchor="ctr"/>
          <a:lstStyle/>
          <a:p>
            <a:pPr indent="0" marL="0">
              <a:buNone/>
            </a:pPr>
            <a:r>
              <a:rPr lang="en-US" sz="1100" b="1" spc="200" kern="0" dirty="0">
                <a:solidFill>
                  <a:srgbClr val="22D3EE"/>
                </a:solidFill>
                <a:latin typeface="Calibri" pitchFamily="34" charset="0"/>
                <a:ea typeface="Calibri" pitchFamily="34" charset="-122"/>
                <a:cs typeface="Calibri" pitchFamily="34" charset="-120"/>
              </a:rPr>
              <a:t>THE ENGINE</a:t>
            </a:r>
            <a:endParaRPr lang="en-US" sz="1100" dirty="0"/>
          </a:p>
        </p:txBody>
      </p:sp>
      <p:sp>
        <p:nvSpPr>
          <p:cNvPr id="3" name="Text 1"/>
          <p:cNvSpPr/>
          <p:nvPr/>
        </p:nvSpPr>
        <p:spPr>
          <a:xfrm>
            <a:off x="566928" y="548640"/>
            <a:ext cx="8680399" cy="566928"/>
          </a:xfrm>
          <a:prstGeom prst="rect">
            <a:avLst/>
          </a:prstGeom>
          <a:noFill/>
          <a:ln/>
        </p:spPr>
        <p:txBody>
          <a:bodyPr wrap="square" lIns="0" tIns="0" rIns="0" bIns="0" rtlCol="0" anchor="ctr"/>
          <a:lstStyle/>
          <a:p>
            <a:pPr indent="0" marL="0">
              <a:buNone/>
            </a:pPr>
            <a:r>
              <a:rPr lang="en-US" sz="3000" b="1" dirty="0">
                <a:solidFill>
                  <a:srgbClr val="F8FAFC"/>
                </a:solidFill>
                <a:latin typeface="Cambria" pitchFamily="34" charset="0"/>
                <a:ea typeface="Cambria" pitchFamily="34" charset="-122"/>
                <a:cs typeface="Cambria" pitchFamily="34" charset="-120"/>
              </a:rPr>
              <a:t>Six years of after-tax free cash flow</a:t>
            </a:r>
            <a:endParaRPr lang="en-US" sz="3000" dirty="0"/>
          </a:p>
        </p:txBody>
      </p:sp>
      <p:graphicFrame>
        <p:nvGraphicFramePr>
          <p:cNvPr id="4" name="Chart 0" descr=""/>
          <p:cNvGraphicFramePr/>
          <p:nvPr/>
        </p:nvGraphicFramePr>
        <p:xfrm>
          <a:off x="566928" y="1298448"/>
          <a:ext cx="6812280" cy="3310128"/>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571232" y="1298448"/>
            <a:ext cx="4053535" cy="3310128"/>
          </a:xfrm>
          <a:prstGeom prst="roundRect">
            <a:avLst>
              <a:gd name="adj" fmla="val 2762"/>
            </a:avLst>
          </a:prstGeom>
          <a:solidFill>
            <a:srgbClr val="0F2740"/>
          </a:solidFill>
          <a:ln w="12700">
            <a:solidFill>
              <a:srgbClr val="1E4463"/>
            </a:solidFill>
            <a:prstDash val="solid"/>
          </a:ln>
          <a:effectLst>
            <a:outerShdw sx="100000" sy="100000" kx="0" ky="0" algn="bl" rotWithShape="0" blurRad="177800" dist="38100" dir="5400000">
              <a:srgbClr val="000000">
                <a:alpha val="35000"/>
              </a:srgbClr>
            </a:outerShdw>
          </a:effectLst>
        </p:spPr>
      </p:sp>
      <p:sp>
        <p:nvSpPr>
          <p:cNvPr id="6" name="Text 3"/>
          <p:cNvSpPr/>
          <p:nvPr/>
        </p:nvSpPr>
        <p:spPr>
          <a:xfrm>
            <a:off x="7808976" y="1444752"/>
            <a:ext cx="3657600" cy="292608"/>
          </a:xfrm>
          <a:prstGeom prst="rect">
            <a:avLst/>
          </a:prstGeom>
          <a:noFill/>
          <a:ln/>
        </p:spPr>
        <p:txBody>
          <a:bodyPr wrap="square" lIns="0" tIns="0" rIns="0" bIns="0" rtlCol="0" anchor="ctr"/>
          <a:lstStyle/>
          <a:p>
            <a:pPr indent="0" marL="0">
              <a:buNone/>
            </a:pPr>
            <a:r>
              <a:rPr lang="en-US" sz="1350" b="1" dirty="0">
                <a:solidFill>
                  <a:srgbClr val="22D3EE"/>
                </a:solidFill>
                <a:latin typeface="Calibri" pitchFamily="34" charset="0"/>
                <a:ea typeface="Calibri" pitchFamily="34" charset="-122"/>
                <a:cs typeface="Calibri" pitchFamily="34" charset="-120"/>
              </a:rPr>
              <a:t>How the Year-1 line is built</a:t>
            </a:r>
            <a:endParaRPr lang="en-US" sz="1350" dirty="0"/>
          </a:p>
        </p:txBody>
      </p:sp>
      <p:sp>
        <p:nvSpPr>
          <p:cNvPr id="7" name="Text 4"/>
          <p:cNvSpPr/>
          <p:nvPr/>
        </p:nvSpPr>
        <p:spPr>
          <a:xfrm>
            <a:off x="7808976" y="1810512"/>
            <a:ext cx="2331720" cy="274320"/>
          </a:xfrm>
          <a:prstGeom prst="rect">
            <a:avLst/>
          </a:prstGeom>
          <a:noFill/>
          <a:ln/>
        </p:spPr>
        <p:txBody>
          <a:bodyPr wrap="square" lIns="0" tIns="0" rIns="0" bIns="0" rtlCol="0" anchor="ctr"/>
          <a:lstStyle/>
          <a:p>
            <a:pPr indent="0" marL="0">
              <a:buNone/>
            </a:pPr>
            <a:r>
              <a:rPr lang="en-US" sz="1050" dirty="0">
                <a:solidFill>
                  <a:srgbClr val="CADCFC"/>
                </a:solidFill>
                <a:latin typeface="Calibri" pitchFamily="34" charset="0"/>
                <a:ea typeface="Calibri" pitchFamily="34" charset="-122"/>
                <a:cs typeface="Calibri" pitchFamily="34" charset="-120"/>
              </a:rPr>
              <a:t>Operating savings</a:t>
            </a:r>
            <a:endParaRPr lang="en-US" sz="1050" dirty="0"/>
          </a:p>
        </p:txBody>
      </p:sp>
      <p:sp>
        <p:nvSpPr>
          <p:cNvPr id="8" name="Text 5"/>
          <p:cNvSpPr/>
          <p:nvPr/>
        </p:nvSpPr>
        <p:spPr>
          <a:xfrm>
            <a:off x="10003536" y="1810512"/>
            <a:ext cx="1417320" cy="274320"/>
          </a:xfrm>
          <a:prstGeom prst="rect">
            <a:avLst/>
          </a:prstGeom>
          <a:noFill/>
          <a:ln/>
        </p:spPr>
        <p:txBody>
          <a:bodyPr wrap="square" lIns="0" tIns="0" rIns="0" bIns="0" rtlCol="0" anchor="ctr"/>
          <a:lstStyle/>
          <a:p>
            <a:pPr algn="r" indent="0" marL="0">
              <a:buNone/>
            </a:pPr>
            <a:r>
              <a:rPr lang="en-US" sz="1050" dirty="0">
                <a:solidFill>
                  <a:srgbClr val="CADCFC"/>
                </a:solidFill>
                <a:latin typeface="Calibri" pitchFamily="34" charset="0"/>
                <a:ea typeface="Calibri" pitchFamily="34" charset="-122"/>
                <a:cs typeface="Calibri" pitchFamily="34" charset="-120"/>
              </a:rPr>
              <a:t>7,500,000</a:t>
            </a:r>
            <a:endParaRPr lang="en-US" sz="1050" dirty="0"/>
          </a:p>
        </p:txBody>
      </p:sp>
      <p:sp>
        <p:nvSpPr>
          <p:cNvPr id="9" name="Text 6"/>
          <p:cNvSpPr/>
          <p:nvPr/>
        </p:nvSpPr>
        <p:spPr>
          <a:xfrm>
            <a:off x="7808976" y="2107692"/>
            <a:ext cx="2331720" cy="274320"/>
          </a:xfrm>
          <a:prstGeom prst="rect">
            <a:avLst/>
          </a:prstGeom>
          <a:noFill/>
          <a:ln/>
        </p:spPr>
        <p:txBody>
          <a:bodyPr wrap="square" lIns="0" tIns="0" rIns="0" bIns="0" rtlCol="0" anchor="ctr"/>
          <a:lstStyle/>
          <a:p>
            <a:pPr indent="0" marL="0">
              <a:buNone/>
            </a:pPr>
            <a:r>
              <a:rPr lang="en-US" sz="1050" dirty="0">
                <a:solidFill>
                  <a:srgbClr val="CADCFC"/>
                </a:solidFill>
                <a:latin typeface="Calibri" pitchFamily="34" charset="0"/>
                <a:ea typeface="Calibri" pitchFamily="34" charset="-122"/>
                <a:cs typeface="Calibri" pitchFamily="34" charset="-120"/>
              </a:rPr>
              <a:t>Contribution margin</a:t>
            </a:r>
            <a:endParaRPr lang="en-US" sz="1050" dirty="0"/>
          </a:p>
        </p:txBody>
      </p:sp>
      <p:sp>
        <p:nvSpPr>
          <p:cNvPr id="10" name="Text 7"/>
          <p:cNvSpPr/>
          <p:nvPr/>
        </p:nvSpPr>
        <p:spPr>
          <a:xfrm>
            <a:off x="10003536" y="2107692"/>
            <a:ext cx="1417320" cy="274320"/>
          </a:xfrm>
          <a:prstGeom prst="rect">
            <a:avLst/>
          </a:prstGeom>
          <a:noFill/>
          <a:ln/>
        </p:spPr>
        <p:txBody>
          <a:bodyPr wrap="square" lIns="0" tIns="0" rIns="0" bIns="0" rtlCol="0" anchor="ctr"/>
          <a:lstStyle/>
          <a:p>
            <a:pPr algn="r" indent="0" marL="0">
              <a:buNone/>
            </a:pPr>
            <a:r>
              <a:rPr lang="en-US" sz="1050" dirty="0">
                <a:solidFill>
                  <a:srgbClr val="CADCFC"/>
                </a:solidFill>
                <a:latin typeface="Calibri" pitchFamily="34" charset="0"/>
                <a:ea typeface="Calibri" pitchFamily="34" charset="-122"/>
                <a:cs typeface="Calibri" pitchFamily="34" charset="-120"/>
              </a:rPr>
              <a:t>2,500,000</a:t>
            </a:r>
            <a:endParaRPr lang="en-US" sz="1050" dirty="0"/>
          </a:p>
        </p:txBody>
      </p:sp>
      <p:sp>
        <p:nvSpPr>
          <p:cNvPr id="11" name="Text 8"/>
          <p:cNvSpPr/>
          <p:nvPr/>
        </p:nvSpPr>
        <p:spPr>
          <a:xfrm>
            <a:off x="7808976" y="2404872"/>
            <a:ext cx="2331720" cy="274320"/>
          </a:xfrm>
          <a:prstGeom prst="rect">
            <a:avLst/>
          </a:prstGeom>
          <a:noFill/>
          <a:ln/>
        </p:spPr>
        <p:txBody>
          <a:bodyPr wrap="square" lIns="0" tIns="0" rIns="0" bIns="0" rtlCol="0" anchor="ctr"/>
          <a:lstStyle/>
          <a:p>
            <a:pPr indent="0" marL="0">
              <a:buNone/>
            </a:pPr>
            <a:r>
              <a:rPr lang="en-US" sz="1050" dirty="0">
                <a:solidFill>
                  <a:srgbClr val="CADCFC"/>
                </a:solidFill>
                <a:latin typeface="Calibri" pitchFamily="34" charset="0"/>
                <a:ea typeface="Calibri" pitchFamily="34" charset="-122"/>
                <a:cs typeface="Calibri" pitchFamily="34" charset="-120"/>
              </a:rPr>
              <a:t>Less operating cost</a:t>
            </a:r>
            <a:endParaRPr lang="en-US" sz="1050" dirty="0"/>
          </a:p>
        </p:txBody>
      </p:sp>
      <p:sp>
        <p:nvSpPr>
          <p:cNvPr id="12" name="Text 9"/>
          <p:cNvSpPr/>
          <p:nvPr/>
        </p:nvSpPr>
        <p:spPr>
          <a:xfrm>
            <a:off x="10003536" y="2404872"/>
            <a:ext cx="1417320" cy="274320"/>
          </a:xfrm>
          <a:prstGeom prst="rect">
            <a:avLst/>
          </a:prstGeom>
          <a:noFill/>
          <a:ln/>
        </p:spPr>
        <p:txBody>
          <a:bodyPr wrap="square" lIns="0" tIns="0" rIns="0" bIns="0" rtlCol="0" anchor="ctr"/>
          <a:lstStyle/>
          <a:p>
            <a:pPr algn="r" indent="0" marL="0">
              <a:buNone/>
            </a:pPr>
            <a:r>
              <a:rPr lang="en-US" sz="1050" dirty="0">
                <a:solidFill>
                  <a:srgbClr val="CADCFC"/>
                </a:solidFill>
                <a:latin typeface="Calibri" pitchFamily="34" charset="0"/>
                <a:ea typeface="Calibri" pitchFamily="34" charset="-122"/>
                <a:cs typeface="Calibri" pitchFamily="34" charset="-120"/>
              </a:rPr>
              <a:t>(2,200,000)</a:t>
            </a:r>
            <a:endParaRPr lang="en-US" sz="1050" dirty="0"/>
          </a:p>
        </p:txBody>
      </p:sp>
      <p:sp>
        <p:nvSpPr>
          <p:cNvPr id="13" name="Text 10"/>
          <p:cNvSpPr/>
          <p:nvPr/>
        </p:nvSpPr>
        <p:spPr>
          <a:xfrm>
            <a:off x="7808976" y="2702052"/>
            <a:ext cx="2331720" cy="274320"/>
          </a:xfrm>
          <a:prstGeom prst="rect">
            <a:avLst/>
          </a:prstGeom>
          <a:noFill/>
          <a:ln/>
        </p:spPr>
        <p:txBody>
          <a:bodyPr wrap="square" lIns="0" tIns="0" rIns="0" bIns="0" rtlCol="0" anchor="ctr"/>
          <a:lstStyle/>
          <a:p>
            <a:pPr indent="0" marL="0">
              <a:buNone/>
            </a:pPr>
            <a:r>
              <a:rPr lang="en-US" sz="1050" b="1" dirty="0">
                <a:solidFill>
                  <a:srgbClr val="F8FAFC"/>
                </a:solidFill>
                <a:latin typeface="Calibri" pitchFamily="34" charset="0"/>
                <a:ea typeface="Calibri" pitchFamily="34" charset="-122"/>
                <a:cs typeface="Calibri" pitchFamily="34" charset="-120"/>
              </a:rPr>
              <a:t>EBITDA</a:t>
            </a:r>
            <a:endParaRPr lang="en-US" sz="1050" dirty="0"/>
          </a:p>
        </p:txBody>
      </p:sp>
      <p:sp>
        <p:nvSpPr>
          <p:cNvPr id="14" name="Text 11"/>
          <p:cNvSpPr/>
          <p:nvPr/>
        </p:nvSpPr>
        <p:spPr>
          <a:xfrm>
            <a:off x="10003536" y="2702052"/>
            <a:ext cx="1417320" cy="274320"/>
          </a:xfrm>
          <a:prstGeom prst="rect">
            <a:avLst/>
          </a:prstGeom>
          <a:noFill/>
          <a:ln/>
        </p:spPr>
        <p:txBody>
          <a:bodyPr wrap="square" lIns="0" tIns="0" rIns="0" bIns="0" rtlCol="0" anchor="ctr"/>
          <a:lstStyle/>
          <a:p>
            <a:pPr algn="r" indent="0" marL="0">
              <a:buNone/>
            </a:pPr>
            <a:r>
              <a:rPr lang="en-US" sz="1050" b="1" dirty="0">
                <a:solidFill>
                  <a:srgbClr val="22D3EE"/>
                </a:solidFill>
                <a:latin typeface="Calibri" pitchFamily="34" charset="0"/>
                <a:ea typeface="Calibri" pitchFamily="34" charset="-122"/>
                <a:cs typeface="Calibri" pitchFamily="34" charset="-120"/>
              </a:rPr>
              <a:t>7,800,000</a:t>
            </a:r>
            <a:endParaRPr lang="en-US" sz="1050" dirty="0"/>
          </a:p>
        </p:txBody>
      </p:sp>
      <p:sp>
        <p:nvSpPr>
          <p:cNvPr id="15" name="Text 12"/>
          <p:cNvSpPr/>
          <p:nvPr/>
        </p:nvSpPr>
        <p:spPr>
          <a:xfrm>
            <a:off x="7808976" y="2999232"/>
            <a:ext cx="2331720" cy="274320"/>
          </a:xfrm>
          <a:prstGeom prst="rect">
            <a:avLst/>
          </a:prstGeom>
          <a:noFill/>
          <a:ln/>
        </p:spPr>
        <p:txBody>
          <a:bodyPr wrap="square" lIns="0" tIns="0" rIns="0" bIns="0" rtlCol="0" anchor="ctr"/>
          <a:lstStyle/>
          <a:p>
            <a:pPr indent="0" marL="0">
              <a:buNone/>
            </a:pPr>
            <a:r>
              <a:rPr lang="en-US" sz="1050" dirty="0">
                <a:solidFill>
                  <a:srgbClr val="CADCFC"/>
                </a:solidFill>
                <a:latin typeface="Calibri" pitchFamily="34" charset="0"/>
                <a:ea typeface="Calibri" pitchFamily="34" charset="-122"/>
                <a:cs typeface="Calibri" pitchFamily="34" charset="-120"/>
              </a:rPr>
              <a:t>Less depreciation</a:t>
            </a:r>
            <a:endParaRPr lang="en-US" sz="1050" dirty="0"/>
          </a:p>
        </p:txBody>
      </p:sp>
      <p:sp>
        <p:nvSpPr>
          <p:cNvPr id="16" name="Text 13"/>
          <p:cNvSpPr/>
          <p:nvPr/>
        </p:nvSpPr>
        <p:spPr>
          <a:xfrm>
            <a:off x="10003536" y="2999232"/>
            <a:ext cx="1417320" cy="274320"/>
          </a:xfrm>
          <a:prstGeom prst="rect">
            <a:avLst/>
          </a:prstGeom>
          <a:noFill/>
          <a:ln/>
        </p:spPr>
        <p:txBody>
          <a:bodyPr wrap="square" lIns="0" tIns="0" rIns="0" bIns="0" rtlCol="0" anchor="ctr"/>
          <a:lstStyle/>
          <a:p>
            <a:pPr algn="r" indent="0" marL="0">
              <a:buNone/>
            </a:pPr>
            <a:r>
              <a:rPr lang="en-US" sz="1050" dirty="0">
                <a:solidFill>
                  <a:srgbClr val="CADCFC"/>
                </a:solidFill>
                <a:latin typeface="Calibri" pitchFamily="34" charset="0"/>
                <a:ea typeface="Calibri" pitchFamily="34" charset="-122"/>
                <a:cs typeface="Calibri" pitchFamily="34" charset="-120"/>
              </a:rPr>
              <a:t>(3,333,333)</a:t>
            </a:r>
            <a:endParaRPr lang="en-US" sz="1050" dirty="0"/>
          </a:p>
        </p:txBody>
      </p:sp>
      <p:sp>
        <p:nvSpPr>
          <p:cNvPr id="17" name="Text 14"/>
          <p:cNvSpPr/>
          <p:nvPr/>
        </p:nvSpPr>
        <p:spPr>
          <a:xfrm>
            <a:off x="7808976" y="3296412"/>
            <a:ext cx="2331720" cy="274320"/>
          </a:xfrm>
          <a:prstGeom prst="rect">
            <a:avLst/>
          </a:prstGeom>
          <a:noFill/>
          <a:ln/>
        </p:spPr>
        <p:txBody>
          <a:bodyPr wrap="square" lIns="0" tIns="0" rIns="0" bIns="0" rtlCol="0" anchor="ctr"/>
          <a:lstStyle/>
          <a:p>
            <a:pPr indent="0" marL="0">
              <a:buNone/>
            </a:pPr>
            <a:r>
              <a:rPr lang="en-US" sz="1050" b="1" dirty="0">
                <a:solidFill>
                  <a:srgbClr val="F8FAFC"/>
                </a:solidFill>
                <a:latin typeface="Calibri" pitchFamily="34" charset="0"/>
                <a:ea typeface="Calibri" pitchFamily="34" charset="-122"/>
                <a:cs typeface="Calibri" pitchFamily="34" charset="-120"/>
              </a:rPr>
              <a:t>EBIT</a:t>
            </a:r>
            <a:endParaRPr lang="en-US" sz="1050" dirty="0"/>
          </a:p>
        </p:txBody>
      </p:sp>
      <p:sp>
        <p:nvSpPr>
          <p:cNvPr id="18" name="Text 15"/>
          <p:cNvSpPr/>
          <p:nvPr/>
        </p:nvSpPr>
        <p:spPr>
          <a:xfrm>
            <a:off x="10003536" y="3296412"/>
            <a:ext cx="1417320" cy="274320"/>
          </a:xfrm>
          <a:prstGeom prst="rect">
            <a:avLst/>
          </a:prstGeom>
          <a:noFill/>
          <a:ln/>
        </p:spPr>
        <p:txBody>
          <a:bodyPr wrap="square" lIns="0" tIns="0" rIns="0" bIns="0" rtlCol="0" anchor="ctr"/>
          <a:lstStyle/>
          <a:p>
            <a:pPr algn="r" indent="0" marL="0">
              <a:buNone/>
            </a:pPr>
            <a:r>
              <a:rPr lang="en-US" sz="1050" b="1" dirty="0">
                <a:solidFill>
                  <a:srgbClr val="22D3EE"/>
                </a:solidFill>
                <a:latin typeface="Calibri" pitchFamily="34" charset="0"/>
                <a:ea typeface="Calibri" pitchFamily="34" charset="-122"/>
                <a:cs typeface="Calibri" pitchFamily="34" charset="-120"/>
              </a:rPr>
              <a:t>4,466,667</a:t>
            </a:r>
            <a:endParaRPr lang="en-US" sz="1050" dirty="0"/>
          </a:p>
        </p:txBody>
      </p:sp>
      <p:sp>
        <p:nvSpPr>
          <p:cNvPr id="19" name="Text 16"/>
          <p:cNvSpPr/>
          <p:nvPr/>
        </p:nvSpPr>
        <p:spPr>
          <a:xfrm>
            <a:off x="7808976" y="3593592"/>
            <a:ext cx="2331720" cy="274320"/>
          </a:xfrm>
          <a:prstGeom prst="rect">
            <a:avLst/>
          </a:prstGeom>
          <a:noFill/>
          <a:ln/>
        </p:spPr>
        <p:txBody>
          <a:bodyPr wrap="square" lIns="0" tIns="0" rIns="0" bIns="0" rtlCol="0" anchor="ctr"/>
          <a:lstStyle/>
          <a:p>
            <a:pPr indent="0" marL="0">
              <a:buNone/>
            </a:pPr>
            <a:r>
              <a:rPr lang="en-US" sz="1050" dirty="0">
                <a:solidFill>
                  <a:srgbClr val="CADCFC"/>
                </a:solidFill>
                <a:latin typeface="Calibri" pitchFamily="34" charset="0"/>
                <a:ea typeface="Calibri" pitchFamily="34" charset="-122"/>
                <a:cs typeface="Calibri" pitchFamily="34" charset="-120"/>
              </a:rPr>
              <a:t>Less tax at 9%</a:t>
            </a:r>
            <a:endParaRPr lang="en-US" sz="1050" dirty="0"/>
          </a:p>
        </p:txBody>
      </p:sp>
      <p:sp>
        <p:nvSpPr>
          <p:cNvPr id="20" name="Text 17"/>
          <p:cNvSpPr/>
          <p:nvPr/>
        </p:nvSpPr>
        <p:spPr>
          <a:xfrm>
            <a:off x="10003536" y="3593592"/>
            <a:ext cx="1417320" cy="274320"/>
          </a:xfrm>
          <a:prstGeom prst="rect">
            <a:avLst/>
          </a:prstGeom>
          <a:noFill/>
          <a:ln/>
        </p:spPr>
        <p:txBody>
          <a:bodyPr wrap="square" lIns="0" tIns="0" rIns="0" bIns="0" rtlCol="0" anchor="ctr"/>
          <a:lstStyle/>
          <a:p>
            <a:pPr algn="r" indent="0" marL="0">
              <a:buNone/>
            </a:pPr>
            <a:r>
              <a:rPr lang="en-US" sz="1050" dirty="0">
                <a:solidFill>
                  <a:srgbClr val="CADCFC"/>
                </a:solidFill>
                <a:latin typeface="Calibri" pitchFamily="34" charset="0"/>
                <a:ea typeface="Calibri" pitchFamily="34" charset="-122"/>
                <a:cs typeface="Calibri" pitchFamily="34" charset="-120"/>
              </a:rPr>
              <a:t>(402,000)</a:t>
            </a:r>
            <a:endParaRPr lang="en-US" sz="1050" dirty="0"/>
          </a:p>
        </p:txBody>
      </p:sp>
      <p:sp>
        <p:nvSpPr>
          <p:cNvPr id="21" name="Text 18"/>
          <p:cNvSpPr/>
          <p:nvPr/>
        </p:nvSpPr>
        <p:spPr>
          <a:xfrm>
            <a:off x="7808976" y="3890772"/>
            <a:ext cx="2331720" cy="274320"/>
          </a:xfrm>
          <a:prstGeom prst="rect">
            <a:avLst/>
          </a:prstGeom>
          <a:noFill/>
          <a:ln/>
        </p:spPr>
        <p:txBody>
          <a:bodyPr wrap="square" lIns="0" tIns="0" rIns="0" bIns="0" rtlCol="0" anchor="ctr"/>
          <a:lstStyle/>
          <a:p>
            <a:pPr indent="0" marL="0">
              <a:buNone/>
            </a:pPr>
            <a:r>
              <a:rPr lang="en-US" sz="1050" dirty="0">
                <a:solidFill>
                  <a:srgbClr val="CADCFC"/>
                </a:solidFill>
                <a:latin typeface="Calibri" pitchFamily="34" charset="0"/>
                <a:ea typeface="Calibri" pitchFamily="34" charset="-122"/>
                <a:cs typeface="Calibri" pitchFamily="34" charset="-120"/>
              </a:rPr>
              <a:t>Add back depreciation</a:t>
            </a:r>
            <a:endParaRPr lang="en-US" sz="1050" dirty="0"/>
          </a:p>
        </p:txBody>
      </p:sp>
      <p:sp>
        <p:nvSpPr>
          <p:cNvPr id="22" name="Text 19"/>
          <p:cNvSpPr/>
          <p:nvPr/>
        </p:nvSpPr>
        <p:spPr>
          <a:xfrm>
            <a:off x="10003536" y="3890772"/>
            <a:ext cx="1417320" cy="274320"/>
          </a:xfrm>
          <a:prstGeom prst="rect">
            <a:avLst/>
          </a:prstGeom>
          <a:noFill/>
          <a:ln/>
        </p:spPr>
        <p:txBody>
          <a:bodyPr wrap="square" lIns="0" tIns="0" rIns="0" bIns="0" rtlCol="0" anchor="ctr"/>
          <a:lstStyle/>
          <a:p>
            <a:pPr algn="r" indent="0" marL="0">
              <a:buNone/>
            </a:pPr>
            <a:r>
              <a:rPr lang="en-US" sz="1050" dirty="0">
                <a:solidFill>
                  <a:srgbClr val="CADCFC"/>
                </a:solidFill>
                <a:latin typeface="Calibri" pitchFamily="34" charset="0"/>
                <a:ea typeface="Calibri" pitchFamily="34" charset="-122"/>
                <a:cs typeface="Calibri" pitchFamily="34" charset="-120"/>
              </a:rPr>
              <a:t>3,333,333</a:t>
            </a:r>
            <a:endParaRPr lang="en-US" sz="1050" dirty="0"/>
          </a:p>
        </p:txBody>
      </p:sp>
      <p:sp>
        <p:nvSpPr>
          <p:cNvPr id="23" name="Text 20"/>
          <p:cNvSpPr/>
          <p:nvPr/>
        </p:nvSpPr>
        <p:spPr>
          <a:xfrm>
            <a:off x="7808976" y="4187952"/>
            <a:ext cx="2331720" cy="274320"/>
          </a:xfrm>
          <a:prstGeom prst="rect">
            <a:avLst/>
          </a:prstGeom>
          <a:noFill/>
          <a:ln/>
        </p:spPr>
        <p:txBody>
          <a:bodyPr wrap="square" lIns="0" tIns="0" rIns="0" bIns="0" rtlCol="0" anchor="ctr"/>
          <a:lstStyle/>
          <a:p>
            <a:pPr indent="0" marL="0">
              <a:buNone/>
            </a:pPr>
            <a:r>
              <a:rPr lang="en-US" sz="1050" b="1" dirty="0">
                <a:solidFill>
                  <a:srgbClr val="F8FAFC"/>
                </a:solidFill>
                <a:latin typeface="Calibri" pitchFamily="34" charset="0"/>
                <a:ea typeface="Calibri" pitchFamily="34" charset="-122"/>
                <a:cs typeface="Calibri" pitchFamily="34" charset="-120"/>
              </a:rPr>
              <a:t>Free cash flow, Year 1</a:t>
            </a:r>
            <a:endParaRPr lang="en-US" sz="1050" dirty="0"/>
          </a:p>
        </p:txBody>
      </p:sp>
      <p:sp>
        <p:nvSpPr>
          <p:cNvPr id="24" name="Text 21"/>
          <p:cNvSpPr/>
          <p:nvPr/>
        </p:nvSpPr>
        <p:spPr>
          <a:xfrm>
            <a:off x="10003536" y="4187952"/>
            <a:ext cx="1417320" cy="274320"/>
          </a:xfrm>
          <a:prstGeom prst="rect">
            <a:avLst/>
          </a:prstGeom>
          <a:noFill/>
          <a:ln/>
        </p:spPr>
        <p:txBody>
          <a:bodyPr wrap="square" lIns="0" tIns="0" rIns="0" bIns="0" rtlCol="0" anchor="ctr"/>
          <a:lstStyle/>
          <a:p>
            <a:pPr algn="r" indent="0" marL="0">
              <a:buNone/>
            </a:pPr>
            <a:r>
              <a:rPr lang="en-US" sz="1050" b="1" dirty="0">
                <a:solidFill>
                  <a:srgbClr val="22D3EE"/>
                </a:solidFill>
                <a:latin typeface="Calibri" pitchFamily="34" charset="0"/>
                <a:ea typeface="Calibri" pitchFamily="34" charset="-122"/>
                <a:cs typeface="Calibri" pitchFamily="34" charset="-120"/>
              </a:rPr>
              <a:t>7,398,000</a:t>
            </a:r>
            <a:endParaRPr lang="en-US" sz="1050" dirty="0"/>
          </a:p>
        </p:txBody>
      </p:sp>
      <p:sp>
        <p:nvSpPr>
          <p:cNvPr id="25" name="Shape 22"/>
          <p:cNvSpPr/>
          <p:nvPr/>
        </p:nvSpPr>
        <p:spPr>
          <a:xfrm>
            <a:off x="566928" y="4773168"/>
            <a:ext cx="11057839" cy="841248"/>
          </a:xfrm>
          <a:prstGeom prst="roundRect">
            <a:avLst>
              <a:gd name="adj" fmla="val 10870"/>
            </a:avLst>
          </a:prstGeom>
          <a:solidFill>
            <a:srgbClr val="13314E"/>
          </a:solidFill>
          <a:ln w="12700">
            <a:solidFill>
              <a:srgbClr val="1E4463"/>
            </a:solidFill>
            <a:prstDash val="solid"/>
          </a:ln>
          <a:effectLst>
            <a:outerShdw sx="100000" sy="100000" kx="0" ky="0" algn="bl" rotWithShape="0" blurRad="177800" dist="38100" dir="5400000">
              <a:srgbClr val="000000">
                <a:alpha val="35000"/>
              </a:srgbClr>
            </a:outerShdw>
          </a:effectLst>
        </p:spPr>
      </p:sp>
      <p:sp>
        <p:nvSpPr>
          <p:cNvPr id="26" name="Text 23"/>
          <p:cNvSpPr/>
          <p:nvPr/>
        </p:nvSpPr>
        <p:spPr>
          <a:xfrm>
            <a:off x="841248" y="4901184"/>
            <a:ext cx="10509199" cy="585216"/>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Depreciation is straight-line to salvage — (AED 22.0M − 2.0M) ÷ 6 = AED 3,333,333 a year, shielding AED 300,000 of tax.  Year 6 adds AED 2.0M salvage and AED 2.0M of recovered working capital.  Present value of inflows AED 36,083,628 against a AED 24,000,000 outlay.</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1A2E"/>
        </a:solidFill>
      </p:bgPr>
    </p:bg>
    <p:spTree>
      <p:nvGrpSpPr>
        <p:cNvPr id="1" name=""/>
        <p:cNvGrpSpPr/>
        <p:nvPr/>
      </p:nvGrpSpPr>
      <p:grpSpPr>
        <a:xfrm>
          <a:off x="0" y="0"/>
          <a:ext cx="0" cy="0"/>
          <a:chOff x="0" y="0"/>
          <a:chExt cx="0" cy="0"/>
        </a:xfrm>
      </p:grpSpPr>
      <p:sp>
        <p:nvSpPr>
          <p:cNvPr id="2" name="Text 0"/>
          <p:cNvSpPr/>
          <p:nvPr/>
        </p:nvSpPr>
        <p:spPr>
          <a:xfrm>
            <a:off x="566928" y="310896"/>
            <a:ext cx="8680399" cy="237744"/>
          </a:xfrm>
          <a:prstGeom prst="rect">
            <a:avLst/>
          </a:prstGeom>
          <a:noFill/>
          <a:ln/>
        </p:spPr>
        <p:txBody>
          <a:bodyPr wrap="square" lIns="0" tIns="0" rIns="0" bIns="0" rtlCol="0" anchor="ctr"/>
          <a:lstStyle/>
          <a:p>
            <a:pPr indent="0" marL="0">
              <a:buNone/>
            </a:pPr>
            <a:r>
              <a:rPr lang="en-US" sz="1100" b="1" spc="200" kern="0" dirty="0">
                <a:solidFill>
                  <a:srgbClr val="22D3EE"/>
                </a:solidFill>
                <a:latin typeface="Calibri" pitchFamily="34" charset="0"/>
                <a:ea typeface="Calibri" pitchFamily="34" charset="-122"/>
                <a:cs typeface="Calibri" pitchFamily="34" charset="-120"/>
              </a:rPr>
              <a:t>THE VERDICT</a:t>
            </a:r>
            <a:endParaRPr lang="en-US" sz="1100" dirty="0"/>
          </a:p>
        </p:txBody>
      </p:sp>
      <p:sp>
        <p:nvSpPr>
          <p:cNvPr id="3" name="Text 1"/>
          <p:cNvSpPr/>
          <p:nvPr/>
        </p:nvSpPr>
        <p:spPr>
          <a:xfrm>
            <a:off x="566928" y="548640"/>
            <a:ext cx="8680399" cy="566928"/>
          </a:xfrm>
          <a:prstGeom prst="rect">
            <a:avLst/>
          </a:prstGeom>
          <a:noFill/>
          <a:ln/>
        </p:spPr>
        <p:txBody>
          <a:bodyPr wrap="square" lIns="0" tIns="0" rIns="0" bIns="0" rtlCol="0" anchor="ctr"/>
          <a:lstStyle/>
          <a:p>
            <a:pPr indent="0" marL="0">
              <a:buNone/>
            </a:pPr>
            <a:r>
              <a:rPr lang="en-US" sz="3000" b="1" dirty="0">
                <a:solidFill>
                  <a:srgbClr val="F8FAFC"/>
                </a:solidFill>
                <a:latin typeface="Cambria" pitchFamily="34" charset="0"/>
                <a:ea typeface="Cambria" pitchFamily="34" charset="-122"/>
                <a:cs typeface="Cambria" pitchFamily="34" charset="-120"/>
              </a:rPr>
              <a:t>Every decision rule agrees</a:t>
            </a:r>
            <a:endParaRPr lang="en-US" sz="3000" dirty="0"/>
          </a:p>
        </p:txBody>
      </p:sp>
      <p:sp>
        <p:nvSpPr>
          <p:cNvPr id="4" name="Shape 2"/>
          <p:cNvSpPr/>
          <p:nvPr/>
        </p:nvSpPr>
        <p:spPr>
          <a:xfrm>
            <a:off x="566928" y="1316736"/>
            <a:ext cx="4617720" cy="4224528"/>
          </a:xfrm>
          <a:prstGeom prst="roundRect">
            <a:avLst>
              <a:gd name="adj" fmla="val 2165"/>
            </a:avLst>
          </a:prstGeom>
          <a:solidFill>
            <a:srgbClr val="0F2740"/>
          </a:solidFill>
          <a:ln w="12700">
            <a:solidFill>
              <a:srgbClr val="1E4463"/>
            </a:solidFill>
            <a:prstDash val="solid"/>
          </a:ln>
          <a:effectLst>
            <a:outerShdw sx="100000" sy="100000" kx="0" ky="0" algn="bl" rotWithShape="0" blurRad="177800" dist="38100" dir="5400000">
              <a:srgbClr val="000000">
                <a:alpha val="35000"/>
              </a:srgbClr>
            </a:outerShdw>
          </a:effectLst>
        </p:spPr>
      </p:sp>
      <p:sp>
        <p:nvSpPr>
          <p:cNvPr id="5" name="Text 3"/>
          <p:cNvSpPr/>
          <p:nvPr/>
        </p:nvSpPr>
        <p:spPr>
          <a:xfrm>
            <a:off x="877824" y="1627632"/>
            <a:ext cx="4023360" cy="274320"/>
          </a:xfrm>
          <a:prstGeom prst="rect">
            <a:avLst/>
          </a:prstGeom>
          <a:noFill/>
          <a:ln/>
        </p:spPr>
        <p:txBody>
          <a:bodyPr wrap="square" lIns="0" tIns="0" rIns="0" bIns="0" rtlCol="0" anchor="ctr"/>
          <a:lstStyle/>
          <a:p>
            <a:pPr indent="0" marL="0">
              <a:buNone/>
            </a:pPr>
            <a:r>
              <a:rPr lang="en-US" sz="1150" b="1" spc="200" kern="0" dirty="0">
                <a:solidFill>
                  <a:srgbClr val="22D3EE"/>
                </a:solidFill>
                <a:latin typeface="Calibri" pitchFamily="34" charset="0"/>
                <a:ea typeface="Calibri" pitchFamily="34" charset="-122"/>
                <a:cs typeface="Calibri" pitchFamily="34" charset="-120"/>
              </a:rPr>
              <a:t>NET PRESENT VALUE</a:t>
            </a:r>
            <a:endParaRPr lang="en-US" sz="1150" dirty="0"/>
          </a:p>
        </p:txBody>
      </p:sp>
      <p:sp>
        <p:nvSpPr>
          <p:cNvPr id="6" name="Text 4"/>
          <p:cNvSpPr/>
          <p:nvPr/>
        </p:nvSpPr>
        <p:spPr>
          <a:xfrm>
            <a:off x="877824" y="2011680"/>
            <a:ext cx="4023360" cy="310896"/>
          </a:xfrm>
          <a:prstGeom prst="rect">
            <a:avLst/>
          </a:prstGeom>
          <a:noFill/>
          <a:ln/>
        </p:spPr>
        <p:txBody>
          <a:bodyPr wrap="square" lIns="0" tIns="0" rIns="0" bIns="0" rtlCol="0" anchor="ctr"/>
          <a:lstStyle/>
          <a:p>
            <a:pPr indent="0" marL="0">
              <a:buNone/>
            </a:pPr>
            <a:r>
              <a:rPr lang="en-US" sz="1600" dirty="0">
                <a:solidFill>
                  <a:srgbClr val="94A3B8"/>
                </a:solidFill>
                <a:latin typeface="Calibri" pitchFamily="34" charset="0"/>
                <a:ea typeface="Calibri" pitchFamily="34" charset="-122"/>
                <a:cs typeface="Calibri" pitchFamily="34" charset="-120"/>
              </a:rPr>
              <a:t>AED</a:t>
            </a:r>
            <a:endParaRPr lang="en-US" sz="1600" dirty="0"/>
          </a:p>
        </p:txBody>
      </p:sp>
      <p:sp>
        <p:nvSpPr>
          <p:cNvPr id="7" name="Text 5"/>
          <p:cNvSpPr/>
          <p:nvPr/>
        </p:nvSpPr>
        <p:spPr>
          <a:xfrm>
            <a:off x="877824" y="2304288"/>
            <a:ext cx="4023360" cy="932688"/>
          </a:xfrm>
          <a:prstGeom prst="rect">
            <a:avLst/>
          </a:prstGeom>
          <a:noFill/>
          <a:ln/>
        </p:spPr>
        <p:txBody>
          <a:bodyPr wrap="square" lIns="0" tIns="0" rIns="0" bIns="0" rtlCol="0" anchor="ctr"/>
          <a:lstStyle/>
          <a:p>
            <a:pPr indent="0" marL="0">
              <a:buNone/>
            </a:pPr>
            <a:r>
              <a:rPr lang="en-US" sz="4300" b="1" dirty="0">
                <a:solidFill>
                  <a:srgbClr val="34D399"/>
                </a:solidFill>
                <a:latin typeface="Cambria" pitchFamily="34" charset="0"/>
                <a:ea typeface="Cambria" pitchFamily="34" charset="-122"/>
                <a:cs typeface="Cambria" pitchFamily="34" charset="-120"/>
              </a:rPr>
              <a:t>12,083,628</a:t>
            </a:r>
            <a:endParaRPr lang="en-US" sz="4300" dirty="0"/>
          </a:p>
        </p:txBody>
      </p:sp>
      <p:sp>
        <p:nvSpPr>
          <p:cNvPr id="8" name="Text 6"/>
          <p:cNvSpPr/>
          <p:nvPr/>
        </p:nvSpPr>
        <p:spPr>
          <a:xfrm>
            <a:off x="877824" y="3291840"/>
            <a:ext cx="4023360" cy="512064"/>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of value created after paying every capital provider 11.50%</a:t>
            </a:r>
            <a:endParaRPr lang="en-US" sz="1250" dirty="0"/>
          </a:p>
        </p:txBody>
      </p:sp>
      <p:sp>
        <p:nvSpPr>
          <p:cNvPr id="9" name="Shape 7"/>
          <p:cNvSpPr/>
          <p:nvPr/>
        </p:nvSpPr>
        <p:spPr>
          <a:xfrm>
            <a:off x="877824" y="3913632"/>
            <a:ext cx="2103120" cy="420624"/>
          </a:xfrm>
          <a:prstGeom prst="roundRect">
            <a:avLst>
              <a:gd name="adj" fmla="val 21739"/>
            </a:avLst>
          </a:prstGeom>
          <a:solidFill>
            <a:srgbClr val="0F3B2E"/>
          </a:solidFill>
          <a:ln w="12700">
            <a:solidFill>
              <a:srgbClr val="34D399"/>
            </a:solidFill>
            <a:prstDash val="solid"/>
          </a:ln>
        </p:spPr>
      </p:sp>
      <p:sp>
        <p:nvSpPr>
          <p:cNvPr id="10" name="Text 8"/>
          <p:cNvSpPr/>
          <p:nvPr/>
        </p:nvSpPr>
        <p:spPr>
          <a:xfrm>
            <a:off x="877824" y="3913632"/>
            <a:ext cx="2103120" cy="420624"/>
          </a:xfrm>
          <a:prstGeom prst="rect">
            <a:avLst/>
          </a:prstGeom>
          <a:noFill/>
          <a:ln/>
        </p:spPr>
        <p:txBody>
          <a:bodyPr wrap="square" lIns="0" tIns="0" rIns="0" bIns="0" rtlCol="0" anchor="ctr"/>
          <a:lstStyle/>
          <a:p>
            <a:pPr algn="ctr" indent="0" marL="0">
              <a:buNone/>
            </a:pPr>
            <a:r>
              <a:rPr lang="en-US" sz="1150" b="1" dirty="0">
                <a:solidFill>
                  <a:srgbClr val="34D399"/>
                </a:solidFill>
                <a:latin typeface="Calibri" pitchFamily="34" charset="0"/>
                <a:ea typeface="Calibri" pitchFamily="34" charset="-122"/>
                <a:cs typeface="Calibri" pitchFamily="34" charset="-120"/>
              </a:rPr>
              <a:t>ENGINE: APPROVE</a:t>
            </a:r>
            <a:endParaRPr lang="en-US" sz="1150" dirty="0"/>
          </a:p>
        </p:txBody>
      </p:sp>
      <p:sp>
        <p:nvSpPr>
          <p:cNvPr id="11" name="Text 9"/>
          <p:cNvSpPr/>
          <p:nvPr/>
        </p:nvSpPr>
        <p:spPr>
          <a:xfrm>
            <a:off x="877824" y="4498848"/>
            <a:ext cx="4023360" cy="566928"/>
          </a:xfrm>
          <a:prstGeom prst="rect">
            <a:avLst/>
          </a:prstGeom>
          <a:noFill/>
          <a:ln/>
        </p:spPr>
        <p:txBody>
          <a:bodyPr wrap="square" lIns="0" tIns="0" rIns="0" bIns="0" rtlCol="0" anchor="ctr"/>
          <a:lstStyle/>
          <a:p>
            <a:pPr indent="0" marL="0">
              <a:buNone/>
            </a:pPr>
            <a:r>
              <a:rPr lang="en-US" sz="1100" i="1" dirty="0">
                <a:solidFill>
                  <a:srgbClr val="94A3B8"/>
                </a:solidFill>
                <a:latin typeface="Calibri" pitchFamily="34" charset="0"/>
                <a:ea typeface="Calibri" pitchFamily="34" charset="-122"/>
                <a:cs typeface="Calibri" pitchFamily="34" charset="-120"/>
              </a:rPr>
              <a:t>Pinned by an automated golden-value regression test, so no published figure can drift from the engine.</a:t>
            </a:r>
            <a:endParaRPr lang="en-US" sz="1100" dirty="0"/>
          </a:p>
        </p:txBody>
      </p:sp>
      <p:sp>
        <p:nvSpPr>
          <p:cNvPr id="12" name="Shape 10"/>
          <p:cNvSpPr/>
          <p:nvPr/>
        </p:nvSpPr>
        <p:spPr>
          <a:xfrm>
            <a:off x="5385816" y="1316736"/>
            <a:ext cx="6238951" cy="4224528"/>
          </a:xfrm>
          <a:prstGeom prst="roundRect">
            <a:avLst>
              <a:gd name="adj" fmla="val 2165"/>
            </a:avLst>
          </a:prstGeom>
          <a:solidFill>
            <a:srgbClr val="13314E"/>
          </a:solidFill>
          <a:ln w="12700">
            <a:solidFill>
              <a:srgbClr val="1E4463"/>
            </a:solidFill>
            <a:prstDash val="solid"/>
          </a:ln>
          <a:effectLst>
            <a:outerShdw sx="100000" sy="100000" kx="0" ky="0" algn="bl" rotWithShape="0" blurRad="177800" dist="38100" dir="5400000">
              <a:srgbClr val="000000">
                <a:alpha val="35000"/>
              </a:srgbClr>
            </a:outerShdw>
          </a:effectLst>
        </p:spPr>
      </p:sp>
      <p:sp>
        <p:nvSpPr>
          <p:cNvPr id="13" name="Text 11"/>
          <p:cNvSpPr/>
          <p:nvPr/>
        </p:nvSpPr>
        <p:spPr>
          <a:xfrm>
            <a:off x="5596128" y="1517904"/>
            <a:ext cx="2011680" cy="274320"/>
          </a:xfrm>
          <a:prstGeom prst="rect">
            <a:avLst/>
          </a:prstGeom>
          <a:noFill/>
          <a:ln/>
        </p:spPr>
        <p:txBody>
          <a:bodyPr wrap="square" lIns="0" tIns="0" rIns="0" bIns="0" rtlCol="0" anchor="ctr"/>
          <a:lstStyle/>
          <a:p>
            <a:pPr algn="l" indent="0" marL="0">
              <a:buNone/>
            </a:pPr>
            <a:r>
              <a:rPr lang="en-US" sz="1000" b="1" spc="100" kern="0" dirty="0">
                <a:solidFill>
                  <a:srgbClr val="94A3B8"/>
                </a:solidFill>
                <a:latin typeface="Calibri" pitchFamily="34" charset="0"/>
                <a:ea typeface="Calibri" pitchFamily="34" charset="-122"/>
                <a:cs typeface="Calibri" pitchFamily="34" charset="-120"/>
              </a:rPr>
              <a:t>Metric</a:t>
            </a:r>
            <a:endParaRPr lang="en-US" sz="1000" dirty="0"/>
          </a:p>
        </p:txBody>
      </p:sp>
      <p:sp>
        <p:nvSpPr>
          <p:cNvPr id="14" name="Text 12"/>
          <p:cNvSpPr/>
          <p:nvPr/>
        </p:nvSpPr>
        <p:spPr>
          <a:xfrm>
            <a:off x="7653528" y="1517904"/>
            <a:ext cx="1417320" cy="274320"/>
          </a:xfrm>
          <a:prstGeom prst="rect">
            <a:avLst/>
          </a:prstGeom>
          <a:noFill/>
          <a:ln/>
        </p:spPr>
        <p:txBody>
          <a:bodyPr wrap="square" lIns="0" tIns="0" rIns="0" bIns="0" rtlCol="0" anchor="ctr"/>
          <a:lstStyle/>
          <a:p>
            <a:pPr algn="r" indent="0" marL="0">
              <a:buNone/>
            </a:pPr>
            <a:r>
              <a:rPr lang="en-US" sz="1000" b="1" spc="100" kern="0" dirty="0">
                <a:solidFill>
                  <a:srgbClr val="94A3B8"/>
                </a:solidFill>
                <a:latin typeface="Calibri" pitchFamily="34" charset="0"/>
                <a:ea typeface="Calibri" pitchFamily="34" charset="-122"/>
                <a:cs typeface="Calibri" pitchFamily="34" charset="-120"/>
              </a:rPr>
              <a:t>Result</a:t>
            </a:r>
            <a:endParaRPr lang="en-US" sz="1000" dirty="0"/>
          </a:p>
        </p:txBody>
      </p:sp>
      <p:sp>
        <p:nvSpPr>
          <p:cNvPr id="15" name="Text 13"/>
          <p:cNvSpPr/>
          <p:nvPr/>
        </p:nvSpPr>
        <p:spPr>
          <a:xfrm>
            <a:off x="9162288" y="1517904"/>
            <a:ext cx="1097280" cy="274320"/>
          </a:xfrm>
          <a:prstGeom prst="rect">
            <a:avLst/>
          </a:prstGeom>
          <a:noFill/>
          <a:ln/>
        </p:spPr>
        <p:txBody>
          <a:bodyPr wrap="square" lIns="0" tIns="0" rIns="0" bIns="0" rtlCol="0" anchor="ctr"/>
          <a:lstStyle/>
          <a:p>
            <a:pPr algn="r" indent="0" marL="0">
              <a:buNone/>
            </a:pPr>
            <a:r>
              <a:rPr lang="en-US" sz="1000" b="1" spc="100" kern="0" dirty="0">
                <a:solidFill>
                  <a:srgbClr val="94A3B8"/>
                </a:solidFill>
                <a:latin typeface="Calibri" pitchFamily="34" charset="0"/>
                <a:ea typeface="Calibri" pitchFamily="34" charset="-122"/>
                <a:cs typeface="Calibri" pitchFamily="34" charset="-120"/>
              </a:rPr>
              <a:t>Benchmark</a:t>
            </a:r>
            <a:endParaRPr lang="en-US" sz="1000" dirty="0"/>
          </a:p>
        </p:txBody>
      </p:sp>
      <p:sp>
        <p:nvSpPr>
          <p:cNvPr id="16" name="Text 14"/>
          <p:cNvSpPr/>
          <p:nvPr/>
        </p:nvSpPr>
        <p:spPr>
          <a:xfrm>
            <a:off x="10287000" y="1517904"/>
            <a:ext cx="1097280" cy="274320"/>
          </a:xfrm>
          <a:prstGeom prst="rect">
            <a:avLst/>
          </a:prstGeom>
          <a:noFill/>
          <a:ln/>
        </p:spPr>
        <p:txBody>
          <a:bodyPr wrap="square" lIns="0" tIns="0" rIns="0" bIns="0" rtlCol="0" anchor="ctr"/>
          <a:lstStyle/>
          <a:p>
            <a:pPr algn="r" indent="0" marL="0">
              <a:buNone/>
            </a:pPr>
            <a:r>
              <a:rPr lang="en-US" sz="1000" b="1" spc="100" kern="0" dirty="0">
                <a:solidFill>
                  <a:srgbClr val="94A3B8"/>
                </a:solidFill>
                <a:latin typeface="Calibri" pitchFamily="34" charset="0"/>
                <a:ea typeface="Calibri" pitchFamily="34" charset="-122"/>
                <a:cs typeface="Calibri" pitchFamily="34" charset="-120"/>
              </a:rPr>
              <a:t>Margin</a:t>
            </a:r>
            <a:endParaRPr lang="en-US" sz="1000" dirty="0"/>
          </a:p>
        </p:txBody>
      </p:sp>
      <p:sp>
        <p:nvSpPr>
          <p:cNvPr id="17" name="Shape 15"/>
          <p:cNvSpPr/>
          <p:nvPr/>
        </p:nvSpPr>
        <p:spPr>
          <a:xfrm>
            <a:off x="5550408" y="1828800"/>
            <a:ext cx="5909767" cy="493776"/>
          </a:xfrm>
          <a:prstGeom prst="rect">
            <a:avLst/>
          </a:prstGeom>
          <a:solidFill>
            <a:srgbClr val="13314E"/>
          </a:solidFill>
          <a:ln w="12700">
            <a:solidFill>
              <a:srgbClr val="333333"/>
            </a:solidFill>
            <a:prstDash val="solid"/>
          </a:ln>
        </p:spPr>
      </p:sp>
      <p:sp>
        <p:nvSpPr>
          <p:cNvPr id="18" name="Text 16"/>
          <p:cNvSpPr/>
          <p:nvPr/>
        </p:nvSpPr>
        <p:spPr>
          <a:xfrm>
            <a:off x="5596128" y="1883664"/>
            <a:ext cx="2011680" cy="384048"/>
          </a:xfrm>
          <a:prstGeom prst="rect">
            <a:avLst/>
          </a:prstGeom>
          <a:noFill/>
          <a:ln/>
        </p:spPr>
        <p:txBody>
          <a:bodyPr wrap="square" lIns="0" tIns="0" rIns="0" bIns="0" rtlCol="0" anchor="ctr"/>
          <a:lstStyle/>
          <a:p>
            <a:pPr indent="0" marL="0">
              <a:buNone/>
            </a:pPr>
            <a:r>
              <a:rPr lang="en-US" sz="1200" dirty="0">
                <a:solidFill>
                  <a:srgbClr val="F8FAFC"/>
                </a:solidFill>
                <a:latin typeface="Calibri" pitchFamily="34" charset="0"/>
                <a:ea typeface="Calibri" pitchFamily="34" charset="-122"/>
                <a:cs typeface="Calibri" pitchFamily="34" charset="-120"/>
              </a:rPr>
              <a:t>Internal rate of return</a:t>
            </a:r>
            <a:endParaRPr lang="en-US" sz="1200" dirty="0"/>
          </a:p>
        </p:txBody>
      </p:sp>
      <p:sp>
        <p:nvSpPr>
          <p:cNvPr id="19" name="Text 17"/>
          <p:cNvSpPr/>
          <p:nvPr/>
        </p:nvSpPr>
        <p:spPr>
          <a:xfrm>
            <a:off x="7653528" y="1883664"/>
            <a:ext cx="1417320" cy="384048"/>
          </a:xfrm>
          <a:prstGeom prst="rect">
            <a:avLst/>
          </a:prstGeom>
          <a:noFill/>
          <a:ln/>
        </p:spPr>
        <p:txBody>
          <a:bodyPr wrap="square" lIns="0" tIns="0" rIns="0" bIns="0" rtlCol="0" anchor="ctr"/>
          <a:lstStyle/>
          <a:p>
            <a:pPr algn="r" indent="0" marL="0">
              <a:buNone/>
            </a:pPr>
            <a:r>
              <a:rPr lang="en-US" sz="1400" b="1" dirty="0">
                <a:solidFill>
                  <a:srgbClr val="34D399"/>
                </a:solidFill>
                <a:latin typeface="Cambria" pitchFamily="34" charset="0"/>
                <a:ea typeface="Cambria" pitchFamily="34" charset="-122"/>
                <a:cs typeface="Cambria" pitchFamily="34" charset="-120"/>
              </a:rPr>
              <a:t>26.30%</a:t>
            </a:r>
            <a:endParaRPr lang="en-US" sz="1400" dirty="0"/>
          </a:p>
        </p:txBody>
      </p:sp>
      <p:sp>
        <p:nvSpPr>
          <p:cNvPr id="20" name="Text 18"/>
          <p:cNvSpPr/>
          <p:nvPr/>
        </p:nvSpPr>
        <p:spPr>
          <a:xfrm>
            <a:off x="9162288" y="1883664"/>
            <a:ext cx="1097280" cy="384048"/>
          </a:xfrm>
          <a:prstGeom prst="rect">
            <a:avLst/>
          </a:prstGeom>
          <a:noFill/>
          <a:ln/>
        </p:spPr>
        <p:txBody>
          <a:bodyPr wrap="square" lIns="0" tIns="0" rIns="0" bIns="0" rtlCol="0" anchor="ctr"/>
          <a:lstStyle/>
          <a:p>
            <a:pPr algn="r" indent="0" marL="0">
              <a:buNone/>
            </a:pPr>
            <a:r>
              <a:rPr lang="en-US" sz="1150" dirty="0">
                <a:solidFill>
                  <a:srgbClr val="94A3B8"/>
                </a:solidFill>
                <a:latin typeface="Calibri" pitchFamily="34" charset="0"/>
                <a:ea typeface="Calibri" pitchFamily="34" charset="-122"/>
                <a:cs typeface="Calibri" pitchFamily="34" charset="-120"/>
              </a:rPr>
              <a:t>11.50%</a:t>
            </a:r>
            <a:endParaRPr lang="en-US" sz="1150" dirty="0"/>
          </a:p>
        </p:txBody>
      </p:sp>
      <p:sp>
        <p:nvSpPr>
          <p:cNvPr id="21" name="Text 19"/>
          <p:cNvSpPr/>
          <p:nvPr/>
        </p:nvSpPr>
        <p:spPr>
          <a:xfrm>
            <a:off x="10287000" y="1883664"/>
            <a:ext cx="1097280" cy="384048"/>
          </a:xfrm>
          <a:prstGeom prst="rect">
            <a:avLst/>
          </a:prstGeom>
          <a:noFill/>
          <a:ln/>
        </p:spPr>
        <p:txBody>
          <a:bodyPr wrap="square" lIns="0" tIns="0" rIns="0" bIns="0" rtlCol="0" anchor="ctr"/>
          <a:lstStyle/>
          <a:p>
            <a:pPr algn="r" indent="0" marL="0">
              <a:buNone/>
            </a:pPr>
            <a:r>
              <a:rPr lang="en-US" sz="1150" dirty="0">
                <a:solidFill>
                  <a:srgbClr val="CADCFC"/>
                </a:solidFill>
                <a:latin typeface="Calibri" pitchFamily="34" charset="0"/>
                <a:ea typeface="Calibri" pitchFamily="34" charset="-122"/>
                <a:cs typeface="Calibri" pitchFamily="34" charset="-120"/>
              </a:rPr>
              <a:t>+14.80 pp</a:t>
            </a:r>
            <a:endParaRPr lang="en-US" sz="1150" dirty="0"/>
          </a:p>
        </p:txBody>
      </p:sp>
      <p:sp>
        <p:nvSpPr>
          <p:cNvPr id="22" name="Shape 20"/>
          <p:cNvSpPr/>
          <p:nvPr/>
        </p:nvSpPr>
        <p:spPr>
          <a:xfrm>
            <a:off x="5550408" y="2404872"/>
            <a:ext cx="5909767" cy="493776"/>
          </a:xfrm>
          <a:prstGeom prst="rect">
            <a:avLst/>
          </a:prstGeom>
          <a:solidFill>
            <a:srgbClr val="0F2740"/>
          </a:solidFill>
          <a:ln w="12700">
            <a:solidFill>
              <a:srgbClr val="333333"/>
            </a:solidFill>
            <a:prstDash val="solid"/>
          </a:ln>
        </p:spPr>
      </p:sp>
      <p:sp>
        <p:nvSpPr>
          <p:cNvPr id="23" name="Text 21"/>
          <p:cNvSpPr/>
          <p:nvPr/>
        </p:nvSpPr>
        <p:spPr>
          <a:xfrm>
            <a:off x="5596128" y="2459736"/>
            <a:ext cx="2011680" cy="384048"/>
          </a:xfrm>
          <a:prstGeom prst="rect">
            <a:avLst/>
          </a:prstGeom>
          <a:noFill/>
          <a:ln/>
        </p:spPr>
        <p:txBody>
          <a:bodyPr wrap="square" lIns="0" tIns="0" rIns="0" bIns="0" rtlCol="0" anchor="ctr"/>
          <a:lstStyle/>
          <a:p>
            <a:pPr indent="0" marL="0">
              <a:buNone/>
            </a:pPr>
            <a:r>
              <a:rPr lang="en-US" sz="1200" dirty="0">
                <a:solidFill>
                  <a:srgbClr val="F8FAFC"/>
                </a:solidFill>
                <a:latin typeface="Calibri" pitchFamily="34" charset="0"/>
                <a:ea typeface="Calibri" pitchFamily="34" charset="-122"/>
                <a:cs typeface="Calibri" pitchFamily="34" charset="-120"/>
              </a:rPr>
              <a:t>Modified IRR</a:t>
            </a:r>
            <a:endParaRPr lang="en-US" sz="1200" dirty="0"/>
          </a:p>
        </p:txBody>
      </p:sp>
      <p:sp>
        <p:nvSpPr>
          <p:cNvPr id="24" name="Text 22"/>
          <p:cNvSpPr/>
          <p:nvPr/>
        </p:nvSpPr>
        <p:spPr>
          <a:xfrm>
            <a:off x="7653528" y="2459736"/>
            <a:ext cx="1417320" cy="384048"/>
          </a:xfrm>
          <a:prstGeom prst="rect">
            <a:avLst/>
          </a:prstGeom>
          <a:noFill/>
          <a:ln/>
        </p:spPr>
        <p:txBody>
          <a:bodyPr wrap="square" lIns="0" tIns="0" rIns="0" bIns="0" rtlCol="0" anchor="ctr"/>
          <a:lstStyle/>
          <a:p>
            <a:pPr algn="r" indent="0" marL="0">
              <a:buNone/>
            </a:pPr>
            <a:r>
              <a:rPr lang="en-US" sz="1400" b="1" dirty="0">
                <a:solidFill>
                  <a:srgbClr val="34D399"/>
                </a:solidFill>
                <a:latin typeface="Cambria" pitchFamily="34" charset="0"/>
                <a:ea typeface="Cambria" pitchFamily="34" charset="-122"/>
                <a:cs typeface="Cambria" pitchFamily="34" charset="-120"/>
              </a:rPr>
              <a:t>19.34%</a:t>
            </a:r>
            <a:endParaRPr lang="en-US" sz="1400" dirty="0"/>
          </a:p>
        </p:txBody>
      </p:sp>
      <p:sp>
        <p:nvSpPr>
          <p:cNvPr id="25" name="Text 23"/>
          <p:cNvSpPr/>
          <p:nvPr/>
        </p:nvSpPr>
        <p:spPr>
          <a:xfrm>
            <a:off x="9162288" y="2459736"/>
            <a:ext cx="1097280" cy="384048"/>
          </a:xfrm>
          <a:prstGeom prst="rect">
            <a:avLst/>
          </a:prstGeom>
          <a:noFill/>
          <a:ln/>
        </p:spPr>
        <p:txBody>
          <a:bodyPr wrap="square" lIns="0" tIns="0" rIns="0" bIns="0" rtlCol="0" anchor="ctr"/>
          <a:lstStyle/>
          <a:p>
            <a:pPr algn="r" indent="0" marL="0">
              <a:buNone/>
            </a:pPr>
            <a:r>
              <a:rPr lang="en-US" sz="1150" dirty="0">
                <a:solidFill>
                  <a:srgbClr val="94A3B8"/>
                </a:solidFill>
                <a:latin typeface="Calibri" pitchFamily="34" charset="0"/>
                <a:ea typeface="Calibri" pitchFamily="34" charset="-122"/>
                <a:cs typeface="Calibri" pitchFamily="34" charset="-120"/>
              </a:rPr>
              <a:t>11.50%</a:t>
            </a:r>
            <a:endParaRPr lang="en-US" sz="1150" dirty="0"/>
          </a:p>
        </p:txBody>
      </p:sp>
      <p:sp>
        <p:nvSpPr>
          <p:cNvPr id="26" name="Text 24"/>
          <p:cNvSpPr/>
          <p:nvPr/>
        </p:nvSpPr>
        <p:spPr>
          <a:xfrm>
            <a:off x="10287000" y="2459736"/>
            <a:ext cx="1097280" cy="384048"/>
          </a:xfrm>
          <a:prstGeom prst="rect">
            <a:avLst/>
          </a:prstGeom>
          <a:noFill/>
          <a:ln/>
        </p:spPr>
        <p:txBody>
          <a:bodyPr wrap="square" lIns="0" tIns="0" rIns="0" bIns="0" rtlCol="0" anchor="ctr"/>
          <a:lstStyle/>
          <a:p>
            <a:pPr algn="r" indent="0" marL="0">
              <a:buNone/>
            </a:pPr>
            <a:r>
              <a:rPr lang="en-US" sz="1150" dirty="0">
                <a:solidFill>
                  <a:srgbClr val="CADCFC"/>
                </a:solidFill>
                <a:latin typeface="Calibri" pitchFamily="34" charset="0"/>
                <a:ea typeface="Calibri" pitchFamily="34" charset="-122"/>
                <a:cs typeface="Calibri" pitchFamily="34" charset="-120"/>
              </a:rPr>
              <a:t>+7.84 pp</a:t>
            </a:r>
            <a:endParaRPr lang="en-US" sz="1150" dirty="0"/>
          </a:p>
        </p:txBody>
      </p:sp>
      <p:sp>
        <p:nvSpPr>
          <p:cNvPr id="27" name="Shape 25"/>
          <p:cNvSpPr/>
          <p:nvPr/>
        </p:nvSpPr>
        <p:spPr>
          <a:xfrm>
            <a:off x="5550408" y="2980944"/>
            <a:ext cx="5909767" cy="493776"/>
          </a:xfrm>
          <a:prstGeom prst="rect">
            <a:avLst/>
          </a:prstGeom>
          <a:solidFill>
            <a:srgbClr val="13314E"/>
          </a:solidFill>
          <a:ln w="12700">
            <a:solidFill>
              <a:srgbClr val="333333"/>
            </a:solidFill>
            <a:prstDash val="solid"/>
          </a:ln>
        </p:spPr>
      </p:sp>
      <p:sp>
        <p:nvSpPr>
          <p:cNvPr id="28" name="Text 26"/>
          <p:cNvSpPr/>
          <p:nvPr/>
        </p:nvSpPr>
        <p:spPr>
          <a:xfrm>
            <a:off x="5596128" y="3035808"/>
            <a:ext cx="2011680" cy="384048"/>
          </a:xfrm>
          <a:prstGeom prst="rect">
            <a:avLst/>
          </a:prstGeom>
          <a:noFill/>
          <a:ln/>
        </p:spPr>
        <p:txBody>
          <a:bodyPr wrap="square" lIns="0" tIns="0" rIns="0" bIns="0" rtlCol="0" anchor="ctr"/>
          <a:lstStyle/>
          <a:p>
            <a:pPr indent="0" marL="0">
              <a:buNone/>
            </a:pPr>
            <a:r>
              <a:rPr lang="en-US" sz="1200" dirty="0">
                <a:solidFill>
                  <a:srgbClr val="F8FAFC"/>
                </a:solidFill>
                <a:latin typeface="Calibri" pitchFamily="34" charset="0"/>
                <a:ea typeface="Calibri" pitchFamily="34" charset="-122"/>
                <a:cs typeface="Calibri" pitchFamily="34" charset="-120"/>
              </a:rPr>
              <a:t>Profitability index</a:t>
            </a:r>
            <a:endParaRPr lang="en-US" sz="1200" dirty="0"/>
          </a:p>
        </p:txBody>
      </p:sp>
      <p:sp>
        <p:nvSpPr>
          <p:cNvPr id="29" name="Text 27"/>
          <p:cNvSpPr/>
          <p:nvPr/>
        </p:nvSpPr>
        <p:spPr>
          <a:xfrm>
            <a:off x="7653528" y="3035808"/>
            <a:ext cx="1417320" cy="384048"/>
          </a:xfrm>
          <a:prstGeom prst="rect">
            <a:avLst/>
          </a:prstGeom>
          <a:noFill/>
          <a:ln/>
        </p:spPr>
        <p:txBody>
          <a:bodyPr wrap="square" lIns="0" tIns="0" rIns="0" bIns="0" rtlCol="0" anchor="ctr"/>
          <a:lstStyle/>
          <a:p>
            <a:pPr algn="r" indent="0" marL="0">
              <a:buNone/>
            </a:pPr>
            <a:r>
              <a:rPr lang="en-US" sz="1400" b="1" dirty="0">
                <a:solidFill>
                  <a:srgbClr val="34D399"/>
                </a:solidFill>
                <a:latin typeface="Cambria" pitchFamily="34" charset="0"/>
                <a:ea typeface="Cambria" pitchFamily="34" charset="-122"/>
                <a:cs typeface="Cambria" pitchFamily="34" charset="-120"/>
              </a:rPr>
              <a:t>1.5035x</a:t>
            </a:r>
            <a:endParaRPr lang="en-US" sz="1400" dirty="0"/>
          </a:p>
        </p:txBody>
      </p:sp>
      <p:sp>
        <p:nvSpPr>
          <p:cNvPr id="30" name="Text 28"/>
          <p:cNvSpPr/>
          <p:nvPr/>
        </p:nvSpPr>
        <p:spPr>
          <a:xfrm>
            <a:off x="9162288" y="3035808"/>
            <a:ext cx="1097280" cy="384048"/>
          </a:xfrm>
          <a:prstGeom prst="rect">
            <a:avLst/>
          </a:prstGeom>
          <a:noFill/>
          <a:ln/>
        </p:spPr>
        <p:txBody>
          <a:bodyPr wrap="square" lIns="0" tIns="0" rIns="0" bIns="0" rtlCol="0" anchor="ctr"/>
          <a:lstStyle/>
          <a:p>
            <a:pPr algn="r" indent="0" marL="0">
              <a:buNone/>
            </a:pPr>
            <a:r>
              <a:rPr lang="en-US" sz="1150" dirty="0">
                <a:solidFill>
                  <a:srgbClr val="94A3B8"/>
                </a:solidFill>
                <a:latin typeface="Calibri" pitchFamily="34" charset="0"/>
                <a:ea typeface="Calibri" pitchFamily="34" charset="-122"/>
                <a:cs typeface="Calibri" pitchFamily="34" charset="-120"/>
              </a:rPr>
              <a:t>1.00x</a:t>
            </a:r>
            <a:endParaRPr lang="en-US" sz="1150" dirty="0"/>
          </a:p>
        </p:txBody>
      </p:sp>
      <p:sp>
        <p:nvSpPr>
          <p:cNvPr id="31" name="Text 29"/>
          <p:cNvSpPr/>
          <p:nvPr/>
        </p:nvSpPr>
        <p:spPr>
          <a:xfrm>
            <a:off x="10287000" y="3035808"/>
            <a:ext cx="1097280" cy="384048"/>
          </a:xfrm>
          <a:prstGeom prst="rect">
            <a:avLst/>
          </a:prstGeom>
          <a:noFill/>
          <a:ln/>
        </p:spPr>
        <p:txBody>
          <a:bodyPr wrap="square" lIns="0" tIns="0" rIns="0" bIns="0" rtlCol="0" anchor="ctr"/>
          <a:lstStyle/>
          <a:p>
            <a:pPr algn="r" indent="0" marL="0">
              <a:buNone/>
            </a:pPr>
            <a:r>
              <a:rPr lang="en-US" sz="1150" dirty="0">
                <a:solidFill>
                  <a:srgbClr val="CADCFC"/>
                </a:solidFill>
                <a:latin typeface="Calibri" pitchFamily="34" charset="0"/>
                <a:ea typeface="Calibri" pitchFamily="34" charset="-122"/>
                <a:cs typeface="Calibri" pitchFamily="34" charset="-120"/>
              </a:rPr>
              <a:t>+0.50x</a:t>
            </a:r>
            <a:endParaRPr lang="en-US" sz="1150" dirty="0"/>
          </a:p>
        </p:txBody>
      </p:sp>
      <p:sp>
        <p:nvSpPr>
          <p:cNvPr id="32" name="Shape 30"/>
          <p:cNvSpPr/>
          <p:nvPr/>
        </p:nvSpPr>
        <p:spPr>
          <a:xfrm>
            <a:off x="5550408" y="3557016"/>
            <a:ext cx="5909767" cy="493776"/>
          </a:xfrm>
          <a:prstGeom prst="rect">
            <a:avLst/>
          </a:prstGeom>
          <a:solidFill>
            <a:srgbClr val="0F2740"/>
          </a:solidFill>
          <a:ln w="12700">
            <a:solidFill>
              <a:srgbClr val="333333"/>
            </a:solidFill>
            <a:prstDash val="solid"/>
          </a:ln>
        </p:spPr>
      </p:sp>
      <p:sp>
        <p:nvSpPr>
          <p:cNvPr id="33" name="Text 31"/>
          <p:cNvSpPr/>
          <p:nvPr/>
        </p:nvSpPr>
        <p:spPr>
          <a:xfrm>
            <a:off x="5596128" y="3611880"/>
            <a:ext cx="2011680" cy="384048"/>
          </a:xfrm>
          <a:prstGeom prst="rect">
            <a:avLst/>
          </a:prstGeom>
          <a:noFill/>
          <a:ln/>
        </p:spPr>
        <p:txBody>
          <a:bodyPr wrap="square" lIns="0" tIns="0" rIns="0" bIns="0" rtlCol="0" anchor="ctr"/>
          <a:lstStyle/>
          <a:p>
            <a:pPr indent="0" marL="0">
              <a:buNone/>
            </a:pPr>
            <a:r>
              <a:rPr lang="en-US" sz="1200" dirty="0">
                <a:solidFill>
                  <a:srgbClr val="F8FAFC"/>
                </a:solidFill>
                <a:latin typeface="Calibri" pitchFamily="34" charset="0"/>
                <a:ea typeface="Calibri" pitchFamily="34" charset="-122"/>
                <a:cs typeface="Calibri" pitchFamily="34" charset="-120"/>
              </a:rPr>
              <a:t>Payback</a:t>
            </a:r>
            <a:endParaRPr lang="en-US" sz="1200" dirty="0"/>
          </a:p>
        </p:txBody>
      </p:sp>
      <p:sp>
        <p:nvSpPr>
          <p:cNvPr id="34" name="Text 32"/>
          <p:cNvSpPr/>
          <p:nvPr/>
        </p:nvSpPr>
        <p:spPr>
          <a:xfrm>
            <a:off x="7653528" y="3611880"/>
            <a:ext cx="1417320" cy="384048"/>
          </a:xfrm>
          <a:prstGeom prst="rect">
            <a:avLst/>
          </a:prstGeom>
          <a:noFill/>
          <a:ln/>
        </p:spPr>
        <p:txBody>
          <a:bodyPr wrap="square" lIns="0" tIns="0" rIns="0" bIns="0" rtlCol="0" anchor="ctr"/>
          <a:lstStyle/>
          <a:p>
            <a:pPr algn="r" indent="0" marL="0">
              <a:buNone/>
            </a:pPr>
            <a:r>
              <a:rPr lang="en-US" sz="1400" b="1" dirty="0">
                <a:solidFill>
                  <a:srgbClr val="34D399"/>
                </a:solidFill>
                <a:latin typeface="Cambria" pitchFamily="34" charset="0"/>
                <a:ea typeface="Cambria" pitchFamily="34" charset="-122"/>
                <a:cs typeface="Cambria" pitchFamily="34" charset="-120"/>
              </a:rPr>
              <a:t>3.10 yrs</a:t>
            </a:r>
            <a:endParaRPr lang="en-US" sz="1400" dirty="0"/>
          </a:p>
        </p:txBody>
      </p:sp>
      <p:sp>
        <p:nvSpPr>
          <p:cNvPr id="35" name="Text 33"/>
          <p:cNvSpPr/>
          <p:nvPr/>
        </p:nvSpPr>
        <p:spPr>
          <a:xfrm>
            <a:off x="9162288" y="3611880"/>
            <a:ext cx="1097280" cy="384048"/>
          </a:xfrm>
          <a:prstGeom prst="rect">
            <a:avLst/>
          </a:prstGeom>
          <a:noFill/>
          <a:ln/>
        </p:spPr>
        <p:txBody>
          <a:bodyPr wrap="square" lIns="0" tIns="0" rIns="0" bIns="0" rtlCol="0" anchor="ctr"/>
          <a:lstStyle/>
          <a:p>
            <a:pPr algn="r" indent="0" marL="0">
              <a:buNone/>
            </a:pPr>
            <a:r>
              <a:rPr lang="en-US" sz="1150" dirty="0">
                <a:solidFill>
                  <a:srgbClr val="94A3B8"/>
                </a:solidFill>
                <a:latin typeface="Calibri" pitchFamily="34" charset="0"/>
                <a:ea typeface="Calibri" pitchFamily="34" charset="-122"/>
                <a:cs typeface="Calibri" pitchFamily="34" charset="-120"/>
              </a:rPr>
              <a:t>4.00 yrs</a:t>
            </a:r>
            <a:endParaRPr lang="en-US" sz="1150" dirty="0"/>
          </a:p>
        </p:txBody>
      </p:sp>
      <p:sp>
        <p:nvSpPr>
          <p:cNvPr id="36" name="Text 34"/>
          <p:cNvSpPr/>
          <p:nvPr/>
        </p:nvSpPr>
        <p:spPr>
          <a:xfrm>
            <a:off x="10287000" y="3611880"/>
            <a:ext cx="1097280" cy="384048"/>
          </a:xfrm>
          <a:prstGeom prst="rect">
            <a:avLst/>
          </a:prstGeom>
          <a:noFill/>
          <a:ln/>
        </p:spPr>
        <p:txBody>
          <a:bodyPr wrap="square" lIns="0" tIns="0" rIns="0" bIns="0" rtlCol="0" anchor="ctr"/>
          <a:lstStyle/>
          <a:p>
            <a:pPr algn="r" indent="0" marL="0">
              <a:buNone/>
            </a:pPr>
            <a:r>
              <a:rPr lang="en-US" sz="1150" dirty="0">
                <a:solidFill>
                  <a:srgbClr val="CADCFC"/>
                </a:solidFill>
                <a:latin typeface="Calibri" pitchFamily="34" charset="0"/>
                <a:ea typeface="Calibri" pitchFamily="34" charset="-122"/>
                <a:cs typeface="Calibri" pitchFamily="34" charset="-120"/>
              </a:rPr>
              <a:t>0.90 yr</a:t>
            </a:r>
            <a:endParaRPr lang="en-US" sz="1150" dirty="0"/>
          </a:p>
        </p:txBody>
      </p:sp>
      <p:sp>
        <p:nvSpPr>
          <p:cNvPr id="37" name="Shape 35"/>
          <p:cNvSpPr/>
          <p:nvPr/>
        </p:nvSpPr>
        <p:spPr>
          <a:xfrm>
            <a:off x="5550408" y="4133088"/>
            <a:ext cx="5909767" cy="493776"/>
          </a:xfrm>
          <a:prstGeom prst="rect">
            <a:avLst/>
          </a:prstGeom>
          <a:solidFill>
            <a:srgbClr val="13314E"/>
          </a:solidFill>
          <a:ln w="12700">
            <a:solidFill>
              <a:srgbClr val="333333"/>
            </a:solidFill>
            <a:prstDash val="solid"/>
          </a:ln>
        </p:spPr>
      </p:sp>
      <p:sp>
        <p:nvSpPr>
          <p:cNvPr id="38" name="Text 36"/>
          <p:cNvSpPr/>
          <p:nvPr/>
        </p:nvSpPr>
        <p:spPr>
          <a:xfrm>
            <a:off x="5596128" y="4187952"/>
            <a:ext cx="2011680" cy="384048"/>
          </a:xfrm>
          <a:prstGeom prst="rect">
            <a:avLst/>
          </a:prstGeom>
          <a:noFill/>
          <a:ln/>
        </p:spPr>
        <p:txBody>
          <a:bodyPr wrap="square" lIns="0" tIns="0" rIns="0" bIns="0" rtlCol="0" anchor="ctr"/>
          <a:lstStyle/>
          <a:p>
            <a:pPr indent="0" marL="0">
              <a:buNone/>
            </a:pPr>
            <a:r>
              <a:rPr lang="en-US" sz="1200" dirty="0">
                <a:solidFill>
                  <a:srgbClr val="F8FAFC"/>
                </a:solidFill>
                <a:latin typeface="Calibri" pitchFamily="34" charset="0"/>
                <a:ea typeface="Calibri" pitchFamily="34" charset="-122"/>
                <a:cs typeface="Calibri" pitchFamily="34" charset="-120"/>
              </a:rPr>
              <a:t>Discounted payback</a:t>
            </a:r>
            <a:endParaRPr lang="en-US" sz="1200" dirty="0"/>
          </a:p>
        </p:txBody>
      </p:sp>
      <p:sp>
        <p:nvSpPr>
          <p:cNvPr id="39" name="Text 37"/>
          <p:cNvSpPr/>
          <p:nvPr/>
        </p:nvSpPr>
        <p:spPr>
          <a:xfrm>
            <a:off x="7653528" y="4187952"/>
            <a:ext cx="1417320" cy="384048"/>
          </a:xfrm>
          <a:prstGeom prst="rect">
            <a:avLst/>
          </a:prstGeom>
          <a:noFill/>
          <a:ln/>
        </p:spPr>
        <p:txBody>
          <a:bodyPr wrap="square" lIns="0" tIns="0" rIns="0" bIns="0" rtlCol="0" anchor="ctr"/>
          <a:lstStyle/>
          <a:p>
            <a:pPr algn="r" indent="0" marL="0">
              <a:buNone/>
            </a:pPr>
            <a:r>
              <a:rPr lang="en-US" sz="1400" b="1" dirty="0">
                <a:solidFill>
                  <a:srgbClr val="34D399"/>
                </a:solidFill>
                <a:latin typeface="Cambria" pitchFamily="34" charset="0"/>
                <a:ea typeface="Cambria" pitchFamily="34" charset="-122"/>
                <a:cs typeface="Cambria" pitchFamily="34" charset="-120"/>
              </a:rPr>
              <a:t>3.98 yrs</a:t>
            </a:r>
            <a:endParaRPr lang="en-US" sz="1400" dirty="0"/>
          </a:p>
        </p:txBody>
      </p:sp>
      <p:sp>
        <p:nvSpPr>
          <p:cNvPr id="40" name="Text 38"/>
          <p:cNvSpPr/>
          <p:nvPr/>
        </p:nvSpPr>
        <p:spPr>
          <a:xfrm>
            <a:off x="9162288" y="4187952"/>
            <a:ext cx="1097280" cy="384048"/>
          </a:xfrm>
          <a:prstGeom prst="rect">
            <a:avLst/>
          </a:prstGeom>
          <a:noFill/>
          <a:ln/>
        </p:spPr>
        <p:txBody>
          <a:bodyPr wrap="square" lIns="0" tIns="0" rIns="0" bIns="0" rtlCol="0" anchor="ctr"/>
          <a:lstStyle/>
          <a:p>
            <a:pPr algn="r" indent="0" marL="0">
              <a:buNone/>
            </a:pPr>
            <a:r>
              <a:rPr lang="en-US" sz="1150" dirty="0">
                <a:solidFill>
                  <a:srgbClr val="94A3B8"/>
                </a:solidFill>
                <a:latin typeface="Calibri" pitchFamily="34" charset="0"/>
                <a:ea typeface="Calibri" pitchFamily="34" charset="-122"/>
                <a:cs typeface="Calibri" pitchFamily="34" charset="-120"/>
              </a:rPr>
              <a:t>4.50 yrs</a:t>
            </a:r>
            <a:endParaRPr lang="en-US" sz="1150" dirty="0"/>
          </a:p>
        </p:txBody>
      </p:sp>
      <p:sp>
        <p:nvSpPr>
          <p:cNvPr id="41" name="Text 39"/>
          <p:cNvSpPr/>
          <p:nvPr/>
        </p:nvSpPr>
        <p:spPr>
          <a:xfrm>
            <a:off x="10287000" y="4187952"/>
            <a:ext cx="1097280" cy="384048"/>
          </a:xfrm>
          <a:prstGeom prst="rect">
            <a:avLst/>
          </a:prstGeom>
          <a:noFill/>
          <a:ln/>
        </p:spPr>
        <p:txBody>
          <a:bodyPr wrap="square" lIns="0" tIns="0" rIns="0" bIns="0" rtlCol="0" anchor="ctr"/>
          <a:lstStyle/>
          <a:p>
            <a:pPr algn="r" indent="0" marL="0">
              <a:buNone/>
            </a:pPr>
            <a:r>
              <a:rPr lang="en-US" sz="1150" dirty="0">
                <a:solidFill>
                  <a:srgbClr val="CADCFC"/>
                </a:solidFill>
                <a:latin typeface="Calibri" pitchFamily="34" charset="0"/>
                <a:ea typeface="Calibri" pitchFamily="34" charset="-122"/>
                <a:cs typeface="Calibri" pitchFamily="34" charset="-120"/>
              </a:rPr>
              <a:t>0.52 yr</a:t>
            </a:r>
            <a:endParaRPr lang="en-US" sz="1150" dirty="0"/>
          </a:p>
        </p:txBody>
      </p:sp>
      <p:sp>
        <p:nvSpPr>
          <p:cNvPr id="42" name="Shape 40"/>
          <p:cNvSpPr/>
          <p:nvPr/>
        </p:nvSpPr>
        <p:spPr>
          <a:xfrm>
            <a:off x="5550408" y="4709160"/>
            <a:ext cx="5909767" cy="493776"/>
          </a:xfrm>
          <a:prstGeom prst="rect">
            <a:avLst/>
          </a:prstGeom>
          <a:solidFill>
            <a:srgbClr val="0F2740"/>
          </a:solidFill>
          <a:ln w="12700">
            <a:solidFill>
              <a:srgbClr val="333333"/>
            </a:solidFill>
            <a:prstDash val="solid"/>
          </a:ln>
        </p:spPr>
      </p:sp>
      <p:sp>
        <p:nvSpPr>
          <p:cNvPr id="43" name="Text 41"/>
          <p:cNvSpPr/>
          <p:nvPr/>
        </p:nvSpPr>
        <p:spPr>
          <a:xfrm>
            <a:off x="5596128" y="4764024"/>
            <a:ext cx="2011680" cy="384048"/>
          </a:xfrm>
          <a:prstGeom prst="rect">
            <a:avLst/>
          </a:prstGeom>
          <a:noFill/>
          <a:ln/>
        </p:spPr>
        <p:txBody>
          <a:bodyPr wrap="square" lIns="0" tIns="0" rIns="0" bIns="0" rtlCol="0" anchor="ctr"/>
          <a:lstStyle/>
          <a:p>
            <a:pPr indent="0" marL="0">
              <a:buNone/>
            </a:pPr>
            <a:r>
              <a:rPr lang="en-US" sz="1200" dirty="0">
                <a:solidFill>
                  <a:srgbClr val="F8FAFC"/>
                </a:solidFill>
                <a:latin typeface="Calibri" pitchFamily="34" charset="0"/>
                <a:ea typeface="Calibri" pitchFamily="34" charset="-122"/>
                <a:cs typeface="Calibri" pitchFamily="34" charset="-120"/>
              </a:rPr>
              <a:t>Return on investment</a:t>
            </a:r>
            <a:endParaRPr lang="en-US" sz="1200" dirty="0"/>
          </a:p>
        </p:txBody>
      </p:sp>
      <p:sp>
        <p:nvSpPr>
          <p:cNvPr id="44" name="Text 42"/>
          <p:cNvSpPr/>
          <p:nvPr/>
        </p:nvSpPr>
        <p:spPr>
          <a:xfrm>
            <a:off x="7653528" y="4764024"/>
            <a:ext cx="1417320" cy="384048"/>
          </a:xfrm>
          <a:prstGeom prst="rect">
            <a:avLst/>
          </a:prstGeom>
          <a:noFill/>
          <a:ln/>
        </p:spPr>
        <p:txBody>
          <a:bodyPr wrap="square" lIns="0" tIns="0" rIns="0" bIns="0" rtlCol="0" anchor="ctr"/>
          <a:lstStyle/>
          <a:p>
            <a:pPr algn="r" indent="0" marL="0">
              <a:buNone/>
            </a:pPr>
            <a:r>
              <a:rPr lang="en-US" sz="1400" b="1" dirty="0">
                <a:solidFill>
                  <a:srgbClr val="34D399"/>
                </a:solidFill>
                <a:latin typeface="Cambria" pitchFamily="34" charset="0"/>
                <a:ea typeface="Cambria" pitchFamily="34" charset="-122"/>
                <a:cs typeface="Cambria" pitchFamily="34" charset="-120"/>
              </a:rPr>
              <a:t>123.3%</a:t>
            </a:r>
            <a:endParaRPr lang="en-US" sz="1400" dirty="0"/>
          </a:p>
        </p:txBody>
      </p:sp>
      <p:sp>
        <p:nvSpPr>
          <p:cNvPr id="45" name="Text 43"/>
          <p:cNvSpPr/>
          <p:nvPr/>
        </p:nvSpPr>
        <p:spPr>
          <a:xfrm>
            <a:off x="9162288" y="4764024"/>
            <a:ext cx="1097280" cy="384048"/>
          </a:xfrm>
          <a:prstGeom prst="rect">
            <a:avLst/>
          </a:prstGeom>
          <a:noFill/>
          <a:ln/>
        </p:spPr>
        <p:txBody>
          <a:bodyPr wrap="square" lIns="0" tIns="0" rIns="0" bIns="0" rtlCol="0" anchor="ctr"/>
          <a:lstStyle/>
          <a:p>
            <a:pPr algn="r" indent="0" marL="0">
              <a:buNone/>
            </a:pPr>
            <a:r>
              <a:rPr lang="en-US" sz="1150" dirty="0">
                <a:solidFill>
                  <a:srgbClr val="94A3B8"/>
                </a:solidFill>
                <a:latin typeface="Calibri" pitchFamily="34" charset="0"/>
                <a:ea typeface="Calibri" pitchFamily="34" charset="-122"/>
                <a:cs typeface="Calibri" pitchFamily="34" charset="-120"/>
              </a:rPr>
              <a:t>—</a:t>
            </a:r>
            <a:endParaRPr lang="en-US" sz="1150" dirty="0"/>
          </a:p>
        </p:txBody>
      </p:sp>
      <p:sp>
        <p:nvSpPr>
          <p:cNvPr id="46" name="Text 44"/>
          <p:cNvSpPr/>
          <p:nvPr/>
        </p:nvSpPr>
        <p:spPr>
          <a:xfrm>
            <a:off x="10287000" y="4764024"/>
            <a:ext cx="1097280" cy="384048"/>
          </a:xfrm>
          <a:prstGeom prst="rect">
            <a:avLst/>
          </a:prstGeom>
          <a:noFill/>
          <a:ln/>
        </p:spPr>
        <p:txBody>
          <a:bodyPr wrap="square" lIns="0" tIns="0" rIns="0" bIns="0" rtlCol="0" anchor="ctr"/>
          <a:lstStyle/>
          <a:p>
            <a:pPr algn="r" indent="0" marL="0">
              <a:buNone/>
            </a:pPr>
            <a:r>
              <a:rPr lang="en-US" sz="1150" dirty="0">
                <a:solidFill>
                  <a:srgbClr val="CADCFC"/>
                </a:solidFill>
                <a:latin typeface="Calibri" pitchFamily="34" charset="0"/>
                <a:ea typeface="Calibri" pitchFamily="34" charset="-122"/>
                <a:cs typeface="Calibri" pitchFamily="34" charset="-120"/>
              </a:rPr>
              <a:t>—</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1A2E"/>
        </a:solidFill>
      </p:bgPr>
    </p:bg>
    <p:spTree>
      <p:nvGrpSpPr>
        <p:cNvPr id="1" name=""/>
        <p:cNvGrpSpPr/>
        <p:nvPr/>
      </p:nvGrpSpPr>
      <p:grpSpPr>
        <a:xfrm>
          <a:off x="0" y="0"/>
          <a:ext cx="0" cy="0"/>
          <a:chOff x="0" y="0"/>
          <a:chExt cx="0" cy="0"/>
        </a:xfrm>
      </p:grpSpPr>
      <p:sp>
        <p:nvSpPr>
          <p:cNvPr id="2" name="Text 0"/>
          <p:cNvSpPr/>
          <p:nvPr/>
        </p:nvSpPr>
        <p:spPr>
          <a:xfrm>
            <a:off x="566928" y="310896"/>
            <a:ext cx="8680399" cy="237744"/>
          </a:xfrm>
          <a:prstGeom prst="rect">
            <a:avLst/>
          </a:prstGeom>
          <a:noFill/>
          <a:ln/>
        </p:spPr>
        <p:txBody>
          <a:bodyPr wrap="square" lIns="0" tIns="0" rIns="0" bIns="0" rtlCol="0" anchor="ctr"/>
          <a:lstStyle/>
          <a:p>
            <a:pPr indent="0" marL="0">
              <a:buNone/>
            </a:pPr>
            <a:r>
              <a:rPr lang="en-US" sz="1100" b="1" spc="200" kern="0" dirty="0">
                <a:solidFill>
                  <a:srgbClr val="22D3EE"/>
                </a:solidFill>
                <a:latin typeface="Calibri" pitchFamily="34" charset="0"/>
                <a:ea typeface="Calibri" pitchFamily="34" charset="-122"/>
                <a:cs typeface="Calibri" pitchFamily="34" charset="-120"/>
              </a:rPr>
              <a:t>SCENARIO ANALYSIS</a:t>
            </a:r>
            <a:endParaRPr lang="en-US" sz="1100" dirty="0"/>
          </a:p>
        </p:txBody>
      </p:sp>
      <p:sp>
        <p:nvSpPr>
          <p:cNvPr id="3" name="Text 1"/>
          <p:cNvSpPr/>
          <p:nvPr/>
        </p:nvSpPr>
        <p:spPr>
          <a:xfrm>
            <a:off x="566928" y="548640"/>
            <a:ext cx="8680399" cy="566928"/>
          </a:xfrm>
          <a:prstGeom prst="rect">
            <a:avLst/>
          </a:prstGeom>
          <a:noFill/>
          <a:ln/>
        </p:spPr>
        <p:txBody>
          <a:bodyPr wrap="square" lIns="0" tIns="0" rIns="0" bIns="0" rtlCol="0" anchor="ctr"/>
          <a:lstStyle/>
          <a:p>
            <a:pPr indent="0" marL="0">
              <a:buNone/>
            </a:pPr>
            <a:r>
              <a:rPr lang="en-US" sz="3000" b="1" dirty="0">
                <a:solidFill>
                  <a:srgbClr val="F8FAFC"/>
                </a:solidFill>
                <a:latin typeface="Cambria" pitchFamily="34" charset="0"/>
                <a:ea typeface="Cambria" pitchFamily="34" charset="-122"/>
                <a:cs typeface="Cambria" pitchFamily="34" charset="-120"/>
              </a:rPr>
              <a:t>The downside is real, and the engine says so</a:t>
            </a:r>
            <a:endParaRPr lang="en-US" sz="3000" dirty="0"/>
          </a:p>
        </p:txBody>
      </p:sp>
      <p:sp>
        <p:nvSpPr>
          <p:cNvPr id="4" name="Shape 2"/>
          <p:cNvSpPr/>
          <p:nvPr/>
        </p:nvSpPr>
        <p:spPr>
          <a:xfrm>
            <a:off x="9475927" y="384048"/>
            <a:ext cx="2148840" cy="384048"/>
          </a:xfrm>
          <a:prstGeom prst="roundRect">
            <a:avLst>
              <a:gd name="adj" fmla="val 50000"/>
            </a:avLst>
          </a:prstGeom>
          <a:solidFill>
            <a:srgbClr val="13314E"/>
          </a:solidFill>
          <a:ln w="12700">
            <a:solidFill>
              <a:srgbClr val="22D3EE"/>
            </a:solidFill>
            <a:prstDash val="solid"/>
          </a:ln>
        </p:spPr>
      </p:sp>
      <p:sp>
        <p:nvSpPr>
          <p:cNvPr id="5" name="Text 3"/>
          <p:cNvSpPr/>
          <p:nvPr/>
        </p:nvSpPr>
        <p:spPr>
          <a:xfrm>
            <a:off x="9475927" y="384048"/>
            <a:ext cx="2148840" cy="384048"/>
          </a:xfrm>
          <a:prstGeom prst="rect">
            <a:avLst/>
          </a:prstGeom>
          <a:noFill/>
          <a:ln/>
        </p:spPr>
        <p:txBody>
          <a:bodyPr wrap="square" lIns="0" tIns="0" rIns="0" bIns="0" rtlCol="0" anchor="ctr"/>
          <a:lstStyle/>
          <a:p>
            <a:pPr algn="ctr" indent="0" marL="0">
              <a:buNone/>
            </a:pPr>
            <a:r>
              <a:rPr lang="en-US" sz="1150" b="1" dirty="0">
                <a:solidFill>
                  <a:srgbClr val="22D3EE"/>
                </a:solidFill>
                <a:latin typeface="Calibri" pitchFamily="34" charset="0"/>
                <a:ea typeface="Calibri" pitchFamily="34" charset="-122"/>
                <a:cs typeface="Calibri" pitchFamily="34" charset="-120"/>
              </a:rPr>
              <a:t>QUESTION 3</a:t>
            </a:r>
            <a:endParaRPr lang="en-US" sz="1150" dirty="0"/>
          </a:p>
        </p:txBody>
      </p:sp>
      <p:sp>
        <p:nvSpPr>
          <p:cNvPr id="6" name="Shape 4"/>
          <p:cNvSpPr/>
          <p:nvPr/>
        </p:nvSpPr>
        <p:spPr>
          <a:xfrm>
            <a:off x="566928" y="1316736"/>
            <a:ext cx="3551834" cy="3346704"/>
          </a:xfrm>
          <a:prstGeom prst="roundRect">
            <a:avLst>
              <a:gd name="adj" fmla="val 2732"/>
            </a:avLst>
          </a:prstGeom>
          <a:solidFill>
            <a:srgbClr val="0F2740"/>
          </a:solidFill>
          <a:ln w="12700">
            <a:solidFill>
              <a:srgbClr val="1E4463"/>
            </a:solidFill>
            <a:prstDash val="solid"/>
          </a:ln>
          <a:effectLst>
            <a:outerShdw sx="100000" sy="100000" kx="0" ky="0" algn="bl" rotWithShape="0" blurRad="177800" dist="38100" dir="5400000">
              <a:srgbClr val="000000">
                <a:alpha val="35000"/>
              </a:srgbClr>
            </a:outerShdw>
          </a:effectLst>
        </p:spPr>
      </p:sp>
      <p:sp>
        <p:nvSpPr>
          <p:cNvPr id="7" name="Text 5"/>
          <p:cNvSpPr/>
          <p:nvPr/>
        </p:nvSpPr>
        <p:spPr>
          <a:xfrm>
            <a:off x="786384" y="1481328"/>
            <a:ext cx="3112922" cy="274320"/>
          </a:xfrm>
          <a:prstGeom prst="rect">
            <a:avLst/>
          </a:prstGeom>
          <a:noFill/>
          <a:ln/>
        </p:spPr>
        <p:txBody>
          <a:bodyPr wrap="square" lIns="0" tIns="0" rIns="0" bIns="0" rtlCol="0" anchor="ctr"/>
          <a:lstStyle/>
          <a:p>
            <a:pPr indent="0" marL="0">
              <a:buNone/>
            </a:pPr>
            <a:r>
              <a:rPr lang="en-US" sz="1200" b="1" spc="160" kern="0" dirty="0">
                <a:solidFill>
                  <a:srgbClr val="34D399"/>
                </a:solidFill>
                <a:latin typeface="Calibri" pitchFamily="34" charset="0"/>
                <a:ea typeface="Calibri" pitchFamily="34" charset="-122"/>
                <a:cs typeface="Calibri" pitchFamily="34" charset="-120"/>
              </a:rPr>
              <a:t>OPTIMISTIC</a:t>
            </a:r>
            <a:endParaRPr lang="en-US" sz="1200" dirty="0"/>
          </a:p>
        </p:txBody>
      </p:sp>
      <p:sp>
        <p:nvSpPr>
          <p:cNvPr id="8" name="Text 6"/>
          <p:cNvSpPr/>
          <p:nvPr/>
        </p:nvSpPr>
        <p:spPr>
          <a:xfrm>
            <a:off x="786384" y="1737360"/>
            <a:ext cx="3112922" cy="237744"/>
          </a:xfrm>
          <a:prstGeom prst="rect">
            <a:avLst/>
          </a:prstGeom>
          <a:noFill/>
          <a:ln/>
        </p:spPr>
        <p:txBody>
          <a:bodyPr wrap="square" lIns="0" tIns="0" rIns="0" bIns="0" rtlCol="0" anchor="ctr"/>
          <a:lstStyle/>
          <a:p>
            <a:pPr indent="0" marL="0">
              <a:buNone/>
            </a:pPr>
            <a:r>
              <a:rPr lang="en-US" sz="1050" dirty="0">
                <a:solidFill>
                  <a:srgbClr val="94A3B8"/>
                </a:solidFill>
                <a:latin typeface="Calibri" pitchFamily="34" charset="0"/>
                <a:ea typeface="Calibri" pitchFamily="34" charset="-122"/>
                <a:cs typeface="Calibri" pitchFamily="34" charset="-120"/>
              </a:rPr>
              <a:t>25% weight</a:t>
            </a:r>
            <a:endParaRPr lang="en-US" sz="1050" dirty="0"/>
          </a:p>
        </p:txBody>
      </p:sp>
      <p:sp>
        <p:nvSpPr>
          <p:cNvPr id="9" name="Text 7"/>
          <p:cNvSpPr/>
          <p:nvPr/>
        </p:nvSpPr>
        <p:spPr>
          <a:xfrm>
            <a:off x="786384" y="2066544"/>
            <a:ext cx="3112922" cy="566928"/>
          </a:xfrm>
          <a:prstGeom prst="rect">
            <a:avLst/>
          </a:prstGeom>
          <a:noFill/>
          <a:ln/>
        </p:spPr>
        <p:txBody>
          <a:bodyPr wrap="square" lIns="0" tIns="0" rIns="0" bIns="0" rtlCol="0" anchor="ctr"/>
          <a:lstStyle/>
          <a:p>
            <a:pPr indent="0" marL="0">
              <a:buNone/>
            </a:pPr>
            <a:r>
              <a:rPr lang="en-US" sz="2700" b="1" dirty="0">
                <a:solidFill>
                  <a:srgbClr val="34D399"/>
                </a:solidFill>
                <a:latin typeface="Cambria" pitchFamily="34" charset="0"/>
                <a:ea typeface="Cambria" pitchFamily="34" charset="-122"/>
                <a:cs typeface="Cambria" pitchFamily="34" charset="-120"/>
              </a:rPr>
              <a:t>AED 19.01M</a:t>
            </a:r>
            <a:endParaRPr lang="en-US" sz="2700" dirty="0"/>
          </a:p>
        </p:txBody>
      </p:sp>
      <p:sp>
        <p:nvSpPr>
          <p:cNvPr id="10" name="Text 8"/>
          <p:cNvSpPr/>
          <p:nvPr/>
        </p:nvSpPr>
        <p:spPr>
          <a:xfrm>
            <a:off x="786384" y="2761488"/>
            <a:ext cx="1371600" cy="274320"/>
          </a:xfrm>
          <a:prstGeom prst="rect">
            <a:avLst/>
          </a:prstGeom>
          <a:noFill/>
          <a:ln/>
        </p:spPr>
        <p:txBody>
          <a:bodyPr wrap="square" lIns="0" tIns="0" rIns="0" bIns="0" rtlCol="0" anchor="ctr"/>
          <a:lstStyle/>
          <a:p>
            <a:pPr indent="0" marL="0">
              <a:buNone/>
            </a:pPr>
            <a:r>
              <a:rPr lang="en-US" sz="1100" dirty="0">
                <a:solidFill>
                  <a:srgbClr val="94A3B8"/>
                </a:solidFill>
                <a:latin typeface="Calibri" pitchFamily="34" charset="0"/>
                <a:ea typeface="Calibri" pitchFamily="34" charset="-122"/>
                <a:cs typeface="Calibri" pitchFamily="34" charset="-120"/>
              </a:rPr>
              <a:t>IRR</a:t>
            </a:r>
            <a:endParaRPr lang="en-US" sz="1100" dirty="0"/>
          </a:p>
        </p:txBody>
      </p:sp>
      <p:sp>
        <p:nvSpPr>
          <p:cNvPr id="11" name="Text 9"/>
          <p:cNvSpPr/>
          <p:nvPr/>
        </p:nvSpPr>
        <p:spPr>
          <a:xfrm>
            <a:off x="2344826" y="2761488"/>
            <a:ext cx="1554480" cy="274320"/>
          </a:xfrm>
          <a:prstGeom prst="rect">
            <a:avLst/>
          </a:prstGeom>
          <a:noFill/>
          <a:ln/>
        </p:spPr>
        <p:txBody>
          <a:bodyPr wrap="square" lIns="0" tIns="0" rIns="0" bIns="0" rtlCol="0" anchor="ctr"/>
          <a:lstStyle/>
          <a:p>
            <a:pPr algn="r" indent="0" marL="0">
              <a:buNone/>
            </a:pPr>
            <a:r>
              <a:rPr lang="en-US" sz="1150" b="1" dirty="0">
                <a:solidFill>
                  <a:srgbClr val="F8FAFC"/>
                </a:solidFill>
                <a:latin typeface="Calibri" pitchFamily="34" charset="0"/>
                <a:ea typeface="Calibri" pitchFamily="34" charset="-122"/>
                <a:cs typeface="Calibri" pitchFamily="34" charset="-120"/>
              </a:rPr>
              <a:t>33.59%</a:t>
            </a:r>
            <a:endParaRPr lang="en-US" sz="1150" dirty="0"/>
          </a:p>
        </p:txBody>
      </p:sp>
      <p:sp>
        <p:nvSpPr>
          <p:cNvPr id="12" name="Text 10"/>
          <p:cNvSpPr/>
          <p:nvPr/>
        </p:nvSpPr>
        <p:spPr>
          <a:xfrm>
            <a:off x="786384" y="3072384"/>
            <a:ext cx="1371600" cy="274320"/>
          </a:xfrm>
          <a:prstGeom prst="rect">
            <a:avLst/>
          </a:prstGeom>
          <a:noFill/>
          <a:ln/>
        </p:spPr>
        <p:txBody>
          <a:bodyPr wrap="square" lIns="0" tIns="0" rIns="0" bIns="0" rtlCol="0" anchor="ctr"/>
          <a:lstStyle/>
          <a:p>
            <a:pPr indent="0" marL="0">
              <a:buNone/>
            </a:pPr>
            <a:r>
              <a:rPr lang="en-US" sz="1100" dirty="0">
                <a:solidFill>
                  <a:srgbClr val="94A3B8"/>
                </a:solidFill>
                <a:latin typeface="Calibri" pitchFamily="34" charset="0"/>
                <a:ea typeface="Calibri" pitchFamily="34" charset="-122"/>
                <a:cs typeface="Calibri" pitchFamily="34" charset="-120"/>
              </a:rPr>
              <a:t>PI</a:t>
            </a:r>
            <a:endParaRPr lang="en-US" sz="1100" dirty="0"/>
          </a:p>
        </p:txBody>
      </p:sp>
      <p:sp>
        <p:nvSpPr>
          <p:cNvPr id="13" name="Text 11"/>
          <p:cNvSpPr/>
          <p:nvPr/>
        </p:nvSpPr>
        <p:spPr>
          <a:xfrm>
            <a:off x="2344826" y="3072384"/>
            <a:ext cx="1554480" cy="274320"/>
          </a:xfrm>
          <a:prstGeom prst="rect">
            <a:avLst/>
          </a:prstGeom>
          <a:noFill/>
          <a:ln/>
        </p:spPr>
        <p:txBody>
          <a:bodyPr wrap="square" lIns="0" tIns="0" rIns="0" bIns="0" rtlCol="0" anchor="ctr"/>
          <a:lstStyle/>
          <a:p>
            <a:pPr algn="r" indent="0" marL="0">
              <a:buNone/>
            </a:pPr>
            <a:r>
              <a:rPr lang="en-US" sz="1150" b="1" dirty="0">
                <a:solidFill>
                  <a:srgbClr val="F8FAFC"/>
                </a:solidFill>
                <a:latin typeface="Calibri" pitchFamily="34" charset="0"/>
                <a:ea typeface="Calibri" pitchFamily="34" charset="-122"/>
                <a:cs typeface="Calibri" pitchFamily="34" charset="-120"/>
              </a:rPr>
              <a:t>1.830x</a:t>
            </a:r>
            <a:endParaRPr lang="en-US" sz="1150" dirty="0"/>
          </a:p>
        </p:txBody>
      </p:sp>
      <p:sp>
        <p:nvSpPr>
          <p:cNvPr id="14" name="Text 12"/>
          <p:cNvSpPr/>
          <p:nvPr/>
        </p:nvSpPr>
        <p:spPr>
          <a:xfrm>
            <a:off x="786384" y="3383280"/>
            <a:ext cx="1371600" cy="274320"/>
          </a:xfrm>
          <a:prstGeom prst="rect">
            <a:avLst/>
          </a:prstGeom>
          <a:noFill/>
          <a:ln/>
        </p:spPr>
        <p:txBody>
          <a:bodyPr wrap="square" lIns="0" tIns="0" rIns="0" bIns="0" rtlCol="0" anchor="ctr"/>
          <a:lstStyle/>
          <a:p>
            <a:pPr indent="0" marL="0">
              <a:buNone/>
            </a:pPr>
            <a:r>
              <a:rPr lang="en-US" sz="1100" dirty="0">
                <a:solidFill>
                  <a:srgbClr val="94A3B8"/>
                </a:solidFill>
                <a:latin typeface="Calibri" pitchFamily="34" charset="0"/>
                <a:ea typeface="Calibri" pitchFamily="34" charset="-122"/>
                <a:cs typeface="Calibri" pitchFamily="34" charset="-120"/>
              </a:rPr>
              <a:t>Payback</a:t>
            </a:r>
            <a:endParaRPr lang="en-US" sz="1100" dirty="0"/>
          </a:p>
        </p:txBody>
      </p:sp>
      <p:sp>
        <p:nvSpPr>
          <p:cNvPr id="15" name="Text 13"/>
          <p:cNvSpPr/>
          <p:nvPr/>
        </p:nvSpPr>
        <p:spPr>
          <a:xfrm>
            <a:off x="2344826" y="3383280"/>
            <a:ext cx="1554480" cy="274320"/>
          </a:xfrm>
          <a:prstGeom prst="rect">
            <a:avLst/>
          </a:prstGeom>
          <a:noFill/>
          <a:ln/>
        </p:spPr>
        <p:txBody>
          <a:bodyPr wrap="square" lIns="0" tIns="0" rIns="0" bIns="0" rtlCol="0" anchor="ctr"/>
          <a:lstStyle/>
          <a:p>
            <a:pPr algn="r" indent="0" marL="0">
              <a:buNone/>
            </a:pPr>
            <a:r>
              <a:rPr lang="en-US" sz="1150" b="1" dirty="0">
                <a:solidFill>
                  <a:srgbClr val="F8FAFC"/>
                </a:solidFill>
                <a:latin typeface="Calibri" pitchFamily="34" charset="0"/>
                <a:ea typeface="Calibri" pitchFamily="34" charset="-122"/>
                <a:cs typeface="Calibri" pitchFamily="34" charset="-120"/>
              </a:rPr>
              <a:t>2.63 yrs</a:t>
            </a:r>
            <a:endParaRPr lang="en-US" sz="1150" dirty="0"/>
          </a:p>
        </p:txBody>
      </p:sp>
      <p:sp>
        <p:nvSpPr>
          <p:cNvPr id="16" name="Text 14"/>
          <p:cNvSpPr/>
          <p:nvPr/>
        </p:nvSpPr>
        <p:spPr>
          <a:xfrm>
            <a:off x="786384" y="3730752"/>
            <a:ext cx="3112922" cy="420624"/>
          </a:xfrm>
          <a:prstGeom prst="rect">
            <a:avLst/>
          </a:prstGeom>
          <a:noFill/>
          <a:ln/>
        </p:spPr>
        <p:txBody>
          <a:bodyPr wrap="square" lIns="0" tIns="0" rIns="0" bIns="0" rtlCol="0" anchor="ctr"/>
          <a:lstStyle/>
          <a:p>
            <a:pPr indent="0" marL="0">
              <a:buNone/>
            </a:pPr>
            <a:r>
              <a:rPr lang="en-US" sz="1000" dirty="0">
                <a:solidFill>
                  <a:srgbClr val="94A3B8"/>
                </a:solidFill>
                <a:latin typeface="Calibri" pitchFamily="34" charset="0"/>
                <a:ea typeface="Calibri" pitchFamily="34" charset="-122"/>
                <a:cs typeface="Calibri" pitchFamily="34" charset="-120"/>
              </a:rPr>
              <a:t>CapEx ×0.95 · benefits ×1.10 · WACC 10.5%</a:t>
            </a:r>
            <a:endParaRPr lang="en-US" sz="1000" dirty="0"/>
          </a:p>
        </p:txBody>
      </p:sp>
      <p:sp>
        <p:nvSpPr>
          <p:cNvPr id="17" name="Shape 15"/>
          <p:cNvSpPr/>
          <p:nvPr/>
        </p:nvSpPr>
        <p:spPr>
          <a:xfrm>
            <a:off x="786384" y="4169664"/>
            <a:ext cx="3112922" cy="365760"/>
          </a:xfrm>
          <a:prstGeom prst="roundRect">
            <a:avLst>
              <a:gd name="adj" fmla="val 22500"/>
            </a:avLst>
          </a:prstGeom>
          <a:solidFill>
            <a:srgbClr val="0F3B2E"/>
          </a:solidFill>
          <a:ln w="12700">
            <a:solidFill>
              <a:srgbClr val="34D399"/>
            </a:solidFill>
            <a:prstDash val="solid"/>
          </a:ln>
        </p:spPr>
      </p:sp>
      <p:sp>
        <p:nvSpPr>
          <p:cNvPr id="18" name="Text 16"/>
          <p:cNvSpPr/>
          <p:nvPr/>
        </p:nvSpPr>
        <p:spPr>
          <a:xfrm>
            <a:off x="786384" y="4169664"/>
            <a:ext cx="3112922" cy="365760"/>
          </a:xfrm>
          <a:prstGeom prst="rect">
            <a:avLst/>
          </a:prstGeom>
          <a:noFill/>
          <a:ln/>
        </p:spPr>
        <p:txBody>
          <a:bodyPr wrap="square" lIns="0" tIns="0" rIns="0" bIns="0" rtlCol="0" anchor="ctr"/>
          <a:lstStyle/>
          <a:p>
            <a:pPr algn="ctr" indent="0" marL="0">
              <a:buNone/>
            </a:pPr>
            <a:r>
              <a:rPr lang="en-US" sz="1150" b="1" dirty="0">
                <a:solidFill>
                  <a:srgbClr val="34D399"/>
                </a:solidFill>
                <a:latin typeface="Calibri" pitchFamily="34" charset="0"/>
                <a:ea typeface="Calibri" pitchFamily="34" charset="-122"/>
                <a:cs typeface="Calibri" pitchFamily="34" charset="-120"/>
              </a:rPr>
              <a:t>APPROVE</a:t>
            </a:r>
            <a:endParaRPr lang="en-US" sz="1150" dirty="0"/>
          </a:p>
        </p:txBody>
      </p:sp>
      <p:sp>
        <p:nvSpPr>
          <p:cNvPr id="19" name="Shape 17"/>
          <p:cNvSpPr/>
          <p:nvPr/>
        </p:nvSpPr>
        <p:spPr>
          <a:xfrm>
            <a:off x="4319930" y="1316736"/>
            <a:ext cx="3551834" cy="3346704"/>
          </a:xfrm>
          <a:prstGeom prst="roundRect">
            <a:avLst>
              <a:gd name="adj" fmla="val 2732"/>
            </a:avLst>
          </a:prstGeom>
          <a:solidFill>
            <a:srgbClr val="13314E"/>
          </a:solidFill>
          <a:ln w="12700">
            <a:solidFill>
              <a:srgbClr val="1E4463"/>
            </a:solidFill>
            <a:prstDash val="solid"/>
          </a:ln>
          <a:effectLst>
            <a:outerShdw sx="100000" sy="100000" kx="0" ky="0" algn="bl" rotWithShape="0" blurRad="177800" dist="38100" dir="5400000">
              <a:srgbClr val="000000">
                <a:alpha val="35000"/>
              </a:srgbClr>
            </a:outerShdw>
          </a:effectLst>
        </p:spPr>
      </p:sp>
      <p:sp>
        <p:nvSpPr>
          <p:cNvPr id="20" name="Text 18"/>
          <p:cNvSpPr/>
          <p:nvPr/>
        </p:nvSpPr>
        <p:spPr>
          <a:xfrm>
            <a:off x="4539386" y="1481328"/>
            <a:ext cx="3112922" cy="274320"/>
          </a:xfrm>
          <a:prstGeom prst="rect">
            <a:avLst/>
          </a:prstGeom>
          <a:noFill/>
          <a:ln/>
        </p:spPr>
        <p:txBody>
          <a:bodyPr wrap="square" lIns="0" tIns="0" rIns="0" bIns="0" rtlCol="0" anchor="ctr"/>
          <a:lstStyle/>
          <a:p>
            <a:pPr indent="0" marL="0">
              <a:buNone/>
            </a:pPr>
            <a:r>
              <a:rPr lang="en-US" sz="1200" b="1" spc="160" kern="0" dirty="0">
                <a:solidFill>
                  <a:srgbClr val="34D399"/>
                </a:solidFill>
                <a:latin typeface="Calibri" pitchFamily="34" charset="0"/>
                <a:ea typeface="Calibri" pitchFamily="34" charset="-122"/>
                <a:cs typeface="Calibri" pitchFamily="34" charset="-120"/>
              </a:rPr>
              <a:t>BASE CASE</a:t>
            </a:r>
            <a:endParaRPr lang="en-US" sz="1200" dirty="0"/>
          </a:p>
        </p:txBody>
      </p:sp>
      <p:sp>
        <p:nvSpPr>
          <p:cNvPr id="21" name="Text 19"/>
          <p:cNvSpPr/>
          <p:nvPr/>
        </p:nvSpPr>
        <p:spPr>
          <a:xfrm>
            <a:off x="4539386" y="1737360"/>
            <a:ext cx="3112922" cy="237744"/>
          </a:xfrm>
          <a:prstGeom prst="rect">
            <a:avLst/>
          </a:prstGeom>
          <a:noFill/>
          <a:ln/>
        </p:spPr>
        <p:txBody>
          <a:bodyPr wrap="square" lIns="0" tIns="0" rIns="0" bIns="0" rtlCol="0" anchor="ctr"/>
          <a:lstStyle/>
          <a:p>
            <a:pPr indent="0" marL="0">
              <a:buNone/>
            </a:pPr>
            <a:r>
              <a:rPr lang="en-US" sz="1050" dirty="0">
                <a:solidFill>
                  <a:srgbClr val="94A3B8"/>
                </a:solidFill>
                <a:latin typeface="Calibri" pitchFamily="34" charset="0"/>
                <a:ea typeface="Calibri" pitchFamily="34" charset="-122"/>
                <a:cs typeface="Calibri" pitchFamily="34" charset="-120"/>
              </a:rPr>
              <a:t>50% weight</a:t>
            </a:r>
            <a:endParaRPr lang="en-US" sz="1050" dirty="0"/>
          </a:p>
        </p:txBody>
      </p:sp>
      <p:sp>
        <p:nvSpPr>
          <p:cNvPr id="22" name="Text 20"/>
          <p:cNvSpPr/>
          <p:nvPr/>
        </p:nvSpPr>
        <p:spPr>
          <a:xfrm>
            <a:off x="4539386" y="2066544"/>
            <a:ext cx="3112922" cy="566928"/>
          </a:xfrm>
          <a:prstGeom prst="rect">
            <a:avLst/>
          </a:prstGeom>
          <a:noFill/>
          <a:ln/>
        </p:spPr>
        <p:txBody>
          <a:bodyPr wrap="square" lIns="0" tIns="0" rIns="0" bIns="0" rtlCol="0" anchor="ctr"/>
          <a:lstStyle/>
          <a:p>
            <a:pPr indent="0" marL="0">
              <a:buNone/>
            </a:pPr>
            <a:r>
              <a:rPr lang="en-US" sz="2700" b="1" dirty="0">
                <a:solidFill>
                  <a:srgbClr val="34D399"/>
                </a:solidFill>
                <a:latin typeface="Cambria" pitchFamily="34" charset="0"/>
                <a:ea typeface="Cambria" pitchFamily="34" charset="-122"/>
                <a:cs typeface="Cambria" pitchFamily="34" charset="-120"/>
              </a:rPr>
              <a:t>AED 12.08M</a:t>
            </a:r>
            <a:endParaRPr lang="en-US" sz="2700" dirty="0"/>
          </a:p>
        </p:txBody>
      </p:sp>
      <p:sp>
        <p:nvSpPr>
          <p:cNvPr id="23" name="Text 21"/>
          <p:cNvSpPr/>
          <p:nvPr/>
        </p:nvSpPr>
        <p:spPr>
          <a:xfrm>
            <a:off x="4539386" y="2761488"/>
            <a:ext cx="1371600" cy="274320"/>
          </a:xfrm>
          <a:prstGeom prst="rect">
            <a:avLst/>
          </a:prstGeom>
          <a:noFill/>
          <a:ln/>
        </p:spPr>
        <p:txBody>
          <a:bodyPr wrap="square" lIns="0" tIns="0" rIns="0" bIns="0" rtlCol="0" anchor="ctr"/>
          <a:lstStyle/>
          <a:p>
            <a:pPr indent="0" marL="0">
              <a:buNone/>
            </a:pPr>
            <a:r>
              <a:rPr lang="en-US" sz="1100" dirty="0">
                <a:solidFill>
                  <a:srgbClr val="94A3B8"/>
                </a:solidFill>
                <a:latin typeface="Calibri" pitchFamily="34" charset="0"/>
                <a:ea typeface="Calibri" pitchFamily="34" charset="-122"/>
                <a:cs typeface="Calibri" pitchFamily="34" charset="-120"/>
              </a:rPr>
              <a:t>IRR</a:t>
            </a:r>
            <a:endParaRPr lang="en-US" sz="1100" dirty="0"/>
          </a:p>
        </p:txBody>
      </p:sp>
      <p:sp>
        <p:nvSpPr>
          <p:cNvPr id="24" name="Text 22"/>
          <p:cNvSpPr/>
          <p:nvPr/>
        </p:nvSpPr>
        <p:spPr>
          <a:xfrm>
            <a:off x="6097829" y="2761488"/>
            <a:ext cx="1554480" cy="274320"/>
          </a:xfrm>
          <a:prstGeom prst="rect">
            <a:avLst/>
          </a:prstGeom>
          <a:noFill/>
          <a:ln/>
        </p:spPr>
        <p:txBody>
          <a:bodyPr wrap="square" lIns="0" tIns="0" rIns="0" bIns="0" rtlCol="0" anchor="ctr"/>
          <a:lstStyle/>
          <a:p>
            <a:pPr algn="r" indent="0" marL="0">
              <a:buNone/>
            </a:pPr>
            <a:r>
              <a:rPr lang="en-US" sz="1150" b="1" dirty="0">
                <a:solidFill>
                  <a:srgbClr val="F8FAFC"/>
                </a:solidFill>
                <a:latin typeface="Calibri" pitchFamily="34" charset="0"/>
                <a:ea typeface="Calibri" pitchFamily="34" charset="-122"/>
                <a:cs typeface="Calibri" pitchFamily="34" charset="-120"/>
              </a:rPr>
              <a:t>26.30%</a:t>
            </a:r>
            <a:endParaRPr lang="en-US" sz="1150" dirty="0"/>
          </a:p>
        </p:txBody>
      </p:sp>
      <p:sp>
        <p:nvSpPr>
          <p:cNvPr id="25" name="Text 23"/>
          <p:cNvSpPr/>
          <p:nvPr/>
        </p:nvSpPr>
        <p:spPr>
          <a:xfrm>
            <a:off x="4539386" y="3072384"/>
            <a:ext cx="1371600" cy="274320"/>
          </a:xfrm>
          <a:prstGeom prst="rect">
            <a:avLst/>
          </a:prstGeom>
          <a:noFill/>
          <a:ln/>
        </p:spPr>
        <p:txBody>
          <a:bodyPr wrap="square" lIns="0" tIns="0" rIns="0" bIns="0" rtlCol="0" anchor="ctr"/>
          <a:lstStyle/>
          <a:p>
            <a:pPr indent="0" marL="0">
              <a:buNone/>
            </a:pPr>
            <a:r>
              <a:rPr lang="en-US" sz="1100" dirty="0">
                <a:solidFill>
                  <a:srgbClr val="94A3B8"/>
                </a:solidFill>
                <a:latin typeface="Calibri" pitchFamily="34" charset="0"/>
                <a:ea typeface="Calibri" pitchFamily="34" charset="-122"/>
                <a:cs typeface="Calibri" pitchFamily="34" charset="-120"/>
              </a:rPr>
              <a:t>PI</a:t>
            </a:r>
            <a:endParaRPr lang="en-US" sz="1100" dirty="0"/>
          </a:p>
        </p:txBody>
      </p:sp>
      <p:sp>
        <p:nvSpPr>
          <p:cNvPr id="26" name="Text 24"/>
          <p:cNvSpPr/>
          <p:nvPr/>
        </p:nvSpPr>
        <p:spPr>
          <a:xfrm>
            <a:off x="6097829" y="3072384"/>
            <a:ext cx="1554480" cy="274320"/>
          </a:xfrm>
          <a:prstGeom prst="rect">
            <a:avLst/>
          </a:prstGeom>
          <a:noFill/>
          <a:ln/>
        </p:spPr>
        <p:txBody>
          <a:bodyPr wrap="square" lIns="0" tIns="0" rIns="0" bIns="0" rtlCol="0" anchor="ctr"/>
          <a:lstStyle/>
          <a:p>
            <a:pPr algn="r" indent="0" marL="0">
              <a:buNone/>
            </a:pPr>
            <a:r>
              <a:rPr lang="en-US" sz="1150" b="1" dirty="0">
                <a:solidFill>
                  <a:srgbClr val="F8FAFC"/>
                </a:solidFill>
                <a:latin typeface="Calibri" pitchFamily="34" charset="0"/>
                <a:ea typeface="Calibri" pitchFamily="34" charset="-122"/>
                <a:cs typeface="Calibri" pitchFamily="34" charset="-120"/>
              </a:rPr>
              <a:t>1.504x</a:t>
            </a:r>
            <a:endParaRPr lang="en-US" sz="1150" dirty="0"/>
          </a:p>
        </p:txBody>
      </p:sp>
      <p:sp>
        <p:nvSpPr>
          <p:cNvPr id="27" name="Text 25"/>
          <p:cNvSpPr/>
          <p:nvPr/>
        </p:nvSpPr>
        <p:spPr>
          <a:xfrm>
            <a:off x="4539386" y="3383280"/>
            <a:ext cx="1371600" cy="274320"/>
          </a:xfrm>
          <a:prstGeom prst="rect">
            <a:avLst/>
          </a:prstGeom>
          <a:noFill/>
          <a:ln/>
        </p:spPr>
        <p:txBody>
          <a:bodyPr wrap="square" lIns="0" tIns="0" rIns="0" bIns="0" rtlCol="0" anchor="ctr"/>
          <a:lstStyle/>
          <a:p>
            <a:pPr indent="0" marL="0">
              <a:buNone/>
            </a:pPr>
            <a:r>
              <a:rPr lang="en-US" sz="1100" dirty="0">
                <a:solidFill>
                  <a:srgbClr val="94A3B8"/>
                </a:solidFill>
                <a:latin typeface="Calibri" pitchFamily="34" charset="0"/>
                <a:ea typeface="Calibri" pitchFamily="34" charset="-122"/>
                <a:cs typeface="Calibri" pitchFamily="34" charset="-120"/>
              </a:rPr>
              <a:t>Payback</a:t>
            </a:r>
            <a:endParaRPr lang="en-US" sz="1100" dirty="0"/>
          </a:p>
        </p:txBody>
      </p:sp>
      <p:sp>
        <p:nvSpPr>
          <p:cNvPr id="28" name="Text 26"/>
          <p:cNvSpPr/>
          <p:nvPr/>
        </p:nvSpPr>
        <p:spPr>
          <a:xfrm>
            <a:off x="6097829" y="3383280"/>
            <a:ext cx="1554480" cy="274320"/>
          </a:xfrm>
          <a:prstGeom prst="rect">
            <a:avLst/>
          </a:prstGeom>
          <a:noFill/>
          <a:ln/>
        </p:spPr>
        <p:txBody>
          <a:bodyPr wrap="square" lIns="0" tIns="0" rIns="0" bIns="0" rtlCol="0" anchor="ctr"/>
          <a:lstStyle/>
          <a:p>
            <a:pPr algn="r" indent="0" marL="0">
              <a:buNone/>
            </a:pPr>
            <a:r>
              <a:rPr lang="en-US" sz="1150" b="1" dirty="0">
                <a:solidFill>
                  <a:srgbClr val="F8FAFC"/>
                </a:solidFill>
                <a:latin typeface="Calibri" pitchFamily="34" charset="0"/>
                <a:ea typeface="Calibri" pitchFamily="34" charset="-122"/>
                <a:cs typeface="Calibri" pitchFamily="34" charset="-120"/>
              </a:rPr>
              <a:t>3.10 yrs</a:t>
            </a:r>
            <a:endParaRPr lang="en-US" sz="1150" dirty="0"/>
          </a:p>
        </p:txBody>
      </p:sp>
      <p:sp>
        <p:nvSpPr>
          <p:cNvPr id="29" name="Text 27"/>
          <p:cNvSpPr/>
          <p:nvPr/>
        </p:nvSpPr>
        <p:spPr>
          <a:xfrm>
            <a:off x="4539386" y="3730752"/>
            <a:ext cx="3112922" cy="420624"/>
          </a:xfrm>
          <a:prstGeom prst="rect">
            <a:avLst/>
          </a:prstGeom>
          <a:noFill/>
          <a:ln/>
        </p:spPr>
        <p:txBody>
          <a:bodyPr wrap="square" lIns="0" tIns="0" rIns="0" bIns="0" rtlCol="0" anchor="ctr"/>
          <a:lstStyle/>
          <a:p>
            <a:pPr indent="0" marL="0">
              <a:buNone/>
            </a:pPr>
            <a:r>
              <a:rPr lang="en-US" sz="1000" dirty="0">
                <a:solidFill>
                  <a:srgbClr val="94A3B8"/>
                </a:solidFill>
                <a:latin typeface="Calibri" pitchFamily="34" charset="0"/>
                <a:ea typeface="Calibri" pitchFamily="34" charset="-122"/>
                <a:cs typeface="Calibri" pitchFamily="34" charset="-120"/>
              </a:rPr>
              <a:t>Management baseline · WACC 11.5%</a:t>
            </a:r>
            <a:endParaRPr lang="en-US" sz="1000" dirty="0"/>
          </a:p>
        </p:txBody>
      </p:sp>
      <p:sp>
        <p:nvSpPr>
          <p:cNvPr id="30" name="Shape 28"/>
          <p:cNvSpPr/>
          <p:nvPr/>
        </p:nvSpPr>
        <p:spPr>
          <a:xfrm>
            <a:off x="4539386" y="4169664"/>
            <a:ext cx="3112922" cy="365760"/>
          </a:xfrm>
          <a:prstGeom prst="roundRect">
            <a:avLst>
              <a:gd name="adj" fmla="val 22500"/>
            </a:avLst>
          </a:prstGeom>
          <a:solidFill>
            <a:srgbClr val="0F3B2E"/>
          </a:solidFill>
          <a:ln w="12700">
            <a:solidFill>
              <a:srgbClr val="34D399"/>
            </a:solidFill>
            <a:prstDash val="solid"/>
          </a:ln>
        </p:spPr>
      </p:sp>
      <p:sp>
        <p:nvSpPr>
          <p:cNvPr id="31" name="Text 29"/>
          <p:cNvSpPr/>
          <p:nvPr/>
        </p:nvSpPr>
        <p:spPr>
          <a:xfrm>
            <a:off x="4539386" y="4169664"/>
            <a:ext cx="3112922" cy="365760"/>
          </a:xfrm>
          <a:prstGeom prst="rect">
            <a:avLst/>
          </a:prstGeom>
          <a:noFill/>
          <a:ln/>
        </p:spPr>
        <p:txBody>
          <a:bodyPr wrap="square" lIns="0" tIns="0" rIns="0" bIns="0" rtlCol="0" anchor="ctr"/>
          <a:lstStyle/>
          <a:p>
            <a:pPr algn="ctr" indent="0" marL="0">
              <a:buNone/>
            </a:pPr>
            <a:r>
              <a:rPr lang="en-US" sz="1150" b="1" dirty="0">
                <a:solidFill>
                  <a:srgbClr val="34D399"/>
                </a:solidFill>
                <a:latin typeface="Calibri" pitchFamily="34" charset="0"/>
                <a:ea typeface="Calibri" pitchFamily="34" charset="-122"/>
                <a:cs typeface="Calibri" pitchFamily="34" charset="-120"/>
              </a:rPr>
              <a:t>APPROVE</a:t>
            </a:r>
            <a:endParaRPr lang="en-US" sz="1150" dirty="0"/>
          </a:p>
        </p:txBody>
      </p:sp>
      <p:sp>
        <p:nvSpPr>
          <p:cNvPr id="32" name="Shape 30"/>
          <p:cNvSpPr/>
          <p:nvPr/>
        </p:nvSpPr>
        <p:spPr>
          <a:xfrm>
            <a:off x="8072933" y="1316736"/>
            <a:ext cx="3551834" cy="3346704"/>
          </a:xfrm>
          <a:prstGeom prst="roundRect">
            <a:avLst>
              <a:gd name="adj" fmla="val 2732"/>
            </a:avLst>
          </a:prstGeom>
          <a:solidFill>
            <a:srgbClr val="0F2740"/>
          </a:solidFill>
          <a:ln w="12700">
            <a:solidFill>
              <a:srgbClr val="1E4463"/>
            </a:solidFill>
            <a:prstDash val="solid"/>
          </a:ln>
          <a:effectLst>
            <a:outerShdw sx="100000" sy="100000" kx="0" ky="0" algn="bl" rotWithShape="0" blurRad="177800" dist="38100" dir="5400000">
              <a:srgbClr val="000000">
                <a:alpha val="35000"/>
              </a:srgbClr>
            </a:outerShdw>
          </a:effectLst>
        </p:spPr>
      </p:sp>
      <p:sp>
        <p:nvSpPr>
          <p:cNvPr id="33" name="Text 31"/>
          <p:cNvSpPr/>
          <p:nvPr/>
        </p:nvSpPr>
        <p:spPr>
          <a:xfrm>
            <a:off x="8292389" y="1481328"/>
            <a:ext cx="3112922" cy="274320"/>
          </a:xfrm>
          <a:prstGeom prst="rect">
            <a:avLst/>
          </a:prstGeom>
          <a:noFill/>
          <a:ln/>
        </p:spPr>
        <p:txBody>
          <a:bodyPr wrap="square" lIns="0" tIns="0" rIns="0" bIns="0" rtlCol="0" anchor="ctr"/>
          <a:lstStyle/>
          <a:p>
            <a:pPr indent="0" marL="0">
              <a:buNone/>
            </a:pPr>
            <a:r>
              <a:rPr lang="en-US" sz="1200" b="1" spc="160" kern="0" dirty="0">
                <a:solidFill>
                  <a:srgbClr val="F87171"/>
                </a:solidFill>
                <a:latin typeface="Calibri" pitchFamily="34" charset="0"/>
                <a:ea typeface="Calibri" pitchFamily="34" charset="-122"/>
                <a:cs typeface="Calibri" pitchFamily="34" charset="-120"/>
              </a:rPr>
              <a:t>PESSIMISTIC</a:t>
            </a:r>
            <a:endParaRPr lang="en-US" sz="1200" dirty="0"/>
          </a:p>
        </p:txBody>
      </p:sp>
      <p:sp>
        <p:nvSpPr>
          <p:cNvPr id="34" name="Text 32"/>
          <p:cNvSpPr/>
          <p:nvPr/>
        </p:nvSpPr>
        <p:spPr>
          <a:xfrm>
            <a:off x="8292389" y="1737360"/>
            <a:ext cx="3112922" cy="237744"/>
          </a:xfrm>
          <a:prstGeom prst="rect">
            <a:avLst/>
          </a:prstGeom>
          <a:noFill/>
          <a:ln/>
        </p:spPr>
        <p:txBody>
          <a:bodyPr wrap="square" lIns="0" tIns="0" rIns="0" bIns="0" rtlCol="0" anchor="ctr"/>
          <a:lstStyle/>
          <a:p>
            <a:pPr indent="0" marL="0">
              <a:buNone/>
            </a:pPr>
            <a:r>
              <a:rPr lang="en-US" sz="1050" dirty="0">
                <a:solidFill>
                  <a:srgbClr val="94A3B8"/>
                </a:solidFill>
                <a:latin typeface="Calibri" pitchFamily="34" charset="0"/>
                <a:ea typeface="Calibri" pitchFamily="34" charset="-122"/>
                <a:cs typeface="Calibri" pitchFamily="34" charset="-120"/>
              </a:rPr>
              <a:t>25% weight</a:t>
            </a:r>
            <a:endParaRPr lang="en-US" sz="1050" dirty="0"/>
          </a:p>
        </p:txBody>
      </p:sp>
      <p:sp>
        <p:nvSpPr>
          <p:cNvPr id="35" name="Text 33"/>
          <p:cNvSpPr/>
          <p:nvPr/>
        </p:nvSpPr>
        <p:spPr>
          <a:xfrm>
            <a:off x="8292389" y="2066544"/>
            <a:ext cx="3112922" cy="566928"/>
          </a:xfrm>
          <a:prstGeom prst="rect">
            <a:avLst/>
          </a:prstGeom>
          <a:noFill/>
          <a:ln/>
        </p:spPr>
        <p:txBody>
          <a:bodyPr wrap="square" lIns="0" tIns="0" rIns="0" bIns="0" rtlCol="0" anchor="ctr"/>
          <a:lstStyle/>
          <a:p>
            <a:pPr indent="0" marL="0">
              <a:buNone/>
            </a:pPr>
            <a:r>
              <a:rPr lang="en-US" sz="2700" b="1" dirty="0">
                <a:solidFill>
                  <a:srgbClr val="F87171"/>
                </a:solidFill>
                <a:latin typeface="Cambria" pitchFamily="34" charset="0"/>
                <a:ea typeface="Cambria" pitchFamily="34" charset="-122"/>
                <a:cs typeface="Cambria" pitchFamily="34" charset="-120"/>
              </a:rPr>
              <a:t>(AED 4.94M)</a:t>
            </a:r>
            <a:endParaRPr lang="en-US" sz="2700" dirty="0"/>
          </a:p>
        </p:txBody>
      </p:sp>
      <p:sp>
        <p:nvSpPr>
          <p:cNvPr id="36" name="Text 34"/>
          <p:cNvSpPr/>
          <p:nvPr/>
        </p:nvSpPr>
        <p:spPr>
          <a:xfrm>
            <a:off x="8292389" y="2761488"/>
            <a:ext cx="1371600" cy="274320"/>
          </a:xfrm>
          <a:prstGeom prst="rect">
            <a:avLst/>
          </a:prstGeom>
          <a:noFill/>
          <a:ln/>
        </p:spPr>
        <p:txBody>
          <a:bodyPr wrap="square" lIns="0" tIns="0" rIns="0" bIns="0" rtlCol="0" anchor="ctr"/>
          <a:lstStyle/>
          <a:p>
            <a:pPr indent="0" marL="0">
              <a:buNone/>
            </a:pPr>
            <a:r>
              <a:rPr lang="en-US" sz="1100" dirty="0">
                <a:solidFill>
                  <a:srgbClr val="94A3B8"/>
                </a:solidFill>
                <a:latin typeface="Calibri" pitchFamily="34" charset="0"/>
                <a:ea typeface="Calibri" pitchFamily="34" charset="-122"/>
                <a:cs typeface="Calibri" pitchFamily="34" charset="-120"/>
              </a:rPr>
              <a:t>IRR</a:t>
            </a:r>
            <a:endParaRPr lang="en-US" sz="1100" dirty="0"/>
          </a:p>
        </p:txBody>
      </p:sp>
      <p:sp>
        <p:nvSpPr>
          <p:cNvPr id="37" name="Text 35"/>
          <p:cNvSpPr/>
          <p:nvPr/>
        </p:nvSpPr>
        <p:spPr>
          <a:xfrm>
            <a:off x="9850831" y="2761488"/>
            <a:ext cx="1554480" cy="274320"/>
          </a:xfrm>
          <a:prstGeom prst="rect">
            <a:avLst/>
          </a:prstGeom>
          <a:noFill/>
          <a:ln/>
        </p:spPr>
        <p:txBody>
          <a:bodyPr wrap="square" lIns="0" tIns="0" rIns="0" bIns="0" rtlCol="0" anchor="ctr"/>
          <a:lstStyle/>
          <a:p>
            <a:pPr algn="r" indent="0" marL="0">
              <a:buNone/>
            </a:pPr>
            <a:r>
              <a:rPr lang="en-US" sz="1150" b="1" dirty="0">
                <a:solidFill>
                  <a:srgbClr val="F8FAFC"/>
                </a:solidFill>
                <a:latin typeface="Calibri" pitchFamily="34" charset="0"/>
                <a:ea typeface="Calibri" pitchFamily="34" charset="-122"/>
                <a:cs typeface="Calibri" pitchFamily="34" charset="-120"/>
              </a:rPr>
              <a:t>8.23%</a:t>
            </a:r>
            <a:endParaRPr lang="en-US" sz="1150" dirty="0"/>
          </a:p>
        </p:txBody>
      </p:sp>
      <p:sp>
        <p:nvSpPr>
          <p:cNvPr id="38" name="Text 36"/>
          <p:cNvSpPr/>
          <p:nvPr/>
        </p:nvSpPr>
        <p:spPr>
          <a:xfrm>
            <a:off x="8292389" y="3072384"/>
            <a:ext cx="1371600" cy="274320"/>
          </a:xfrm>
          <a:prstGeom prst="rect">
            <a:avLst/>
          </a:prstGeom>
          <a:noFill/>
          <a:ln/>
        </p:spPr>
        <p:txBody>
          <a:bodyPr wrap="square" lIns="0" tIns="0" rIns="0" bIns="0" rtlCol="0" anchor="ctr"/>
          <a:lstStyle/>
          <a:p>
            <a:pPr indent="0" marL="0">
              <a:buNone/>
            </a:pPr>
            <a:r>
              <a:rPr lang="en-US" sz="1100" dirty="0">
                <a:solidFill>
                  <a:srgbClr val="94A3B8"/>
                </a:solidFill>
                <a:latin typeface="Calibri" pitchFamily="34" charset="0"/>
                <a:ea typeface="Calibri" pitchFamily="34" charset="-122"/>
                <a:cs typeface="Calibri" pitchFamily="34" charset="-120"/>
              </a:rPr>
              <a:t>PI</a:t>
            </a:r>
            <a:endParaRPr lang="en-US" sz="1100" dirty="0"/>
          </a:p>
        </p:txBody>
      </p:sp>
      <p:sp>
        <p:nvSpPr>
          <p:cNvPr id="39" name="Text 37"/>
          <p:cNvSpPr/>
          <p:nvPr/>
        </p:nvSpPr>
        <p:spPr>
          <a:xfrm>
            <a:off x="9850831" y="3072384"/>
            <a:ext cx="1554480" cy="274320"/>
          </a:xfrm>
          <a:prstGeom prst="rect">
            <a:avLst/>
          </a:prstGeom>
          <a:noFill/>
          <a:ln/>
        </p:spPr>
        <p:txBody>
          <a:bodyPr wrap="square" lIns="0" tIns="0" rIns="0" bIns="0" rtlCol="0" anchor="ctr"/>
          <a:lstStyle/>
          <a:p>
            <a:pPr algn="r" indent="0" marL="0">
              <a:buNone/>
            </a:pPr>
            <a:r>
              <a:rPr lang="en-US" sz="1150" b="1" dirty="0">
                <a:solidFill>
                  <a:srgbClr val="F8FAFC"/>
                </a:solidFill>
                <a:latin typeface="Calibri" pitchFamily="34" charset="0"/>
                <a:ea typeface="Calibri" pitchFamily="34" charset="-122"/>
                <a:cs typeface="Calibri" pitchFamily="34" charset="-120"/>
              </a:rPr>
              <a:t>0.819x</a:t>
            </a:r>
            <a:endParaRPr lang="en-US" sz="1150" dirty="0"/>
          </a:p>
        </p:txBody>
      </p:sp>
      <p:sp>
        <p:nvSpPr>
          <p:cNvPr id="40" name="Text 38"/>
          <p:cNvSpPr/>
          <p:nvPr/>
        </p:nvSpPr>
        <p:spPr>
          <a:xfrm>
            <a:off x="8292389" y="3383280"/>
            <a:ext cx="1371600" cy="274320"/>
          </a:xfrm>
          <a:prstGeom prst="rect">
            <a:avLst/>
          </a:prstGeom>
          <a:noFill/>
          <a:ln/>
        </p:spPr>
        <p:txBody>
          <a:bodyPr wrap="square" lIns="0" tIns="0" rIns="0" bIns="0" rtlCol="0" anchor="ctr"/>
          <a:lstStyle/>
          <a:p>
            <a:pPr indent="0" marL="0">
              <a:buNone/>
            </a:pPr>
            <a:r>
              <a:rPr lang="en-US" sz="1100" dirty="0">
                <a:solidFill>
                  <a:srgbClr val="94A3B8"/>
                </a:solidFill>
                <a:latin typeface="Calibri" pitchFamily="34" charset="0"/>
                <a:ea typeface="Calibri" pitchFamily="34" charset="-122"/>
                <a:cs typeface="Calibri" pitchFamily="34" charset="-120"/>
              </a:rPr>
              <a:t>Payback</a:t>
            </a:r>
            <a:endParaRPr lang="en-US" sz="1100" dirty="0"/>
          </a:p>
        </p:txBody>
      </p:sp>
      <p:sp>
        <p:nvSpPr>
          <p:cNvPr id="41" name="Text 39"/>
          <p:cNvSpPr/>
          <p:nvPr/>
        </p:nvSpPr>
        <p:spPr>
          <a:xfrm>
            <a:off x="9850831" y="3383280"/>
            <a:ext cx="1554480" cy="274320"/>
          </a:xfrm>
          <a:prstGeom prst="rect">
            <a:avLst/>
          </a:prstGeom>
          <a:noFill/>
          <a:ln/>
        </p:spPr>
        <p:txBody>
          <a:bodyPr wrap="square" lIns="0" tIns="0" rIns="0" bIns="0" rtlCol="0" anchor="ctr"/>
          <a:lstStyle/>
          <a:p>
            <a:pPr algn="r" indent="0" marL="0">
              <a:buNone/>
            </a:pPr>
            <a:r>
              <a:rPr lang="en-US" sz="1150" b="1" dirty="0">
                <a:solidFill>
                  <a:srgbClr val="F8FAFC"/>
                </a:solidFill>
                <a:latin typeface="Calibri" pitchFamily="34" charset="0"/>
                <a:ea typeface="Calibri" pitchFamily="34" charset="-122"/>
                <a:cs typeface="Calibri" pitchFamily="34" charset="-120"/>
              </a:rPr>
              <a:t>5.06 yrs</a:t>
            </a:r>
            <a:endParaRPr lang="en-US" sz="1150" dirty="0"/>
          </a:p>
        </p:txBody>
      </p:sp>
      <p:sp>
        <p:nvSpPr>
          <p:cNvPr id="42" name="Text 40"/>
          <p:cNvSpPr/>
          <p:nvPr/>
        </p:nvSpPr>
        <p:spPr>
          <a:xfrm>
            <a:off x="8292389" y="3730752"/>
            <a:ext cx="3112922" cy="420624"/>
          </a:xfrm>
          <a:prstGeom prst="rect">
            <a:avLst/>
          </a:prstGeom>
          <a:noFill/>
          <a:ln/>
        </p:spPr>
        <p:txBody>
          <a:bodyPr wrap="square" lIns="0" tIns="0" rIns="0" bIns="0" rtlCol="0" anchor="ctr"/>
          <a:lstStyle/>
          <a:p>
            <a:pPr indent="0" marL="0">
              <a:buNone/>
            </a:pPr>
            <a:r>
              <a:rPr lang="en-US" sz="1000" dirty="0">
                <a:solidFill>
                  <a:srgbClr val="94A3B8"/>
                </a:solidFill>
                <a:latin typeface="Calibri" pitchFamily="34" charset="0"/>
                <a:ea typeface="Calibri" pitchFamily="34" charset="-122"/>
                <a:cs typeface="Calibri" pitchFamily="34" charset="-120"/>
              </a:rPr>
              <a:t>CapEx ×1.15 · benefits ×0.75 · WACC 14.5%</a:t>
            </a:r>
            <a:endParaRPr lang="en-US" sz="1000" dirty="0"/>
          </a:p>
        </p:txBody>
      </p:sp>
      <p:sp>
        <p:nvSpPr>
          <p:cNvPr id="43" name="Shape 41"/>
          <p:cNvSpPr/>
          <p:nvPr/>
        </p:nvSpPr>
        <p:spPr>
          <a:xfrm>
            <a:off x="8292389" y="4169664"/>
            <a:ext cx="3112922" cy="365760"/>
          </a:xfrm>
          <a:prstGeom prst="roundRect">
            <a:avLst>
              <a:gd name="adj" fmla="val 22500"/>
            </a:avLst>
          </a:prstGeom>
          <a:solidFill>
            <a:srgbClr val="3B1218"/>
          </a:solidFill>
          <a:ln w="12700">
            <a:solidFill>
              <a:srgbClr val="F87171"/>
            </a:solidFill>
            <a:prstDash val="solid"/>
          </a:ln>
        </p:spPr>
      </p:sp>
      <p:sp>
        <p:nvSpPr>
          <p:cNvPr id="44" name="Text 42"/>
          <p:cNvSpPr/>
          <p:nvPr/>
        </p:nvSpPr>
        <p:spPr>
          <a:xfrm>
            <a:off x="8292389" y="4169664"/>
            <a:ext cx="3112922" cy="365760"/>
          </a:xfrm>
          <a:prstGeom prst="rect">
            <a:avLst/>
          </a:prstGeom>
          <a:noFill/>
          <a:ln/>
        </p:spPr>
        <p:txBody>
          <a:bodyPr wrap="square" lIns="0" tIns="0" rIns="0" bIns="0" rtlCol="0" anchor="ctr"/>
          <a:lstStyle/>
          <a:p>
            <a:pPr algn="ctr" indent="0" marL="0">
              <a:buNone/>
            </a:pPr>
            <a:r>
              <a:rPr lang="en-US" sz="1150" b="1" dirty="0">
                <a:solidFill>
                  <a:srgbClr val="F87171"/>
                </a:solidFill>
                <a:latin typeface="Calibri" pitchFamily="34" charset="0"/>
                <a:ea typeface="Calibri" pitchFamily="34" charset="-122"/>
                <a:cs typeface="Calibri" pitchFamily="34" charset="-120"/>
              </a:rPr>
              <a:t>REJECT</a:t>
            </a:r>
            <a:endParaRPr lang="en-US" sz="1150" dirty="0"/>
          </a:p>
        </p:txBody>
      </p:sp>
      <p:sp>
        <p:nvSpPr>
          <p:cNvPr id="45" name="Shape 43"/>
          <p:cNvSpPr/>
          <p:nvPr/>
        </p:nvSpPr>
        <p:spPr>
          <a:xfrm>
            <a:off x="566928" y="4828032"/>
            <a:ext cx="11057839" cy="786384"/>
          </a:xfrm>
          <a:prstGeom prst="roundRect">
            <a:avLst>
              <a:gd name="adj" fmla="val 11628"/>
            </a:avLst>
          </a:prstGeom>
          <a:solidFill>
            <a:srgbClr val="13314E"/>
          </a:solidFill>
          <a:ln w="12700">
            <a:solidFill>
              <a:srgbClr val="1E4463"/>
            </a:solidFill>
            <a:prstDash val="solid"/>
          </a:ln>
          <a:effectLst>
            <a:outerShdw sx="100000" sy="100000" kx="0" ky="0" algn="bl" rotWithShape="0" blurRad="177800" dist="38100" dir="5400000">
              <a:srgbClr val="000000">
                <a:alpha val="35000"/>
              </a:srgbClr>
            </a:outerShdw>
          </a:effectLst>
        </p:spPr>
      </p:sp>
      <p:sp>
        <p:nvSpPr>
          <p:cNvPr id="46" name="Text 44"/>
          <p:cNvSpPr/>
          <p:nvPr/>
        </p:nvSpPr>
        <p:spPr>
          <a:xfrm>
            <a:off x="841248" y="4956048"/>
            <a:ext cx="10509199" cy="530352"/>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Probability-weighted expected NPV at 50/25/25:  </a:t>
            </a:r>
            <a:pPr indent="0" marL="0">
              <a:buNone/>
            </a:pPr>
            <a:r>
              <a:rPr lang="en-US" sz="1200" b="1" dirty="0">
                <a:solidFill>
                  <a:srgbClr val="34D399"/>
                </a:solidFill>
                <a:latin typeface="Calibri" pitchFamily="34" charset="0"/>
                <a:ea typeface="Calibri" pitchFamily="34" charset="-122"/>
                <a:cs typeface="Calibri" pitchFamily="34" charset="-120"/>
              </a:rPr>
              <a:t>AED 9,560,152</a:t>
            </a:r>
            <a:pPr indent="0" marL="0">
              <a:buNone/>
            </a:pPr>
            <a:r>
              <a:rPr lang="en-US" sz="1200" dirty="0">
                <a:solidFill>
                  <a:srgbClr val="CADCFC"/>
                </a:solidFill>
                <a:latin typeface="Calibri" pitchFamily="34" charset="0"/>
                <a:ea typeface="Calibri" pitchFamily="34" charset="-122"/>
                <a:cs typeface="Calibri" pitchFamily="34" charset="-120"/>
              </a:rPr>
              <a:t>   —   the pessimistic case is not a mild downside. It stacks a 25% benefit shortfall, a 15% cost overrun and a 300 basis-point rate rise at once, and the engine returns a hard Reject.</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1A2E"/>
        </a:solidFill>
      </p:bgPr>
    </p:bg>
    <p:spTree>
      <p:nvGrpSpPr>
        <p:cNvPr id="1" name=""/>
        <p:cNvGrpSpPr/>
        <p:nvPr/>
      </p:nvGrpSpPr>
      <p:grpSpPr>
        <a:xfrm>
          <a:off x="0" y="0"/>
          <a:ext cx="0" cy="0"/>
          <a:chOff x="0" y="0"/>
          <a:chExt cx="0" cy="0"/>
        </a:xfrm>
      </p:grpSpPr>
      <p:sp>
        <p:nvSpPr>
          <p:cNvPr id="2" name="Text 0"/>
          <p:cNvSpPr/>
          <p:nvPr/>
        </p:nvSpPr>
        <p:spPr>
          <a:xfrm>
            <a:off x="566928" y="310896"/>
            <a:ext cx="8680399" cy="237744"/>
          </a:xfrm>
          <a:prstGeom prst="rect">
            <a:avLst/>
          </a:prstGeom>
          <a:noFill/>
          <a:ln/>
        </p:spPr>
        <p:txBody>
          <a:bodyPr wrap="square" lIns="0" tIns="0" rIns="0" bIns="0" rtlCol="0" anchor="ctr"/>
          <a:lstStyle/>
          <a:p>
            <a:pPr indent="0" marL="0">
              <a:buNone/>
            </a:pPr>
            <a:r>
              <a:rPr lang="en-US" sz="1100" b="1" spc="200" kern="0" dirty="0">
                <a:solidFill>
                  <a:srgbClr val="22D3EE"/>
                </a:solidFill>
                <a:latin typeface="Calibri" pitchFamily="34" charset="0"/>
                <a:ea typeface="Calibri" pitchFamily="34" charset="-122"/>
                <a:cs typeface="Calibri" pitchFamily="34" charset="-120"/>
              </a:rPr>
              <a:t>SENSITIVITY</a:t>
            </a:r>
            <a:endParaRPr lang="en-US" sz="1100" dirty="0"/>
          </a:p>
        </p:txBody>
      </p:sp>
      <p:sp>
        <p:nvSpPr>
          <p:cNvPr id="3" name="Text 1"/>
          <p:cNvSpPr/>
          <p:nvPr/>
        </p:nvSpPr>
        <p:spPr>
          <a:xfrm>
            <a:off x="566928" y="548640"/>
            <a:ext cx="8680399" cy="566928"/>
          </a:xfrm>
          <a:prstGeom prst="rect">
            <a:avLst/>
          </a:prstGeom>
          <a:noFill/>
          <a:ln/>
        </p:spPr>
        <p:txBody>
          <a:bodyPr wrap="square" lIns="0" tIns="0" rIns="0" bIns="0" rtlCol="0" anchor="ctr"/>
          <a:lstStyle/>
          <a:p>
            <a:pPr indent="0" marL="0">
              <a:buNone/>
            </a:pPr>
            <a:r>
              <a:rPr lang="en-US" sz="3000" b="1" dirty="0">
                <a:solidFill>
                  <a:srgbClr val="F8FAFC"/>
                </a:solidFill>
                <a:latin typeface="Cambria" pitchFamily="34" charset="0"/>
                <a:ea typeface="Cambria" pitchFamily="34" charset="-122"/>
                <a:cs typeface="Cambria" pitchFamily="34" charset="-120"/>
              </a:rPr>
              <a:t>One variable dominates everything else</a:t>
            </a:r>
            <a:endParaRPr lang="en-US" sz="3000" dirty="0"/>
          </a:p>
        </p:txBody>
      </p:sp>
      <p:graphicFrame>
        <p:nvGraphicFramePr>
          <p:cNvPr id="4" name="Chart 0" descr=""/>
          <p:cNvGraphicFramePr/>
          <p:nvPr/>
        </p:nvGraphicFramePr>
        <p:xfrm>
          <a:off x="566928" y="1261872"/>
          <a:ext cx="6812280" cy="4498848"/>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571232" y="1261872"/>
            <a:ext cx="4053535" cy="2139696"/>
          </a:xfrm>
          <a:prstGeom prst="roundRect">
            <a:avLst>
              <a:gd name="adj" fmla="val 4274"/>
            </a:avLst>
          </a:prstGeom>
          <a:solidFill>
            <a:srgbClr val="0F2740"/>
          </a:solidFill>
          <a:ln w="12700">
            <a:solidFill>
              <a:srgbClr val="1E4463"/>
            </a:solidFill>
            <a:prstDash val="solid"/>
          </a:ln>
          <a:effectLst>
            <a:outerShdw sx="100000" sy="100000" kx="0" ky="0" algn="bl" rotWithShape="0" blurRad="177800" dist="38100" dir="5400000">
              <a:srgbClr val="000000">
                <a:alpha val="35000"/>
              </a:srgbClr>
            </a:outerShdw>
          </a:effectLst>
        </p:spPr>
      </p:sp>
      <p:sp>
        <p:nvSpPr>
          <p:cNvPr id="6" name="Text 3"/>
          <p:cNvSpPr/>
          <p:nvPr/>
        </p:nvSpPr>
        <p:spPr>
          <a:xfrm>
            <a:off x="7808976" y="1463040"/>
            <a:ext cx="3657600" cy="292608"/>
          </a:xfrm>
          <a:prstGeom prst="rect">
            <a:avLst/>
          </a:prstGeom>
          <a:noFill/>
          <a:ln/>
        </p:spPr>
        <p:txBody>
          <a:bodyPr wrap="square" lIns="0" tIns="0" rIns="0" bIns="0" rtlCol="0" anchor="ctr"/>
          <a:lstStyle/>
          <a:p>
            <a:pPr indent="0" marL="0">
              <a:buNone/>
            </a:pPr>
            <a:r>
              <a:rPr lang="en-US" sz="1350" b="1" dirty="0">
                <a:solidFill>
                  <a:srgbClr val="22D3EE"/>
                </a:solidFill>
                <a:latin typeface="Calibri" pitchFamily="34" charset="0"/>
                <a:ea typeface="Calibri" pitchFamily="34" charset="-122"/>
                <a:cs typeface="Calibri" pitchFamily="34" charset="-120"/>
              </a:rPr>
              <a:t>Where the decision flips</a:t>
            </a:r>
            <a:endParaRPr lang="en-US" sz="1350" dirty="0"/>
          </a:p>
        </p:txBody>
      </p:sp>
      <p:sp>
        <p:nvSpPr>
          <p:cNvPr id="7" name="Text 4"/>
          <p:cNvSpPr/>
          <p:nvPr/>
        </p:nvSpPr>
        <p:spPr>
          <a:xfrm>
            <a:off x="7808976" y="1901952"/>
            <a:ext cx="2560320" cy="329184"/>
          </a:xfrm>
          <a:prstGeom prst="rect">
            <a:avLst/>
          </a:prstGeom>
          <a:noFill/>
          <a:ln/>
        </p:spPr>
        <p:txBody>
          <a:bodyPr wrap="square" lIns="0" tIns="0" rIns="0" bIns="0" rtlCol="0" anchor="ctr"/>
          <a:lstStyle/>
          <a:p>
            <a:pPr indent="0" marL="0">
              <a:buNone/>
            </a:pPr>
            <a:r>
              <a:rPr lang="en-US" sz="1150" dirty="0">
                <a:solidFill>
                  <a:srgbClr val="CADCFC"/>
                </a:solidFill>
                <a:latin typeface="Calibri" pitchFamily="34" charset="0"/>
                <a:ea typeface="Calibri" pitchFamily="34" charset="-122"/>
                <a:cs typeface="Calibri" pitchFamily="34" charset="-120"/>
              </a:rPr>
              <a:t>Benefits fall more than</a:t>
            </a:r>
            <a:endParaRPr lang="en-US" sz="1150" dirty="0"/>
          </a:p>
        </p:txBody>
      </p:sp>
      <p:sp>
        <p:nvSpPr>
          <p:cNvPr id="8" name="Text 5"/>
          <p:cNvSpPr/>
          <p:nvPr/>
        </p:nvSpPr>
        <p:spPr>
          <a:xfrm>
            <a:off x="10351008" y="1901952"/>
            <a:ext cx="1078992" cy="329184"/>
          </a:xfrm>
          <a:prstGeom prst="rect">
            <a:avLst/>
          </a:prstGeom>
          <a:noFill/>
          <a:ln/>
        </p:spPr>
        <p:txBody>
          <a:bodyPr wrap="square" lIns="0" tIns="0" rIns="0" bIns="0" rtlCol="0" anchor="ctr"/>
          <a:lstStyle/>
          <a:p>
            <a:pPr algn="r" indent="0" marL="0">
              <a:buNone/>
            </a:pPr>
            <a:r>
              <a:rPr lang="en-US" sz="1500" b="1" dirty="0">
                <a:solidFill>
                  <a:srgbClr val="FBBF24"/>
                </a:solidFill>
                <a:latin typeface="Cambria" pitchFamily="34" charset="0"/>
                <a:ea typeface="Cambria" pitchFamily="34" charset="-122"/>
                <a:cs typeface="Cambria" pitchFamily="34" charset="-120"/>
              </a:rPr>
              <a:t>29.0%</a:t>
            </a:r>
            <a:endParaRPr lang="en-US" sz="1500" dirty="0"/>
          </a:p>
        </p:txBody>
      </p:sp>
      <p:sp>
        <p:nvSpPr>
          <p:cNvPr id="9" name="Text 6"/>
          <p:cNvSpPr/>
          <p:nvPr/>
        </p:nvSpPr>
        <p:spPr>
          <a:xfrm>
            <a:off x="7808976" y="2304288"/>
            <a:ext cx="2560320" cy="329184"/>
          </a:xfrm>
          <a:prstGeom prst="rect">
            <a:avLst/>
          </a:prstGeom>
          <a:noFill/>
          <a:ln/>
        </p:spPr>
        <p:txBody>
          <a:bodyPr wrap="square" lIns="0" tIns="0" rIns="0" bIns="0" rtlCol="0" anchor="ctr"/>
          <a:lstStyle/>
          <a:p>
            <a:pPr indent="0" marL="0">
              <a:buNone/>
            </a:pPr>
            <a:r>
              <a:rPr lang="en-US" sz="1150" dirty="0">
                <a:solidFill>
                  <a:srgbClr val="CADCFC"/>
                </a:solidFill>
                <a:latin typeface="Calibri" pitchFamily="34" charset="0"/>
                <a:ea typeface="Calibri" pitchFamily="34" charset="-122"/>
                <a:cs typeface="Calibri" pitchFamily="34" charset="-120"/>
              </a:rPr>
              <a:t>Total outlay rises above</a:t>
            </a:r>
            <a:endParaRPr lang="en-US" sz="1150" dirty="0"/>
          </a:p>
        </p:txBody>
      </p:sp>
      <p:sp>
        <p:nvSpPr>
          <p:cNvPr id="10" name="Text 7"/>
          <p:cNvSpPr/>
          <p:nvPr/>
        </p:nvSpPr>
        <p:spPr>
          <a:xfrm>
            <a:off x="10351008" y="2304288"/>
            <a:ext cx="1078992" cy="329184"/>
          </a:xfrm>
          <a:prstGeom prst="rect">
            <a:avLst/>
          </a:prstGeom>
          <a:noFill/>
          <a:ln/>
        </p:spPr>
        <p:txBody>
          <a:bodyPr wrap="square" lIns="0" tIns="0" rIns="0" bIns="0" rtlCol="0" anchor="ctr"/>
          <a:lstStyle/>
          <a:p>
            <a:pPr algn="r" indent="0" marL="0">
              <a:buNone/>
            </a:pPr>
            <a:r>
              <a:rPr lang="en-US" sz="1500" b="1" dirty="0">
                <a:solidFill>
                  <a:srgbClr val="FBBF24"/>
                </a:solidFill>
                <a:latin typeface="Cambria" pitchFamily="34" charset="0"/>
                <a:ea typeface="Cambria" pitchFamily="34" charset="-122"/>
                <a:cs typeface="Cambria" pitchFamily="34" charset="-120"/>
              </a:rPr>
              <a:t>50.4%</a:t>
            </a:r>
            <a:endParaRPr lang="en-US" sz="1500" dirty="0"/>
          </a:p>
        </p:txBody>
      </p:sp>
      <p:sp>
        <p:nvSpPr>
          <p:cNvPr id="11" name="Text 8"/>
          <p:cNvSpPr/>
          <p:nvPr/>
        </p:nvSpPr>
        <p:spPr>
          <a:xfrm>
            <a:off x="7808976" y="2706624"/>
            <a:ext cx="2560320" cy="329184"/>
          </a:xfrm>
          <a:prstGeom prst="rect">
            <a:avLst/>
          </a:prstGeom>
          <a:noFill/>
          <a:ln/>
        </p:spPr>
        <p:txBody>
          <a:bodyPr wrap="square" lIns="0" tIns="0" rIns="0" bIns="0" rtlCol="0" anchor="ctr"/>
          <a:lstStyle/>
          <a:p>
            <a:pPr indent="0" marL="0">
              <a:buNone/>
            </a:pPr>
            <a:r>
              <a:rPr lang="en-US" sz="1150" dirty="0">
                <a:solidFill>
                  <a:srgbClr val="CADCFC"/>
                </a:solidFill>
                <a:latin typeface="Calibri" pitchFamily="34" charset="0"/>
                <a:ea typeface="Calibri" pitchFamily="34" charset="-122"/>
                <a:cs typeface="Calibri" pitchFamily="34" charset="-120"/>
              </a:rPr>
              <a:t>Discount rate exceeds</a:t>
            </a:r>
            <a:endParaRPr lang="en-US" sz="1150" dirty="0"/>
          </a:p>
        </p:txBody>
      </p:sp>
      <p:sp>
        <p:nvSpPr>
          <p:cNvPr id="12" name="Text 9"/>
          <p:cNvSpPr/>
          <p:nvPr/>
        </p:nvSpPr>
        <p:spPr>
          <a:xfrm>
            <a:off x="10351008" y="2706624"/>
            <a:ext cx="1078992" cy="329184"/>
          </a:xfrm>
          <a:prstGeom prst="rect">
            <a:avLst/>
          </a:prstGeom>
          <a:noFill/>
          <a:ln/>
        </p:spPr>
        <p:txBody>
          <a:bodyPr wrap="square" lIns="0" tIns="0" rIns="0" bIns="0" rtlCol="0" anchor="ctr"/>
          <a:lstStyle/>
          <a:p>
            <a:pPr algn="r" indent="0" marL="0">
              <a:buNone/>
            </a:pPr>
            <a:r>
              <a:rPr lang="en-US" sz="1500" b="1" dirty="0">
                <a:solidFill>
                  <a:srgbClr val="FBBF24"/>
                </a:solidFill>
                <a:latin typeface="Cambria" pitchFamily="34" charset="0"/>
                <a:ea typeface="Cambria" pitchFamily="34" charset="-122"/>
                <a:cs typeface="Cambria" pitchFamily="34" charset="-120"/>
              </a:rPr>
              <a:t>26.30%</a:t>
            </a:r>
            <a:endParaRPr lang="en-US" sz="1500" dirty="0"/>
          </a:p>
        </p:txBody>
      </p:sp>
      <p:sp>
        <p:nvSpPr>
          <p:cNvPr id="13" name="Shape 10"/>
          <p:cNvSpPr/>
          <p:nvPr/>
        </p:nvSpPr>
        <p:spPr>
          <a:xfrm>
            <a:off x="7571232" y="3602736"/>
            <a:ext cx="4053535" cy="2157984"/>
          </a:xfrm>
          <a:prstGeom prst="roundRect">
            <a:avLst>
              <a:gd name="adj" fmla="val 4237"/>
            </a:avLst>
          </a:prstGeom>
          <a:solidFill>
            <a:srgbClr val="13314E"/>
          </a:solidFill>
          <a:ln w="12700">
            <a:solidFill>
              <a:srgbClr val="1E4463"/>
            </a:solidFill>
            <a:prstDash val="solid"/>
          </a:ln>
          <a:effectLst>
            <a:outerShdw sx="100000" sy="100000" kx="0" ky="0" algn="bl" rotWithShape="0" blurRad="177800" dist="38100" dir="5400000">
              <a:srgbClr val="000000">
                <a:alpha val="35000"/>
              </a:srgbClr>
            </a:outerShdw>
          </a:effectLst>
        </p:spPr>
      </p:sp>
      <p:sp>
        <p:nvSpPr>
          <p:cNvPr id="14" name="Shape 11"/>
          <p:cNvSpPr/>
          <p:nvPr/>
        </p:nvSpPr>
        <p:spPr>
          <a:xfrm>
            <a:off x="7808976" y="3822192"/>
            <a:ext cx="310896" cy="310896"/>
          </a:xfrm>
          <a:prstGeom prst="ellipse">
            <a:avLst/>
          </a:prstGeom>
          <a:solidFill>
            <a:srgbClr val="22D3EE"/>
          </a:solidFill>
          <a:ln w="12700">
            <a:solidFill>
              <a:srgbClr val="22D3EE"/>
            </a:solidFill>
            <a:prstDash val="solid"/>
          </a:ln>
        </p:spPr>
      </p:sp>
      <p:sp>
        <p:nvSpPr>
          <p:cNvPr id="15" name="Text 12"/>
          <p:cNvSpPr/>
          <p:nvPr/>
        </p:nvSpPr>
        <p:spPr>
          <a:xfrm>
            <a:off x="7808976" y="3822192"/>
            <a:ext cx="310896" cy="310896"/>
          </a:xfrm>
          <a:prstGeom prst="rect">
            <a:avLst/>
          </a:prstGeom>
          <a:noFill/>
          <a:ln/>
        </p:spPr>
        <p:txBody>
          <a:bodyPr wrap="square" lIns="0" tIns="0" rIns="0" bIns="0" rtlCol="0" anchor="ctr"/>
          <a:lstStyle/>
          <a:p>
            <a:pPr algn="ctr" indent="0" marL="0">
              <a:buNone/>
            </a:pPr>
            <a:r>
              <a:rPr lang="en-US" sz="1300" b="1" dirty="0">
                <a:solidFill>
                  <a:srgbClr val="0B1A2E"/>
                </a:solidFill>
                <a:latin typeface="Calibri" pitchFamily="34" charset="0"/>
                <a:ea typeface="Calibri" pitchFamily="34" charset="-122"/>
                <a:cs typeface="Calibri" pitchFamily="34" charset="-120"/>
              </a:rPr>
              <a:t>→</a:t>
            </a:r>
            <a:endParaRPr lang="en-US" sz="1300" dirty="0"/>
          </a:p>
        </p:txBody>
      </p:sp>
      <p:sp>
        <p:nvSpPr>
          <p:cNvPr id="16" name="Text 13"/>
          <p:cNvSpPr/>
          <p:nvPr/>
        </p:nvSpPr>
        <p:spPr>
          <a:xfrm>
            <a:off x="8247888" y="3803904"/>
            <a:ext cx="3108960" cy="292608"/>
          </a:xfrm>
          <a:prstGeom prst="rect">
            <a:avLst/>
          </a:prstGeom>
          <a:noFill/>
          <a:ln/>
        </p:spPr>
        <p:txBody>
          <a:bodyPr wrap="square" lIns="0" tIns="0" rIns="0" bIns="0" rtlCol="0" anchor="ctr"/>
          <a:lstStyle/>
          <a:p>
            <a:pPr indent="0" marL="0">
              <a:buNone/>
            </a:pPr>
            <a:r>
              <a:rPr lang="en-US" sz="1350" b="1" dirty="0">
                <a:solidFill>
                  <a:srgbClr val="F8FAFC"/>
                </a:solidFill>
                <a:latin typeface="Calibri" pitchFamily="34" charset="0"/>
                <a:ea typeface="Calibri" pitchFamily="34" charset="-122"/>
                <a:cs typeface="Calibri" pitchFamily="34" charset="-120"/>
              </a:rPr>
              <a:t>The management response</a:t>
            </a:r>
            <a:endParaRPr lang="en-US" sz="1350" dirty="0"/>
          </a:p>
        </p:txBody>
      </p:sp>
      <p:sp>
        <p:nvSpPr>
          <p:cNvPr id="17" name="Text 14"/>
          <p:cNvSpPr/>
          <p:nvPr/>
        </p:nvSpPr>
        <p:spPr>
          <a:xfrm>
            <a:off x="7808976" y="4206240"/>
            <a:ext cx="3621024" cy="1426464"/>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Operating benefits swing NPV by AED 16.67M — more than the project’s entire base-case value, and twice the next driver. The principal risk is benefit realisation, not capital cost. So gate capital on measured savings rather than negotiating harder on equipment price.</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1A2E"/>
        </a:solidFill>
      </p:bgPr>
    </p:bg>
    <p:spTree>
      <p:nvGrpSpPr>
        <p:cNvPr id="1" name=""/>
        <p:cNvGrpSpPr/>
        <p:nvPr/>
      </p:nvGrpSpPr>
      <p:grpSpPr>
        <a:xfrm>
          <a:off x="0" y="0"/>
          <a:ext cx="0" cy="0"/>
          <a:chOff x="0" y="0"/>
          <a:chExt cx="0" cy="0"/>
        </a:xfrm>
      </p:grpSpPr>
      <p:sp>
        <p:nvSpPr>
          <p:cNvPr id="2" name="Text 0"/>
          <p:cNvSpPr/>
          <p:nvPr/>
        </p:nvSpPr>
        <p:spPr>
          <a:xfrm>
            <a:off x="566928" y="310896"/>
            <a:ext cx="8680399" cy="237744"/>
          </a:xfrm>
          <a:prstGeom prst="rect">
            <a:avLst/>
          </a:prstGeom>
          <a:noFill/>
          <a:ln/>
        </p:spPr>
        <p:txBody>
          <a:bodyPr wrap="square" lIns="0" tIns="0" rIns="0" bIns="0" rtlCol="0" anchor="ctr"/>
          <a:lstStyle/>
          <a:p>
            <a:pPr indent="0" marL="0">
              <a:buNone/>
            </a:pPr>
            <a:r>
              <a:rPr lang="en-US" sz="1100" b="1" spc="200" kern="0" dirty="0">
                <a:solidFill>
                  <a:srgbClr val="22D3EE"/>
                </a:solidFill>
                <a:latin typeface="Calibri" pitchFamily="34" charset="0"/>
                <a:ea typeface="Calibri" pitchFamily="34" charset="-122"/>
                <a:cs typeface="Calibri" pitchFamily="34" charset="-120"/>
              </a:rPr>
              <a:t>RISK</a:t>
            </a:r>
            <a:endParaRPr lang="en-US" sz="1100" dirty="0"/>
          </a:p>
        </p:txBody>
      </p:sp>
      <p:sp>
        <p:nvSpPr>
          <p:cNvPr id="3" name="Text 1"/>
          <p:cNvSpPr/>
          <p:nvPr/>
        </p:nvSpPr>
        <p:spPr>
          <a:xfrm>
            <a:off x="566928" y="548640"/>
            <a:ext cx="8680399" cy="566928"/>
          </a:xfrm>
          <a:prstGeom prst="rect">
            <a:avLst/>
          </a:prstGeom>
          <a:noFill/>
          <a:ln/>
        </p:spPr>
        <p:txBody>
          <a:bodyPr wrap="square" lIns="0" tIns="0" rIns="0" bIns="0" rtlCol="0" anchor="ctr"/>
          <a:lstStyle/>
          <a:p>
            <a:pPr indent="0" marL="0">
              <a:buNone/>
            </a:pPr>
            <a:r>
              <a:rPr lang="en-US" sz="3000" b="1" dirty="0">
                <a:solidFill>
                  <a:srgbClr val="F8FAFC"/>
                </a:solidFill>
                <a:latin typeface="Cambria" pitchFamily="34" charset="0"/>
                <a:ea typeface="Cambria" pitchFamily="34" charset="-122"/>
                <a:cs typeface="Cambria" pitchFamily="34" charset="-120"/>
              </a:rPr>
              <a:t>Five thousand runs, and a rules engine that fires</a:t>
            </a:r>
            <a:endParaRPr lang="en-US" sz="3000" dirty="0"/>
          </a:p>
        </p:txBody>
      </p:sp>
      <p:graphicFrame>
        <p:nvGraphicFramePr>
          <p:cNvPr id="4" name="Chart 0" descr=""/>
          <p:cNvGraphicFramePr/>
          <p:nvPr/>
        </p:nvGraphicFramePr>
        <p:xfrm>
          <a:off x="566928" y="1261872"/>
          <a:ext cx="5760720" cy="3255264"/>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566928" y="4663440"/>
            <a:ext cx="1786128" cy="1133856"/>
          </a:xfrm>
          <a:prstGeom prst="roundRect">
            <a:avLst>
              <a:gd name="adj" fmla="val 8065"/>
            </a:avLst>
          </a:prstGeom>
          <a:solidFill>
            <a:srgbClr val="13314E"/>
          </a:solidFill>
          <a:ln w="12700">
            <a:solidFill>
              <a:srgbClr val="1E4463"/>
            </a:solidFill>
            <a:prstDash val="solid"/>
          </a:ln>
          <a:effectLst>
            <a:outerShdw sx="100000" sy="100000" kx="0" ky="0" algn="bl" rotWithShape="0" blurRad="177800" dist="38100" dir="5400000">
              <a:srgbClr val="000000">
                <a:alpha val="35000"/>
              </a:srgbClr>
            </a:outerShdw>
          </a:effectLst>
        </p:spPr>
      </p:sp>
      <p:sp>
        <p:nvSpPr>
          <p:cNvPr id="6" name="Text 3"/>
          <p:cNvSpPr/>
          <p:nvPr/>
        </p:nvSpPr>
        <p:spPr>
          <a:xfrm>
            <a:off x="585216" y="4791456"/>
            <a:ext cx="1749552" cy="566928"/>
          </a:xfrm>
          <a:prstGeom prst="rect">
            <a:avLst/>
          </a:prstGeom>
          <a:noFill/>
          <a:ln/>
        </p:spPr>
        <p:txBody>
          <a:bodyPr wrap="square" lIns="0" tIns="0" rIns="0" bIns="0" rtlCol="0" anchor="ctr"/>
          <a:lstStyle/>
          <a:p>
            <a:pPr algn="ctr" indent="0" marL="0">
              <a:buNone/>
            </a:pPr>
            <a:r>
              <a:rPr lang="en-US" sz="2700" b="1" dirty="0">
                <a:solidFill>
                  <a:srgbClr val="F8FAFC"/>
                </a:solidFill>
                <a:latin typeface="Cambria" pitchFamily="34" charset="0"/>
                <a:ea typeface="Cambria" pitchFamily="34" charset="-122"/>
                <a:cs typeface="Cambria" pitchFamily="34" charset="-120"/>
              </a:rPr>
              <a:t>AED 10.5M</a:t>
            </a:r>
            <a:endParaRPr lang="en-US" sz="2700" dirty="0"/>
          </a:p>
        </p:txBody>
      </p:sp>
      <p:sp>
        <p:nvSpPr>
          <p:cNvPr id="7" name="Text 4"/>
          <p:cNvSpPr/>
          <p:nvPr/>
        </p:nvSpPr>
        <p:spPr>
          <a:xfrm>
            <a:off x="585216" y="5376672"/>
            <a:ext cx="1749552" cy="310896"/>
          </a:xfrm>
          <a:prstGeom prst="rect">
            <a:avLst/>
          </a:prstGeom>
          <a:noFill/>
          <a:ln/>
        </p:spPr>
        <p:txBody>
          <a:bodyPr wrap="square" lIns="0" tIns="0" rIns="0" bIns="0" rtlCol="0" anchor="ctr"/>
          <a:lstStyle/>
          <a:p>
            <a:pPr algn="ctr" indent="0" marL="0">
              <a:buNone/>
            </a:pPr>
            <a:r>
              <a:rPr lang="en-US" sz="1050" dirty="0">
                <a:solidFill>
                  <a:srgbClr val="94A3B8"/>
                </a:solidFill>
                <a:latin typeface="Calibri" pitchFamily="34" charset="0"/>
                <a:ea typeface="Calibri" pitchFamily="34" charset="-122"/>
                <a:cs typeface="Calibri" pitchFamily="34" charset="-120"/>
              </a:rPr>
              <a:t>Mean NPV</a:t>
            </a:r>
            <a:endParaRPr lang="en-US" sz="1050" dirty="0"/>
          </a:p>
        </p:txBody>
      </p:sp>
      <p:sp>
        <p:nvSpPr>
          <p:cNvPr id="8" name="Shape 5"/>
          <p:cNvSpPr/>
          <p:nvPr/>
        </p:nvSpPr>
        <p:spPr>
          <a:xfrm>
            <a:off x="2554224" y="4663440"/>
            <a:ext cx="1786128" cy="1133856"/>
          </a:xfrm>
          <a:prstGeom prst="roundRect">
            <a:avLst>
              <a:gd name="adj" fmla="val 8065"/>
            </a:avLst>
          </a:prstGeom>
          <a:solidFill>
            <a:srgbClr val="13314E"/>
          </a:solidFill>
          <a:ln w="12700">
            <a:solidFill>
              <a:srgbClr val="1E4463"/>
            </a:solidFill>
            <a:prstDash val="solid"/>
          </a:ln>
          <a:effectLst>
            <a:outerShdw sx="100000" sy="100000" kx="0" ky="0" algn="bl" rotWithShape="0" blurRad="177800" dist="38100" dir="5400000">
              <a:srgbClr val="000000">
                <a:alpha val="35000"/>
              </a:srgbClr>
            </a:outerShdw>
          </a:effectLst>
        </p:spPr>
      </p:sp>
      <p:sp>
        <p:nvSpPr>
          <p:cNvPr id="9" name="Text 6"/>
          <p:cNvSpPr/>
          <p:nvPr/>
        </p:nvSpPr>
        <p:spPr>
          <a:xfrm>
            <a:off x="2572512" y="4791456"/>
            <a:ext cx="1749552" cy="566928"/>
          </a:xfrm>
          <a:prstGeom prst="rect">
            <a:avLst/>
          </a:prstGeom>
          <a:noFill/>
          <a:ln/>
        </p:spPr>
        <p:txBody>
          <a:bodyPr wrap="square" lIns="0" tIns="0" rIns="0" bIns="0" rtlCol="0" anchor="ctr"/>
          <a:lstStyle/>
          <a:p>
            <a:pPr algn="ctr" indent="0" marL="0">
              <a:buNone/>
            </a:pPr>
            <a:r>
              <a:rPr lang="en-US" sz="2700" b="1" dirty="0">
                <a:solidFill>
                  <a:srgbClr val="34D399"/>
                </a:solidFill>
                <a:latin typeface="Cambria" pitchFamily="34" charset="0"/>
                <a:ea typeface="Cambria" pitchFamily="34" charset="-122"/>
                <a:cs typeface="Cambria" pitchFamily="34" charset="-120"/>
              </a:rPr>
              <a:t>0.3%</a:t>
            </a:r>
            <a:endParaRPr lang="en-US" sz="2700" dirty="0"/>
          </a:p>
        </p:txBody>
      </p:sp>
      <p:sp>
        <p:nvSpPr>
          <p:cNvPr id="10" name="Text 7"/>
          <p:cNvSpPr/>
          <p:nvPr/>
        </p:nvSpPr>
        <p:spPr>
          <a:xfrm>
            <a:off x="2572512" y="5376672"/>
            <a:ext cx="1749552" cy="310896"/>
          </a:xfrm>
          <a:prstGeom prst="rect">
            <a:avLst/>
          </a:prstGeom>
          <a:noFill/>
          <a:ln/>
        </p:spPr>
        <p:txBody>
          <a:bodyPr wrap="square" lIns="0" tIns="0" rIns="0" bIns="0" rtlCol="0" anchor="ctr"/>
          <a:lstStyle/>
          <a:p>
            <a:pPr algn="ctr" indent="0" marL="0">
              <a:buNone/>
            </a:pPr>
            <a:r>
              <a:rPr lang="en-US" sz="1050" dirty="0">
                <a:solidFill>
                  <a:srgbClr val="94A3B8"/>
                </a:solidFill>
                <a:latin typeface="Calibri" pitchFamily="34" charset="0"/>
                <a:ea typeface="Calibri" pitchFamily="34" charset="-122"/>
                <a:cs typeface="Calibri" pitchFamily="34" charset="-120"/>
              </a:rPr>
              <a:t>Probability of loss</a:t>
            </a:r>
            <a:endParaRPr lang="en-US" sz="1050" dirty="0"/>
          </a:p>
        </p:txBody>
      </p:sp>
      <p:sp>
        <p:nvSpPr>
          <p:cNvPr id="11" name="Shape 8"/>
          <p:cNvSpPr/>
          <p:nvPr/>
        </p:nvSpPr>
        <p:spPr>
          <a:xfrm>
            <a:off x="4541520" y="4663440"/>
            <a:ext cx="1786128" cy="1133856"/>
          </a:xfrm>
          <a:prstGeom prst="roundRect">
            <a:avLst>
              <a:gd name="adj" fmla="val 8065"/>
            </a:avLst>
          </a:prstGeom>
          <a:solidFill>
            <a:srgbClr val="13314E"/>
          </a:solidFill>
          <a:ln w="12700">
            <a:solidFill>
              <a:srgbClr val="1E4463"/>
            </a:solidFill>
            <a:prstDash val="solid"/>
          </a:ln>
          <a:effectLst>
            <a:outerShdw sx="100000" sy="100000" kx="0" ky="0" algn="bl" rotWithShape="0" blurRad="177800" dist="38100" dir="5400000">
              <a:srgbClr val="000000">
                <a:alpha val="35000"/>
              </a:srgbClr>
            </a:outerShdw>
          </a:effectLst>
        </p:spPr>
      </p:sp>
      <p:sp>
        <p:nvSpPr>
          <p:cNvPr id="12" name="Text 9"/>
          <p:cNvSpPr/>
          <p:nvPr/>
        </p:nvSpPr>
        <p:spPr>
          <a:xfrm>
            <a:off x="4559808" y="4791456"/>
            <a:ext cx="1749552" cy="566928"/>
          </a:xfrm>
          <a:prstGeom prst="rect">
            <a:avLst/>
          </a:prstGeom>
          <a:noFill/>
          <a:ln/>
        </p:spPr>
        <p:txBody>
          <a:bodyPr wrap="square" lIns="0" tIns="0" rIns="0" bIns="0" rtlCol="0" anchor="ctr"/>
          <a:lstStyle/>
          <a:p>
            <a:pPr algn="ctr" indent="0" marL="0">
              <a:buNone/>
            </a:pPr>
            <a:r>
              <a:rPr lang="en-US" sz="2700" b="1" dirty="0">
                <a:solidFill>
                  <a:srgbClr val="34D399"/>
                </a:solidFill>
                <a:latin typeface="Cambria" pitchFamily="34" charset="0"/>
                <a:ea typeface="Cambria" pitchFamily="34" charset="-122"/>
                <a:cs typeface="Cambria" pitchFamily="34" charset="-120"/>
              </a:rPr>
              <a:t>99.7%</a:t>
            </a:r>
            <a:endParaRPr lang="en-US" sz="2700" dirty="0"/>
          </a:p>
        </p:txBody>
      </p:sp>
      <p:sp>
        <p:nvSpPr>
          <p:cNvPr id="13" name="Text 10"/>
          <p:cNvSpPr/>
          <p:nvPr/>
        </p:nvSpPr>
        <p:spPr>
          <a:xfrm>
            <a:off x="4559808" y="5376672"/>
            <a:ext cx="1749552" cy="310896"/>
          </a:xfrm>
          <a:prstGeom prst="rect">
            <a:avLst/>
          </a:prstGeom>
          <a:noFill/>
          <a:ln/>
        </p:spPr>
        <p:txBody>
          <a:bodyPr wrap="square" lIns="0" tIns="0" rIns="0" bIns="0" rtlCol="0" anchor="ctr"/>
          <a:lstStyle/>
          <a:p>
            <a:pPr algn="ctr" indent="0" marL="0">
              <a:buNone/>
            </a:pPr>
            <a:r>
              <a:rPr lang="en-US" sz="1050" dirty="0">
                <a:solidFill>
                  <a:srgbClr val="94A3B8"/>
                </a:solidFill>
                <a:latin typeface="Calibri" pitchFamily="34" charset="0"/>
                <a:ea typeface="Calibri" pitchFamily="34" charset="-122"/>
                <a:cs typeface="Calibri" pitchFamily="34" charset="-120"/>
              </a:rPr>
              <a:t>Probability NPV &gt; 0</a:t>
            </a:r>
            <a:endParaRPr lang="en-US" sz="1050" dirty="0"/>
          </a:p>
        </p:txBody>
      </p:sp>
      <p:sp>
        <p:nvSpPr>
          <p:cNvPr id="14" name="Shape 11"/>
          <p:cNvSpPr/>
          <p:nvPr/>
        </p:nvSpPr>
        <p:spPr>
          <a:xfrm>
            <a:off x="6528816" y="1261872"/>
            <a:ext cx="5095951" cy="4626864"/>
          </a:xfrm>
          <a:prstGeom prst="roundRect">
            <a:avLst>
              <a:gd name="adj" fmla="val 1976"/>
            </a:avLst>
          </a:prstGeom>
          <a:solidFill>
            <a:srgbClr val="0F2740"/>
          </a:solidFill>
          <a:ln w="12700">
            <a:solidFill>
              <a:srgbClr val="1E4463"/>
            </a:solidFill>
            <a:prstDash val="solid"/>
          </a:ln>
          <a:effectLst>
            <a:outerShdw sx="100000" sy="100000" kx="0" ky="0" algn="bl" rotWithShape="0" blurRad="177800" dist="38100" dir="5400000">
              <a:srgbClr val="000000">
                <a:alpha val="35000"/>
              </a:srgbClr>
            </a:outerShdw>
          </a:effectLst>
        </p:spPr>
      </p:sp>
      <p:sp>
        <p:nvSpPr>
          <p:cNvPr id="15" name="Text 12"/>
          <p:cNvSpPr/>
          <p:nvPr/>
        </p:nvSpPr>
        <p:spPr>
          <a:xfrm>
            <a:off x="6766560" y="1444752"/>
            <a:ext cx="4754880" cy="292608"/>
          </a:xfrm>
          <a:prstGeom prst="rect">
            <a:avLst/>
          </a:prstGeom>
          <a:noFill/>
          <a:ln/>
        </p:spPr>
        <p:txBody>
          <a:bodyPr wrap="square" lIns="0" tIns="0" rIns="0" bIns="0" rtlCol="0" anchor="ctr"/>
          <a:lstStyle/>
          <a:p>
            <a:pPr indent="0" marL="0">
              <a:buNone/>
            </a:pPr>
            <a:r>
              <a:rPr lang="en-US" sz="1350" b="1" dirty="0">
                <a:solidFill>
                  <a:srgbClr val="22D3EE"/>
                </a:solidFill>
                <a:latin typeface="Calibri" pitchFamily="34" charset="0"/>
                <a:ea typeface="Calibri" pitchFamily="34" charset="-122"/>
                <a:cs typeface="Calibri" pitchFamily="34" charset="-120"/>
              </a:rPr>
              <a:t>Deterministic risk alerts — 11 rules, severity-ranked</a:t>
            </a:r>
            <a:endParaRPr lang="en-US" sz="1350" dirty="0"/>
          </a:p>
        </p:txBody>
      </p:sp>
      <p:sp>
        <p:nvSpPr>
          <p:cNvPr id="16" name="Shape 13"/>
          <p:cNvSpPr/>
          <p:nvPr/>
        </p:nvSpPr>
        <p:spPr>
          <a:xfrm>
            <a:off x="6766560" y="1810512"/>
            <a:ext cx="658368" cy="274320"/>
          </a:xfrm>
          <a:prstGeom prst="roundRect">
            <a:avLst>
              <a:gd name="adj" fmla="val 23333"/>
            </a:avLst>
          </a:prstGeom>
          <a:solidFill>
            <a:srgbClr val="3B2A08"/>
          </a:solidFill>
          <a:ln w="12700">
            <a:solidFill>
              <a:srgbClr val="333333"/>
            </a:solidFill>
            <a:prstDash val="solid"/>
          </a:ln>
        </p:spPr>
      </p:sp>
      <p:sp>
        <p:nvSpPr>
          <p:cNvPr id="17" name="Text 14"/>
          <p:cNvSpPr/>
          <p:nvPr/>
        </p:nvSpPr>
        <p:spPr>
          <a:xfrm>
            <a:off x="6766560" y="1810512"/>
            <a:ext cx="658368" cy="274320"/>
          </a:xfrm>
          <a:prstGeom prst="rect">
            <a:avLst/>
          </a:prstGeom>
          <a:noFill/>
          <a:ln/>
        </p:spPr>
        <p:txBody>
          <a:bodyPr wrap="square" lIns="0" tIns="0" rIns="0" bIns="0" rtlCol="0" anchor="ctr"/>
          <a:lstStyle/>
          <a:p>
            <a:pPr algn="ctr" indent="0" marL="0">
              <a:buNone/>
            </a:pPr>
            <a:r>
              <a:rPr lang="en-US" sz="800" b="1" dirty="0">
                <a:solidFill>
                  <a:srgbClr val="FBBF24"/>
                </a:solidFill>
                <a:latin typeface="Calibri" pitchFamily="34" charset="0"/>
                <a:ea typeface="Calibri" pitchFamily="34" charset="-122"/>
                <a:cs typeface="Calibri" pitchFamily="34" charset="-120"/>
              </a:rPr>
              <a:t>FIRES</a:t>
            </a:r>
            <a:endParaRPr lang="en-US" sz="800" dirty="0"/>
          </a:p>
        </p:txBody>
      </p:sp>
      <p:sp>
        <p:nvSpPr>
          <p:cNvPr id="18" name="Text 15"/>
          <p:cNvSpPr/>
          <p:nvPr/>
        </p:nvSpPr>
        <p:spPr>
          <a:xfrm>
            <a:off x="7516368" y="1810512"/>
            <a:ext cx="4023360" cy="274320"/>
          </a:xfrm>
          <a:prstGeom prst="rect">
            <a:avLst/>
          </a:prstGeom>
          <a:noFill/>
          <a:ln/>
        </p:spPr>
        <p:txBody>
          <a:bodyPr wrap="square" lIns="0" tIns="0" rIns="0" bIns="0" rtlCol="0" anchor="ctr"/>
          <a:lstStyle/>
          <a:p>
            <a:pPr indent="0" marL="0">
              <a:buNone/>
            </a:pPr>
            <a:r>
              <a:rPr lang="en-US" sz="1050" dirty="0">
                <a:solidFill>
                  <a:srgbClr val="F8FAFC"/>
                </a:solidFill>
                <a:latin typeface="Calibri" pitchFamily="34" charset="0"/>
                <a:ea typeface="Calibri" pitchFamily="34" charset="-122"/>
                <a:cs typeface="Calibri" pitchFamily="34" charset="-120"/>
              </a:rPr>
              <a:t>Downside exposure in the pessimistic scenario</a:t>
            </a:r>
            <a:endParaRPr lang="en-US" sz="1050" dirty="0"/>
          </a:p>
        </p:txBody>
      </p:sp>
      <p:sp>
        <p:nvSpPr>
          <p:cNvPr id="19" name="Shape 16"/>
          <p:cNvSpPr/>
          <p:nvPr/>
        </p:nvSpPr>
        <p:spPr>
          <a:xfrm>
            <a:off x="6766560" y="2116836"/>
            <a:ext cx="658368" cy="274320"/>
          </a:xfrm>
          <a:prstGeom prst="roundRect">
            <a:avLst>
              <a:gd name="adj" fmla="val 23333"/>
            </a:avLst>
          </a:prstGeom>
          <a:solidFill>
            <a:srgbClr val="0E2438"/>
          </a:solidFill>
          <a:ln w="12700">
            <a:solidFill>
              <a:srgbClr val="333333"/>
            </a:solidFill>
            <a:prstDash val="solid"/>
          </a:ln>
        </p:spPr>
      </p:sp>
      <p:sp>
        <p:nvSpPr>
          <p:cNvPr id="20" name="Text 17"/>
          <p:cNvSpPr/>
          <p:nvPr/>
        </p:nvSpPr>
        <p:spPr>
          <a:xfrm>
            <a:off x="6766560" y="2116836"/>
            <a:ext cx="658368" cy="274320"/>
          </a:xfrm>
          <a:prstGeom prst="rect">
            <a:avLst/>
          </a:prstGeom>
          <a:noFill/>
          <a:ln/>
        </p:spPr>
        <p:txBody>
          <a:bodyPr wrap="square" lIns="0" tIns="0" rIns="0" bIns="0" rtlCol="0" anchor="ctr"/>
          <a:lstStyle/>
          <a:p>
            <a:pPr algn="ctr" indent="0" marL="0">
              <a:buNone/>
            </a:pPr>
            <a:r>
              <a:rPr lang="en-US" sz="800" b="1" dirty="0">
                <a:solidFill>
                  <a:srgbClr val="94A3B8"/>
                </a:solidFill>
                <a:latin typeface="Calibri" pitchFamily="34" charset="0"/>
                <a:ea typeface="Calibri" pitchFamily="34" charset="-122"/>
                <a:cs typeface="Calibri" pitchFamily="34" charset="-120"/>
              </a:rPr>
              <a:t>quiet</a:t>
            </a:r>
            <a:endParaRPr lang="en-US" sz="800" dirty="0"/>
          </a:p>
        </p:txBody>
      </p:sp>
      <p:sp>
        <p:nvSpPr>
          <p:cNvPr id="21" name="Text 18"/>
          <p:cNvSpPr/>
          <p:nvPr/>
        </p:nvSpPr>
        <p:spPr>
          <a:xfrm>
            <a:off x="7516368" y="2116836"/>
            <a:ext cx="4023360" cy="274320"/>
          </a:xfrm>
          <a:prstGeom prst="rect">
            <a:avLst/>
          </a:prstGeom>
          <a:noFill/>
          <a:ln/>
        </p:spPr>
        <p:txBody>
          <a:bodyPr wrap="square" lIns="0" tIns="0" rIns="0" bIns="0" rtlCol="0" anchor="ctr"/>
          <a:lstStyle/>
          <a:p>
            <a:pPr indent="0" marL="0">
              <a:buNone/>
            </a:pPr>
            <a:r>
              <a:rPr lang="en-US" sz="1050" dirty="0">
                <a:solidFill>
                  <a:srgbClr val="94A3B8"/>
                </a:solidFill>
                <a:latin typeface="Calibri" pitchFamily="34" charset="0"/>
                <a:ea typeface="Calibri" pitchFamily="34" charset="-122"/>
                <a:cs typeface="Calibri" pitchFamily="34" charset="-120"/>
              </a:rPr>
              <a:t>Negative net present value</a:t>
            </a:r>
            <a:endParaRPr lang="en-US" sz="1050" dirty="0"/>
          </a:p>
        </p:txBody>
      </p:sp>
      <p:sp>
        <p:nvSpPr>
          <p:cNvPr id="22" name="Shape 19"/>
          <p:cNvSpPr/>
          <p:nvPr/>
        </p:nvSpPr>
        <p:spPr>
          <a:xfrm>
            <a:off x="6766560" y="2423160"/>
            <a:ext cx="658368" cy="274320"/>
          </a:xfrm>
          <a:prstGeom prst="roundRect">
            <a:avLst>
              <a:gd name="adj" fmla="val 23333"/>
            </a:avLst>
          </a:prstGeom>
          <a:solidFill>
            <a:srgbClr val="0E2438"/>
          </a:solidFill>
          <a:ln w="12700">
            <a:solidFill>
              <a:srgbClr val="333333"/>
            </a:solidFill>
            <a:prstDash val="solid"/>
          </a:ln>
        </p:spPr>
      </p:sp>
      <p:sp>
        <p:nvSpPr>
          <p:cNvPr id="23" name="Text 20"/>
          <p:cNvSpPr/>
          <p:nvPr/>
        </p:nvSpPr>
        <p:spPr>
          <a:xfrm>
            <a:off x="6766560" y="2423160"/>
            <a:ext cx="658368" cy="274320"/>
          </a:xfrm>
          <a:prstGeom prst="rect">
            <a:avLst/>
          </a:prstGeom>
          <a:noFill/>
          <a:ln/>
        </p:spPr>
        <p:txBody>
          <a:bodyPr wrap="square" lIns="0" tIns="0" rIns="0" bIns="0" rtlCol="0" anchor="ctr"/>
          <a:lstStyle/>
          <a:p>
            <a:pPr algn="ctr" indent="0" marL="0">
              <a:buNone/>
            </a:pPr>
            <a:r>
              <a:rPr lang="en-US" sz="800" b="1" dirty="0">
                <a:solidFill>
                  <a:srgbClr val="94A3B8"/>
                </a:solidFill>
                <a:latin typeface="Calibri" pitchFamily="34" charset="0"/>
                <a:ea typeface="Calibri" pitchFamily="34" charset="-122"/>
                <a:cs typeface="Calibri" pitchFamily="34" charset="-120"/>
              </a:rPr>
              <a:t>quiet</a:t>
            </a:r>
            <a:endParaRPr lang="en-US" sz="800" dirty="0"/>
          </a:p>
        </p:txBody>
      </p:sp>
      <p:sp>
        <p:nvSpPr>
          <p:cNvPr id="24" name="Text 21"/>
          <p:cNvSpPr/>
          <p:nvPr/>
        </p:nvSpPr>
        <p:spPr>
          <a:xfrm>
            <a:off x="7516368" y="2423160"/>
            <a:ext cx="4023360" cy="274320"/>
          </a:xfrm>
          <a:prstGeom prst="rect">
            <a:avLst/>
          </a:prstGeom>
          <a:noFill/>
          <a:ln/>
        </p:spPr>
        <p:txBody>
          <a:bodyPr wrap="square" lIns="0" tIns="0" rIns="0" bIns="0" rtlCol="0" anchor="ctr"/>
          <a:lstStyle/>
          <a:p>
            <a:pPr indent="0" marL="0">
              <a:buNone/>
            </a:pPr>
            <a:r>
              <a:rPr lang="en-US" sz="1050" dirty="0">
                <a:solidFill>
                  <a:srgbClr val="94A3B8"/>
                </a:solidFill>
                <a:latin typeface="Calibri" pitchFamily="34" charset="0"/>
                <a:ea typeface="Calibri" pitchFamily="34" charset="-122"/>
                <a:cs typeface="Calibri" pitchFamily="34" charset="-120"/>
              </a:rPr>
              <a:t>IRR below hurdle rate</a:t>
            </a:r>
            <a:endParaRPr lang="en-US" sz="1050" dirty="0"/>
          </a:p>
        </p:txBody>
      </p:sp>
      <p:sp>
        <p:nvSpPr>
          <p:cNvPr id="25" name="Shape 22"/>
          <p:cNvSpPr/>
          <p:nvPr/>
        </p:nvSpPr>
        <p:spPr>
          <a:xfrm>
            <a:off x="6766560" y="2729484"/>
            <a:ext cx="658368" cy="274320"/>
          </a:xfrm>
          <a:prstGeom prst="roundRect">
            <a:avLst>
              <a:gd name="adj" fmla="val 23333"/>
            </a:avLst>
          </a:prstGeom>
          <a:solidFill>
            <a:srgbClr val="0E2438"/>
          </a:solidFill>
          <a:ln w="12700">
            <a:solidFill>
              <a:srgbClr val="333333"/>
            </a:solidFill>
            <a:prstDash val="solid"/>
          </a:ln>
        </p:spPr>
      </p:sp>
      <p:sp>
        <p:nvSpPr>
          <p:cNvPr id="26" name="Text 23"/>
          <p:cNvSpPr/>
          <p:nvPr/>
        </p:nvSpPr>
        <p:spPr>
          <a:xfrm>
            <a:off x="6766560" y="2729484"/>
            <a:ext cx="658368" cy="274320"/>
          </a:xfrm>
          <a:prstGeom prst="rect">
            <a:avLst/>
          </a:prstGeom>
          <a:noFill/>
          <a:ln/>
        </p:spPr>
        <p:txBody>
          <a:bodyPr wrap="square" lIns="0" tIns="0" rIns="0" bIns="0" rtlCol="0" anchor="ctr"/>
          <a:lstStyle/>
          <a:p>
            <a:pPr algn="ctr" indent="0" marL="0">
              <a:buNone/>
            </a:pPr>
            <a:r>
              <a:rPr lang="en-US" sz="800" b="1" dirty="0">
                <a:solidFill>
                  <a:srgbClr val="94A3B8"/>
                </a:solidFill>
                <a:latin typeface="Calibri" pitchFamily="34" charset="0"/>
                <a:ea typeface="Calibri" pitchFamily="34" charset="-122"/>
                <a:cs typeface="Calibri" pitchFamily="34" charset="-120"/>
              </a:rPr>
              <a:t>quiet</a:t>
            </a:r>
            <a:endParaRPr lang="en-US" sz="800" dirty="0"/>
          </a:p>
        </p:txBody>
      </p:sp>
      <p:sp>
        <p:nvSpPr>
          <p:cNvPr id="27" name="Text 24"/>
          <p:cNvSpPr/>
          <p:nvPr/>
        </p:nvSpPr>
        <p:spPr>
          <a:xfrm>
            <a:off x="7516368" y="2729484"/>
            <a:ext cx="4023360" cy="274320"/>
          </a:xfrm>
          <a:prstGeom prst="rect">
            <a:avLst/>
          </a:prstGeom>
          <a:noFill/>
          <a:ln/>
        </p:spPr>
        <p:txBody>
          <a:bodyPr wrap="square" lIns="0" tIns="0" rIns="0" bIns="0" rtlCol="0" anchor="ctr"/>
          <a:lstStyle/>
          <a:p>
            <a:pPr indent="0" marL="0">
              <a:buNone/>
            </a:pPr>
            <a:r>
              <a:rPr lang="en-US" sz="1050" dirty="0">
                <a:solidFill>
                  <a:srgbClr val="94A3B8"/>
                </a:solidFill>
                <a:latin typeface="Calibri" pitchFamily="34" charset="0"/>
                <a:ea typeface="Calibri" pitchFamily="34" charset="-122"/>
                <a:cs typeface="Calibri" pitchFamily="34" charset="-120"/>
              </a:rPr>
              <a:t>MIRR below hurdle rate</a:t>
            </a:r>
            <a:endParaRPr lang="en-US" sz="1050" dirty="0"/>
          </a:p>
        </p:txBody>
      </p:sp>
      <p:sp>
        <p:nvSpPr>
          <p:cNvPr id="28" name="Shape 25"/>
          <p:cNvSpPr/>
          <p:nvPr/>
        </p:nvSpPr>
        <p:spPr>
          <a:xfrm>
            <a:off x="6766560" y="3035808"/>
            <a:ext cx="658368" cy="274320"/>
          </a:xfrm>
          <a:prstGeom prst="roundRect">
            <a:avLst>
              <a:gd name="adj" fmla="val 23333"/>
            </a:avLst>
          </a:prstGeom>
          <a:solidFill>
            <a:srgbClr val="0E2438"/>
          </a:solidFill>
          <a:ln w="12700">
            <a:solidFill>
              <a:srgbClr val="333333"/>
            </a:solidFill>
            <a:prstDash val="solid"/>
          </a:ln>
        </p:spPr>
      </p:sp>
      <p:sp>
        <p:nvSpPr>
          <p:cNvPr id="29" name="Text 26"/>
          <p:cNvSpPr/>
          <p:nvPr/>
        </p:nvSpPr>
        <p:spPr>
          <a:xfrm>
            <a:off x="6766560" y="3035808"/>
            <a:ext cx="658368" cy="274320"/>
          </a:xfrm>
          <a:prstGeom prst="rect">
            <a:avLst/>
          </a:prstGeom>
          <a:noFill/>
          <a:ln/>
        </p:spPr>
        <p:txBody>
          <a:bodyPr wrap="square" lIns="0" tIns="0" rIns="0" bIns="0" rtlCol="0" anchor="ctr"/>
          <a:lstStyle/>
          <a:p>
            <a:pPr algn="ctr" indent="0" marL="0">
              <a:buNone/>
            </a:pPr>
            <a:r>
              <a:rPr lang="en-US" sz="800" b="1" dirty="0">
                <a:solidFill>
                  <a:srgbClr val="94A3B8"/>
                </a:solidFill>
                <a:latin typeface="Calibri" pitchFamily="34" charset="0"/>
                <a:ea typeface="Calibri" pitchFamily="34" charset="-122"/>
                <a:cs typeface="Calibri" pitchFamily="34" charset="-120"/>
              </a:rPr>
              <a:t>quiet</a:t>
            </a:r>
            <a:endParaRPr lang="en-US" sz="800" dirty="0"/>
          </a:p>
        </p:txBody>
      </p:sp>
      <p:sp>
        <p:nvSpPr>
          <p:cNvPr id="30" name="Text 27"/>
          <p:cNvSpPr/>
          <p:nvPr/>
        </p:nvSpPr>
        <p:spPr>
          <a:xfrm>
            <a:off x="7516368" y="3035808"/>
            <a:ext cx="4023360" cy="274320"/>
          </a:xfrm>
          <a:prstGeom prst="rect">
            <a:avLst/>
          </a:prstGeom>
          <a:noFill/>
          <a:ln/>
        </p:spPr>
        <p:txBody>
          <a:bodyPr wrap="square" lIns="0" tIns="0" rIns="0" bIns="0" rtlCol="0" anchor="ctr"/>
          <a:lstStyle/>
          <a:p>
            <a:pPr indent="0" marL="0">
              <a:buNone/>
            </a:pPr>
            <a:r>
              <a:rPr lang="en-US" sz="1050" dirty="0">
                <a:solidFill>
                  <a:srgbClr val="94A3B8"/>
                </a:solidFill>
                <a:latin typeface="Calibri" pitchFamily="34" charset="0"/>
                <a:ea typeface="Calibri" pitchFamily="34" charset="-122"/>
                <a:cs typeface="Calibri" pitchFamily="34" charset="-120"/>
              </a:rPr>
              <a:t>Profitability index below threshold</a:t>
            </a:r>
            <a:endParaRPr lang="en-US" sz="1050" dirty="0"/>
          </a:p>
        </p:txBody>
      </p:sp>
      <p:sp>
        <p:nvSpPr>
          <p:cNvPr id="31" name="Shape 28"/>
          <p:cNvSpPr/>
          <p:nvPr/>
        </p:nvSpPr>
        <p:spPr>
          <a:xfrm>
            <a:off x="6766560" y="3342132"/>
            <a:ext cx="658368" cy="274320"/>
          </a:xfrm>
          <a:prstGeom prst="roundRect">
            <a:avLst>
              <a:gd name="adj" fmla="val 23333"/>
            </a:avLst>
          </a:prstGeom>
          <a:solidFill>
            <a:srgbClr val="0E2438"/>
          </a:solidFill>
          <a:ln w="12700">
            <a:solidFill>
              <a:srgbClr val="333333"/>
            </a:solidFill>
            <a:prstDash val="solid"/>
          </a:ln>
        </p:spPr>
      </p:sp>
      <p:sp>
        <p:nvSpPr>
          <p:cNvPr id="32" name="Text 29"/>
          <p:cNvSpPr/>
          <p:nvPr/>
        </p:nvSpPr>
        <p:spPr>
          <a:xfrm>
            <a:off x="6766560" y="3342132"/>
            <a:ext cx="658368" cy="274320"/>
          </a:xfrm>
          <a:prstGeom prst="rect">
            <a:avLst/>
          </a:prstGeom>
          <a:noFill/>
          <a:ln/>
        </p:spPr>
        <p:txBody>
          <a:bodyPr wrap="square" lIns="0" tIns="0" rIns="0" bIns="0" rtlCol="0" anchor="ctr"/>
          <a:lstStyle/>
          <a:p>
            <a:pPr algn="ctr" indent="0" marL="0">
              <a:buNone/>
            </a:pPr>
            <a:r>
              <a:rPr lang="en-US" sz="800" b="1" dirty="0">
                <a:solidFill>
                  <a:srgbClr val="94A3B8"/>
                </a:solidFill>
                <a:latin typeface="Calibri" pitchFamily="34" charset="0"/>
                <a:ea typeface="Calibri" pitchFamily="34" charset="-122"/>
                <a:cs typeface="Calibri" pitchFamily="34" charset="-120"/>
              </a:rPr>
              <a:t>quiet</a:t>
            </a:r>
            <a:endParaRPr lang="en-US" sz="800" dirty="0"/>
          </a:p>
        </p:txBody>
      </p:sp>
      <p:sp>
        <p:nvSpPr>
          <p:cNvPr id="33" name="Text 30"/>
          <p:cNvSpPr/>
          <p:nvPr/>
        </p:nvSpPr>
        <p:spPr>
          <a:xfrm>
            <a:off x="7516368" y="3342132"/>
            <a:ext cx="4023360" cy="274320"/>
          </a:xfrm>
          <a:prstGeom prst="rect">
            <a:avLst/>
          </a:prstGeom>
          <a:noFill/>
          <a:ln/>
        </p:spPr>
        <p:txBody>
          <a:bodyPr wrap="square" lIns="0" tIns="0" rIns="0" bIns="0" rtlCol="0" anchor="ctr"/>
          <a:lstStyle/>
          <a:p>
            <a:pPr indent="0" marL="0">
              <a:buNone/>
            </a:pPr>
            <a:r>
              <a:rPr lang="en-US" sz="1050" dirty="0">
                <a:solidFill>
                  <a:srgbClr val="94A3B8"/>
                </a:solidFill>
                <a:latin typeface="Calibri" pitchFamily="34" charset="0"/>
                <a:ea typeface="Calibri" pitchFamily="34" charset="-122"/>
                <a:cs typeface="Calibri" pitchFamily="34" charset="-120"/>
              </a:rPr>
              <a:t>Extended payback period</a:t>
            </a:r>
            <a:endParaRPr lang="en-US" sz="1050" dirty="0"/>
          </a:p>
        </p:txBody>
      </p:sp>
      <p:sp>
        <p:nvSpPr>
          <p:cNvPr id="34" name="Shape 31"/>
          <p:cNvSpPr/>
          <p:nvPr/>
        </p:nvSpPr>
        <p:spPr>
          <a:xfrm>
            <a:off x="6766560" y="3648456"/>
            <a:ext cx="658368" cy="274320"/>
          </a:xfrm>
          <a:prstGeom prst="roundRect">
            <a:avLst>
              <a:gd name="adj" fmla="val 23333"/>
            </a:avLst>
          </a:prstGeom>
          <a:solidFill>
            <a:srgbClr val="0E2438"/>
          </a:solidFill>
          <a:ln w="12700">
            <a:solidFill>
              <a:srgbClr val="333333"/>
            </a:solidFill>
            <a:prstDash val="solid"/>
          </a:ln>
        </p:spPr>
      </p:sp>
      <p:sp>
        <p:nvSpPr>
          <p:cNvPr id="35" name="Text 32"/>
          <p:cNvSpPr/>
          <p:nvPr/>
        </p:nvSpPr>
        <p:spPr>
          <a:xfrm>
            <a:off x="6766560" y="3648456"/>
            <a:ext cx="658368" cy="274320"/>
          </a:xfrm>
          <a:prstGeom prst="rect">
            <a:avLst/>
          </a:prstGeom>
          <a:noFill/>
          <a:ln/>
        </p:spPr>
        <p:txBody>
          <a:bodyPr wrap="square" lIns="0" tIns="0" rIns="0" bIns="0" rtlCol="0" anchor="ctr"/>
          <a:lstStyle/>
          <a:p>
            <a:pPr algn="ctr" indent="0" marL="0">
              <a:buNone/>
            </a:pPr>
            <a:r>
              <a:rPr lang="en-US" sz="800" b="1" dirty="0">
                <a:solidFill>
                  <a:srgbClr val="94A3B8"/>
                </a:solidFill>
                <a:latin typeface="Calibri" pitchFamily="34" charset="0"/>
                <a:ea typeface="Calibri" pitchFamily="34" charset="-122"/>
                <a:cs typeface="Calibri" pitchFamily="34" charset="-120"/>
              </a:rPr>
              <a:t>quiet</a:t>
            </a:r>
            <a:endParaRPr lang="en-US" sz="800" dirty="0"/>
          </a:p>
        </p:txBody>
      </p:sp>
      <p:sp>
        <p:nvSpPr>
          <p:cNvPr id="36" name="Text 33"/>
          <p:cNvSpPr/>
          <p:nvPr/>
        </p:nvSpPr>
        <p:spPr>
          <a:xfrm>
            <a:off x="7516368" y="3648456"/>
            <a:ext cx="4023360" cy="274320"/>
          </a:xfrm>
          <a:prstGeom prst="rect">
            <a:avLst/>
          </a:prstGeom>
          <a:noFill/>
          <a:ln/>
        </p:spPr>
        <p:txBody>
          <a:bodyPr wrap="square" lIns="0" tIns="0" rIns="0" bIns="0" rtlCol="0" anchor="ctr"/>
          <a:lstStyle/>
          <a:p>
            <a:pPr indent="0" marL="0">
              <a:buNone/>
            </a:pPr>
            <a:r>
              <a:rPr lang="en-US" sz="1050" dirty="0">
                <a:solidFill>
                  <a:srgbClr val="94A3B8"/>
                </a:solidFill>
                <a:latin typeface="Calibri" pitchFamily="34" charset="0"/>
                <a:ea typeface="Calibri" pitchFamily="34" charset="-122"/>
                <a:cs typeface="Calibri" pitchFamily="34" charset="-120"/>
              </a:rPr>
              <a:t>Discounted outlay unrecovered</a:t>
            </a:r>
            <a:endParaRPr lang="en-US" sz="1050" dirty="0"/>
          </a:p>
        </p:txBody>
      </p:sp>
      <p:sp>
        <p:nvSpPr>
          <p:cNvPr id="37" name="Shape 34"/>
          <p:cNvSpPr/>
          <p:nvPr/>
        </p:nvSpPr>
        <p:spPr>
          <a:xfrm>
            <a:off x="6766560" y="3954780"/>
            <a:ext cx="658368" cy="274320"/>
          </a:xfrm>
          <a:prstGeom prst="roundRect">
            <a:avLst>
              <a:gd name="adj" fmla="val 23333"/>
            </a:avLst>
          </a:prstGeom>
          <a:solidFill>
            <a:srgbClr val="0E2438"/>
          </a:solidFill>
          <a:ln w="12700">
            <a:solidFill>
              <a:srgbClr val="333333"/>
            </a:solidFill>
            <a:prstDash val="solid"/>
          </a:ln>
        </p:spPr>
      </p:sp>
      <p:sp>
        <p:nvSpPr>
          <p:cNvPr id="38" name="Text 35"/>
          <p:cNvSpPr/>
          <p:nvPr/>
        </p:nvSpPr>
        <p:spPr>
          <a:xfrm>
            <a:off x="6766560" y="3954780"/>
            <a:ext cx="658368" cy="274320"/>
          </a:xfrm>
          <a:prstGeom prst="rect">
            <a:avLst/>
          </a:prstGeom>
          <a:noFill/>
          <a:ln/>
        </p:spPr>
        <p:txBody>
          <a:bodyPr wrap="square" lIns="0" tIns="0" rIns="0" bIns="0" rtlCol="0" anchor="ctr"/>
          <a:lstStyle/>
          <a:p>
            <a:pPr algn="ctr" indent="0" marL="0">
              <a:buNone/>
            </a:pPr>
            <a:r>
              <a:rPr lang="en-US" sz="800" b="1" dirty="0">
                <a:solidFill>
                  <a:srgbClr val="94A3B8"/>
                </a:solidFill>
                <a:latin typeface="Calibri" pitchFamily="34" charset="0"/>
                <a:ea typeface="Calibri" pitchFamily="34" charset="-122"/>
                <a:cs typeface="Calibri" pitchFamily="34" charset="-120"/>
              </a:rPr>
              <a:t>quiet</a:t>
            </a:r>
            <a:endParaRPr lang="en-US" sz="800" dirty="0"/>
          </a:p>
        </p:txBody>
      </p:sp>
      <p:sp>
        <p:nvSpPr>
          <p:cNvPr id="39" name="Text 36"/>
          <p:cNvSpPr/>
          <p:nvPr/>
        </p:nvSpPr>
        <p:spPr>
          <a:xfrm>
            <a:off x="7516368" y="3954780"/>
            <a:ext cx="4023360" cy="274320"/>
          </a:xfrm>
          <a:prstGeom prst="rect">
            <a:avLst/>
          </a:prstGeom>
          <a:noFill/>
          <a:ln/>
        </p:spPr>
        <p:txBody>
          <a:bodyPr wrap="square" lIns="0" tIns="0" rIns="0" bIns="0" rtlCol="0" anchor="ctr"/>
          <a:lstStyle/>
          <a:p>
            <a:pPr indent="0" marL="0">
              <a:buNone/>
            </a:pPr>
            <a:r>
              <a:rPr lang="en-US" sz="1050" dirty="0">
                <a:solidFill>
                  <a:srgbClr val="94A3B8"/>
                </a:solidFill>
                <a:latin typeface="Calibri" pitchFamily="34" charset="0"/>
                <a:ea typeface="Calibri" pitchFamily="34" charset="-122"/>
                <a:cs typeface="Calibri" pitchFamily="34" charset="-120"/>
              </a:rPr>
              <a:t>Terminal salvage dependence (8.61% — trigger 15%)</a:t>
            </a:r>
            <a:endParaRPr lang="en-US" sz="1050" dirty="0"/>
          </a:p>
        </p:txBody>
      </p:sp>
      <p:sp>
        <p:nvSpPr>
          <p:cNvPr id="40" name="Shape 37"/>
          <p:cNvSpPr/>
          <p:nvPr/>
        </p:nvSpPr>
        <p:spPr>
          <a:xfrm>
            <a:off x="6766560" y="4261104"/>
            <a:ext cx="658368" cy="274320"/>
          </a:xfrm>
          <a:prstGeom prst="roundRect">
            <a:avLst>
              <a:gd name="adj" fmla="val 23333"/>
            </a:avLst>
          </a:prstGeom>
          <a:solidFill>
            <a:srgbClr val="0E2438"/>
          </a:solidFill>
          <a:ln w="12700">
            <a:solidFill>
              <a:srgbClr val="333333"/>
            </a:solidFill>
            <a:prstDash val="solid"/>
          </a:ln>
        </p:spPr>
      </p:sp>
      <p:sp>
        <p:nvSpPr>
          <p:cNvPr id="41" name="Text 38"/>
          <p:cNvSpPr/>
          <p:nvPr/>
        </p:nvSpPr>
        <p:spPr>
          <a:xfrm>
            <a:off x="6766560" y="4261104"/>
            <a:ext cx="658368" cy="274320"/>
          </a:xfrm>
          <a:prstGeom prst="rect">
            <a:avLst/>
          </a:prstGeom>
          <a:noFill/>
          <a:ln/>
        </p:spPr>
        <p:txBody>
          <a:bodyPr wrap="square" lIns="0" tIns="0" rIns="0" bIns="0" rtlCol="0" anchor="ctr"/>
          <a:lstStyle/>
          <a:p>
            <a:pPr algn="ctr" indent="0" marL="0">
              <a:buNone/>
            </a:pPr>
            <a:r>
              <a:rPr lang="en-US" sz="800" b="1" dirty="0">
                <a:solidFill>
                  <a:srgbClr val="94A3B8"/>
                </a:solidFill>
                <a:latin typeface="Calibri" pitchFamily="34" charset="0"/>
                <a:ea typeface="Calibri" pitchFamily="34" charset="-122"/>
                <a:cs typeface="Calibri" pitchFamily="34" charset="-120"/>
              </a:rPr>
              <a:t>quiet</a:t>
            </a:r>
            <a:endParaRPr lang="en-US" sz="800" dirty="0"/>
          </a:p>
        </p:txBody>
      </p:sp>
      <p:sp>
        <p:nvSpPr>
          <p:cNvPr id="42" name="Text 39"/>
          <p:cNvSpPr/>
          <p:nvPr/>
        </p:nvSpPr>
        <p:spPr>
          <a:xfrm>
            <a:off x="7516368" y="4261104"/>
            <a:ext cx="4023360" cy="274320"/>
          </a:xfrm>
          <a:prstGeom prst="rect">
            <a:avLst/>
          </a:prstGeom>
          <a:noFill/>
          <a:ln/>
        </p:spPr>
        <p:txBody>
          <a:bodyPr wrap="square" lIns="0" tIns="0" rIns="0" bIns="0" rtlCol="0" anchor="ctr"/>
          <a:lstStyle/>
          <a:p>
            <a:pPr indent="0" marL="0">
              <a:buNone/>
            </a:pPr>
            <a:r>
              <a:rPr lang="en-US" sz="1050" dirty="0">
                <a:solidFill>
                  <a:srgbClr val="94A3B8"/>
                </a:solidFill>
                <a:latin typeface="Calibri" pitchFamily="34" charset="0"/>
                <a:ea typeface="Calibri" pitchFamily="34" charset="-122"/>
                <a:cs typeface="Calibri" pitchFamily="34" charset="-120"/>
              </a:rPr>
              <a:t>Benefit shortfall sensitivity (29.0% — trigger 15%)</a:t>
            </a:r>
            <a:endParaRPr lang="en-US" sz="1050" dirty="0"/>
          </a:p>
        </p:txBody>
      </p:sp>
      <p:sp>
        <p:nvSpPr>
          <p:cNvPr id="43" name="Shape 40"/>
          <p:cNvSpPr/>
          <p:nvPr/>
        </p:nvSpPr>
        <p:spPr>
          <a:xfrm>
            <a:off x="6766560" y="4567428"/>
            <a:ext cx="658368" cy="274320"/>
          </a:xfrm>
          <a:prstGeom prst="roundRect">
            <a:avLst>
              <a:gd name="adj" fmla="val 23333"/>
            </a:avLst>
          </a:prstGeom>
          <a:solidFill>
            <a:srgbClr val="0E2438"/>
          </a:solidFill>
          <a:ln w="12700">
            <a:solidFill>
              <a:srgbClr val="333333"/>
            </a:solidFill>
            <a:prstDash val="solid"/>
          </a:ln>
        </p:spPr>
      </p:sp>
      <p:sp>
        <p:nvSpPr>
          <p:cNvPr id="44" name="Text 41"/>
          <p:cNvSpPr/>
          <p:nvPr/>
        </p:nvSpPr>
        <p:spPr>
          <a:xfrm>
            <a:off x="6766560" y="4567428"/>
            <a:ext cx="658368" cy="274320"/>
          </a:xfrm>
          <a:prstGeom prst="rect">
            <a:avLst/>
          </a:prstGeom>
          <a:noFill/>
          <a:ln/>
        </p:spPr>
        <p:txBody>
          <a:bodyPr wrap="square" lIns="0" tIns="0" rIns="0" bIns="0" rtlCol="0" anchor="ctr"/>
          <a:lstStyle/>
          <a:p>
            <a:pPr algn="ctr" indent="0" marL="0">
              <a:buNone/>
            </a:pPr>
            <a:r>
              <a:rPr lang="en-US" sz="800" b="1" dirty="0">
                <a:solidFill>
                  <a:srgbClr val="94A3B8"/>
                </a:solidFill>
                <a:latin typeface="Calibri" pitchFamily="34" charset="0"/>
                <a:ea typeface="Calibri" pitchFamily="34" charset="-122"/>
                <a:cs typeface="Calibri" pitchFamily="34" charset="-120"/>
              </a:rPr>
              <a:t>quiet</a:t>
            </a:r>
            <a:endParaRPr lang="en-US" sz="800" dirty="0"/>
          </a:p>
        </p:txBody>
      </p:sp>
      <p:sp>
        <p:nvSpPr>
          <p:cNvPr id="45" name="Text 42"/>
          <p:cNvSpPr/>
          <p:nvPr/>
        </p:nvSpPr>
        <p:spPr>
          <a:xfrm>
            <a:off x="7516368" y="4567428"/>
            <a:ext cx="4023360" cy="274320"/>
          </a:xfrm>
          <a:prstGeom prst="rect">
            <a:avLst/>
          </a:prstGeom>
          <a:noFill/>
          <a:ln/>
        </p:spPr>
        <p:txBody>
          <a:bodyPr wrap="square" lIns="0" tIns="0" rIns="0" bIns="0" rtlCol="0" anchor="ctr"/>
          <a:lstStyle/>
          <a:p>
            <a:pPr indent="0" marL="0">
              <a:buNone/>
            </a:pPr>
            <a:r>
              <a:rPr lang="en-US" sz="1050" dirty="0">
                <a:solidFill>
                  <a:srgbClr val="94A3B8"/>
                </a:solidFill>
                <a:latin typeface="Calibri" pitchFamily="34" charset="0"/>
                <a:ea typeface="Calibri" pitchFamily="34" charset="-122"/>
                <a:cs typeface="Calibri" pitchFamily="34" charset="-120"/>
              </a:rPr>
              <a:t>Non-standard cash-flow sign changes</a:t>
            </a:r>
            <a:endParaRPr lang="en-US" sz="1050" dirty="0"/>
          </a:p>
        </p:txBody>
      </p:sp>
      <p:sp>
        <p:nvSpPr>
          <p:cNvPr id="46" name="Shape 43"/>
          <p:cNvSpPr/>
          <p:nvPr/>
        </p:nvSpPr>
        <p:spPr>
          <a:xfrm>
            <a:off x="6766560" y="4873752"/>
            <a:ext cx="658368" cy="274320"/>
          </a:xfrm>
          <a:prstGeom prst="roundRect">
            <a:avLst>
              <a:gd name="adj" fmla="val 23333"/>
            </a:avLst>
          </a:prstGeom>
          <a:solidFill>
            <a:srgbClr val="0E2438"/>
          </a:solidFill>
          <a:ln w="12700">
            <a:solidFill>
              <a:srgbClr val="333333"/>
            </a:solidFill>
            <a:prstDash val="solid"/>
          </a:ln>
        </p:spPr>
      </p:sp>
      <p:sp>
        <p:nvSpPr>
          <p:cNvPr id="47" name="Text 44"/>
          <p:cNvSpPr/>
          <p:nvPr/>
        </p:nvSpPr>
        <p:spPr>
          <a:xfrm>
            <a:off x="6766560" y="4873752"/>
            <a:ext cx="658368" cy="274320"/>
          </a:xfrm>
          <a:prstGeom prst="rect">
            <a:avLst/>
          </a:prstGeom>
          <a:noFill/>
          <a:ln/>
        </p:spPr>
        <p:txBody>
          <a:bodyPr wrap="square" lIns="0" tIns="0" rIns="0" bIns="0" rtlCol="0" anchor="ctr"/>
          <a:lstStyle/>
          <a:p>
            <a:pPr algn="ctr" indent="0" marL="0">
              <a:buNone/>
            </a:pPr>
            <a:r>
              <a:rPr lang="en-US" sz="800" b="1" dirty="0">
                <a:solidFill>
                  <a:srgbClr val="94A3B8"/>
                </a:solidFill>
                <a:latin typeface="Calibri" pitchFamily="34" charset="0"/>
                <a:ea typeface="Calibri" pitchFamily="34" charset="-122"/>
                <a:cs typeface="Calibri" pitchFamily="34" charset="-120"/>
              </a:rPr>
              <a:t>quiet</a:t>
            </a:r>
            <a:endParaRPr lang="en-US" sz="800" dirty="0"/>
          </a:p>
        </p:txBody>
      </p:sp>
      <p:sp>
        <p:nvSpPr>
          <p:cNvPr id="48" name="Text 45"/>
          <p:cNvSpPr/>
          <p:nvPr/>
        </p:nvSpPr>
        <p:spPr>
          <a:xfrm>
            <a:off x="7516368" y="4873752"/>
            <a:ext cx="4023360" cy="274320"/>
          </a:xfrm>
          <a:prstGeom prst="rect">
            <a:avLst/>
          </a:prstGeom>
          <a:noFill/>
          <a:ln/>
        </p:spPr>
        <p:txBody>
          <a:bodyPr wrap="square" lIns="0" tIns="0" rIns="0" bIns="0" rtlCol="0" anchor="ctr"/>
          <a:lstStyle/>
          <a:p>
            <a:pPr indent="0" marL="0">
              <a:buNone/>
            </a:pPr>
            <a:r>
              <a:rPr lang="en-US" sz="1050" dirty="0">
                <a:solidFill>
                  <a:srgbClr val="94A3B8"/>
                </a:solidFill>
                <a:latin typeface="Calibri" pitchFamily="34" charset="0"/>
                <a:ea typeface="Calibri" pitchFamily="34" charset="-122"/>
                <a:cs typeface="Calibri" pitchFamily="34" charset="-120"/>
              </a:rPr>
              <a:t>Unrealistic assumption detected</a:t>
            </a:r>
            <a:endParaRPr lang="en-US" sz="1050" dirty="0"/>
          </a:p>
        </p:txBody>
      </p:sp>
      <p:sp>
        <p:nvSpPr>
          <p:cNvPr id="49" name="Text 46"/>
          <p:cNvSpPr/>
          <p:nvPr/>
        </p:nvSpPr>
        <p:spPr>
          <a:xfrm>
            <a:off x="6766560" y="5266944"/>
            <a:ext cx="4754880" cy="512064"/>
          </a:xfrm>
          <a:prstGeom prst="rect">
            <a:avLst/>
          </a:prstGeom>
          <a:noFill/>
          <a:ln/>
        </p:spPr>
        <p:txBody>
          <a:bodyPr wrap="square" lIns="0" tIns="0" rIns="0" bIns="0" rtlCol="0" anchor="ctr"/>
          <a:lstStyle/>
          <a:p>
            <a:pPr indent="0" marL="0">
              <a:buNone/>
            </a:pPr>
            <a:r>
              <a:rPr lang="en-US" sz="1050" i="1" dirty="0">
                <a:solidFill>
                  <a:srgbClr val="CADCFC"/>
                </a:solidFill>
                <a:latin typeface="Calibri" pitchFamily="34" charset="0"/>
                <a:ea typeface="Calibri" pitchFamily="34" charset="-122"/>
                <a:cs typeface="Calibri" pitchFamily="34" charset="-120"/>
              </a:rPr>
              <a:t>Exactly one alert fires on the base case. A panel where everything is green is not a risk panel — and neither is one where everything is red.</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1A2E"/>
        </a:solidFill>
      </p:bgPr>
    </p:bg>
    <p:spTree>
      <p:nvGrpSpPr>
        <p:cNvPr id="1" name=""/>
        <p:cNvGrpSpPr/>
        <p:nvPr/>
      </p:nvGrpSpPr>
      <p:grpSpPr>
        <a:xfrm>
          <a:off x="0" y="0"/>
          <a:ext cx="0" cy="0"/>
          <a:chOff x="0" y="0"/>
          <a:chExt cx="0" cy="0"/>
        </a:xfrm>
      </p:grpSpPr>
      <p:sp>
        <p:nvSpPr>
          <p:cNvPr id="2" name="Text 0"/>
          <p:cNvSpPr/>
          <p:nvPr/>
        </p:nvSpPr>
        <p:spPr>
          <a:xfrm>
            <a:off x="566928" y="310896"/>
            <a:ext cx="8680399" cy="237744"/>
          </a:xfrm>
          <a:prstGeom prst="rect">
            <a:avLst/>
          </a:prstGeom>
          <a:noFill/>
          <a:ln/>
        </p:spPr>
        <p:txBody>
          <a:bodyPr wrap="square" lIns="0" tIns="0" rIns="0" bIns="0" rtlCol="0" anchor="ctr"/>
          <a:lstStyle/>
          <a:p>
            <a:pPr indent="0" marL="0">
              <a:buNone/>
            </a:pPr>
            <a:r>
              <a:rPr lang="en-US" sz="1100" b="1" spc="200" kern="0" dirty="0">
                <a:solidFill>
                  <a:srgbClr val="22D3EE"/>
                </a:solidFill>
                <a:latin typeface="Calibri" pitchFamily="34" charset="0"/>
                <a:ea typeface="Calibri" pitchFamily="34" charset="-122"/>
                <a:cs typeface="Calibri" pitchFamily="34" charset="-120"/>
              </a:rPr>
              <a:t>THE PLATFORM</a:t>
            </a:r>
            <a:endParaRPr lang="en-US" sz="1100" dirty="0"/>
          </a:p>
        </p:txBody>
      </p:sp>
      <p:sp>
        <p:nvSpPr>
          <p:cNvPr id="3" name="Text 1"/>
          <p:cNvSpPr/>
          <p:nvPr/>
        </p:nvSpPr>
        <p:spPr>
          <a:xfrm>
            <a:off x="566928" y="548640"/>
            <a:ext cx="8680399" cy="566928"/>
          </a:xfrm>
          <a:prstGeom prst="rect">
            <a:avLst/>
          </a:prstGeom>
          <a:noFill/>
          <a:ln/>
        </p:spPr>
        <p:txBody>
          <a:bodyPr wrap="square" lIns="0" tIns="0" rIns="0" bIns="0" rtlCol="0" anchor="ctr"/>
          <a:lstStyle/>
          <a:p>
            <a:pPr indent="0" marL="0">
              <a:buNone/>
            </a:pPr>
            <a:r>
              <a:rPr lang="en-US" sz="3000" b="1" dirty="0">
                <a:solidFill>
                  <a:srgbClr val="F8FAFC"/>
                </a:solidFill>
                <a:latin typeface="Cambria" pitchFamily="34" charset="0"/>
                <a:ea typeface="Cambria" pitchFamily="34" charset="-122"/>
                <a:cs typeface="Cambria" pitchFamily="34" charset="-120"/>
              </a:rPr>
              <a:t>One engine, eight investment archetypes</a:t>
            </a:r>
            <a:endParaRPr lang="en-US" sz="3000" dirty="0"/>
          </a:p>
        </p:txBody>
      </p:sp>
      <p:sp>
        <p:nvSpPr>
          <p:cNvPr id="4" name="Text 2"/>
          <p:cNvSpPr/>
          <p:nvPr/>
        </p:nvSpPr>
        <p:spPr>
          <a:xfrm>
            <a:off x="566928" y="1225296"/>
            <a:ext cx="11057839" cy="310896"/>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The same audited mathematics evaluates every capital decision in the brief — an archetype configuration builds the benefit line, the engine evaluates it.</a:t>
            </a:r>
            <a:endParaRPr lang="en-US" sz="1250" dirty="0"/>
          </a:p>
        </p:txBody>
      </p:sp>
      <p:sp>
        <p:nvSpPr>
          <p:cNvPr id="5" name="Shape 3"/>
          <p:cNvSpPr/>
          <p:nvPr/>
        </p:nvSpPr>
        <p:spPr>
          <a:xfrm>
            <a:off x="566928" y="1682496"/>
            <a:ext cx="5419192" cy="621792"/>
          </a:xfrm>
          <a:prstGeom prst="roundRect">
            <a:avLst>
              <a:gd name="adj" fmla="val 14706"/>
            </a:avLst>
          </a:prstGeom>
          <a:solidFill>
            <a:srgbClr val="13314E"/>
          </a:solidFill>
          <a:ln w="12700">
            <a:solidFill>
              <a:srgbClr val="1E4463"/>
            </a:solidFill>
            <a:prstDash val="solid"/>
          </a:ln>
          <a:effectLst>
            <a:outerShdw sx="100000" sy="100000" kx="0" ky="0" algn="bl" rotWithShape="0" blurRad="177800" dist="38100" dir="5400000">
              <a:srgbClr val="000000">
                <a:alpha val="35000"/>
              </a:srgbClr>
            </a:outerShdw>
          </a:effectLst>
        </p:spPr>
      </p:sp>
      <p:sp>
        <p:nvSpPr>
          <p:cNvPr id="6" name="Text 4"/>
          <p:cNvSpPr/>
          <p:nvPr/>
        </p:nvSpPr>
        <p:spPr>
          <a:xfrm>
            <a:off x="749808" y="1728216"/>
            <a:ext cx="1956816" cy="530352"/>
          </a:xfrm>
          <a:prstGeom prst="rect">
            <a:avLst/>
          </a:prstGeom>
          <a:noFill/>
          <a:ln/>
        </p:spPr>
        <p:txBody>
          <a:bodyPr wrap="square" lIns="0" tIns="0" rIns="0" bIns="0" rtlCol="0" anchor="ctr"/>
          <a:lstStyle/>
          <a:p>
            <a:pPr indent="0" marL="0">
              <a:buNone/>
            </a:pPr>
            <a:r>
              <a:rPr lang="en-US" sz="1050" b="1" dirty="0">
                <a:solidFill>
                  <a:srgbClr val="F8FAFC"/>
                </a:solidFill>
                <a:latin typeface="Calibri" pitchFamily="34" charset="0"/>
                <a:ea typeface="Calibri" pitchFamily="34" charset="-122"/>
                <a:cs typeface="Calibri" pitchFamily="34" charset="-120"/>
              </a:rPr>
              <a:t>Installing automation technology</a:t>
            </a:r>
            <a:endParaRPr lang="en-US" sz="1050" dirty="0"/>
          </a:p>
        </p:txBody>
      </p:sp>
      <p:sp>
        <p:nvSpPr>
          <p:cNvPr id="7" name="Text 5"/>
          <p:cNvSpPr/>
          <p:nvPr/>
        </p:nvSpPr>
        <p:spPr>
          <a:xfrm>
            <a:off x="2743200" y="1728216"/>
            <a:ext cx="868680" cy="530352"/>
          </a:xfrm>
          <a:prstGeom prst="rect">
            <a:avLst/>
          </a:prstGeom>
          <a:noFill/>
          <a:ln/>
        </p:spPr>
        <p:txBody>
          <a:bodyPr wrap="square" lIns="0" tIns="0" rIns="0" bIns="0" rtlCol="0" anchor="ctr"/>
          <a:lstStyle/>
          <a:p>
            <a:pPr algn="r" indent="0" marL="0">
              <a:buNone/>
            </a:pPr>
            <a:r>
              <a:rPr lang="en-US" sz="1000" dirty="0">
                <a:solidFill>
                  <a:srgbClr val="94A3B8"/>
                </a:solidFill>
                <a:latin typeface="Calibri" pitchFamily="34" charset="0"/>
                <a:ea typeface="Calibri" pitchFamily="34" charset="-122"/>
                <a:cs typeface="Calibri" pitchFamily="34" charset="-120"/>
              </a:rPr>
              <a:t>AED 24.0M</a:t>
            </a:r>
            <a:endParaRPr lang="en-US" sz="1000" dirty="0"/>
          </a:p>
        </p:txBody>
      </p:sp>
      <p:sp>
        <p:nvSpPr>
          <p:cNvPr id="8" name="Text 6"/>
          <p:cNvSpPr/>
          <p:nvPr/>
        </p:nvSpPr>
        <p:spPr>
          <a:xfrm>
            <a:off x="3666744" y="1728216"/>
            <a:ext cx="914400" cy="530352"/>
          </a:xfrm>
          <a:prstGeom prst="rect">
            <a:avLst/>
          </a:prstGeom>
          <a:noFill/>
          <a:ln/>
        </p:spPr>
        <p:txBody>
          <a:bodyPr wrap="square" lIns="0" tIns="0" rIns="0" bIns="0" rtlCol="0" anchor="ctr"/>
          <a:lstStyle/>
          <a:p>
            <a:pPr algn="r" indent="0" marL="0">
              <a:buNone/>
            </a:pPr>
            <a:r>
              <a:rPr lang="en-US" sz="1300" b="1" dirty="0">
                <a:solidFill>
                  <a:srgbClr val="34D399"/>
                </a:solidFill>
                <a:latin typeface="Cambria" pitchFamily="34" charset="0"/>
                <a:ea typeface="Cambria" pitchFamily="34" charset="-122"/>
                <a:cs typeface="Cambria" pitchFamily="34" charset="-120"/>
              </a:rPr>
              <a:t>+12.08M</a:t>
            </a:r>
            <a:endParaRPr lang="en-US" sz="1300" dirty="0"/>
          </a:p>
        </p:txBody>
      </p:sp>
      <p:sp>
        <p:nvSpPr>
          <p:cNvPr id="9" name="Text 7"/>
          <p:cNvSpPr/>
          <p:nvPr/>
        </p:nvSpPr>
        <p:spPr>
          <a:xfrm>
            <a:off x="4636008" y="1728216"/>
            <a:ext cx="566928" cy="530352"/>
          </a:xfrm>
          <a:prstGeom prst="rect">
            <a:avLst/>
          </a:prstGeom>
          <a:noFill/>
          <a:ln/>
        </p:spPr>
        <p:txBody>
          <a:bodyPr wrap="square" lIns="0" tIns="0" rIns="0" bIns="0" rtlCol="0" anchor="ctr"/>
          <a:lstStyle/>
          <a:p>
            <a:pPr algn="r" indent="0" marL="0">
              <a:buNone/>
            </a:pPr>
            <a:r>
              <a:rPr lang="en-US" sz="1000" dirty="0">
                <a:solidFill>
                  <a:srgbClr val="CADCFC"/>
                </a:solidFill>
                <a:latin typeface="Calibri" pitchFamily="34" charset="0"/>
                <a:ea typeface="Calibri" pitchFamily="34" charset="-122"/>
                <a:cs typeface="Calibri" pitchFamily="34" charset="-120"/>
              </a:rPr>
              <a:t>26.3%</a:t>
            </a:r>
            <a:endParaRPr lang="en-US" sz="1000" dirty="0"/>
          </a:p>
        </p:txBody>
      </p:sp>
      <p:sp>
        <p:nvSpPr>
          <p:cNvPr id="10" name="Text 8"/>
          <p:cNvSpPr/>
          <p:nvPr/>
        </p:nvSpPr>
        <p:spPr>
          <a:xfrm>
            <a:off x="5248656" y="1728216"/>
            <a:ext cx="621792" cy="530352"/>
          </a:xfrm>
          <a:prstGeom prst="rect">
            <a:avLst/>
          </a:prstGeom>
          <a:noFill/>
          <a:ln/>
        </p:spPr>
        <p:txBody>
          <a:bodyPr wrap="square" lIns="0" tIns="0" rIns="0" bIns="0" rtlCol="0" anchor="ctr"/>
          <a:lstStyle/>
          <a:p>
            <a:pPr algn="r" indent="0" marL="0">
              <a:buNone/>
            </a:pPr>
            <a:r>
              <a:rPr lang="en-US" sz="1000" b="1" dirty="0">
                <a:solidFill>
                  <a:srgbClr val="34D399"/>
                </a:solidFill>
                <a:latin typeface="Calibri" pitchFamily="34" charset="0"/>
                <a:ea typeface="Calibri" pitchFamily="34" charset="-122"/>
                <a:cs typeface="Calibri" pitchFamily="34" charset="-120"/>
              </a:rPr>
              <a:t>Approve</a:t>
            </a:r>
            <a:endParaRPr lang="en-US" sz="1000" dirty="0"/>
          </a:p>
        </p:txBody>
      </p:sp>
      <p:sp>
        <p:nvSpPr>
          <p:cNvPr id="11" name="Shape 9"/>
          <p:cNvSpPr/>
          <p:nvPr/>
        </p:nvSpPr>
        <p:spPr>
          <a:xfrm>
            <a:off x="6205576" y="1682496"/>
            <a:ext cx="5419192" cy="621792"/>
          </a:xfrm>
          <a:prstGeom prst="roundRect">
            <a:avLst>
              <a:gd name="adj" fmla="val 14706"/>
            </a:avLst>
          </a:prstGeom>
          <a:solidFill>
            <a:srgbClr val="0F2740"/>
          </a:solidFill>
          <a:ln w="12700">
            <a:solidFill>
              <a:srgbClr val="1E4463"/>
            </a:solidFill>
            <a:prstDash val="solid"/>
          </a:ln>
          <a:effectLst>
            <a:outerShdw sx="100000" sy="100000" kx="0" ky="0" algn="bl" rotWithShape="0" blurRad="177800" dist="38100" dir="5400000">
              <a:srgbClr val="000000">
                <a:alpha val="35000"/>
              </a:srgbClr>
            </a:outerShdw>
          </a:effectLst>
        </p:spPr>
      </p:sp>
      <p:sp>
        <p:nvSpPr>
          <p:cNvPr id="12" name="Text 10"/>
          <p:cNvSpPr/>
          <p:nvPr/>
        </p:nvSpPr>
        <p:spPr>
          <a:xfrm>
            <a:off x="6388456" y="1728216"/>
            <a:ext cx="1956816" cy="530352"/>
          </a:xfrm>
          <a:prstGeom prst="rect">
            <a:avLst/>
          </a:prstGeom>
          <a:noFill/>
          <a:ln/>
        </p:spPr>
        <p:txBody>
          <a:bodyPr wrap="square" lIns="0" tIns="0" rIns="0" bIns="0" rtlCol="0" anchor="ctr"/>
          <a:lstStyle/>
          <a:p>
            <a:pPr indent="0" marL="0">
              <a:buNone/>
            </a:pPr>
            <a:r>
              <a:rPr lang="en-US" sz="1050" dirty="0">
                <a:solidFill>
                  <a:srgbClr val="F8FAFC"/>
                </a:solidFill>
                <a:latin typeface="Calibri" pitchFamily="34" charset="0"/>
                <a:ea typeface="Calibri" pitchFamily="34" charset="-122"/>
                <a:cs typeface="Calibri" pitchFamily="34" charset="-120"/>
              </a:rPr>
              <a:t>Expanding a production facility</a:t>
            </a:r>
            <a:endParaRPr lang="en-US" sz="1050" dirty="0"/>
          </a:p>
        </p:txBody>
      </p:sp>
      <p:sp>
        <p:nvSpPr>
          <p:cNvPr id="13" name="Text 11"/>
          <p:cNvSpPr/>
          <p:nvPr/>
        </p:nvSpPr>
        <p:spPr>
          <a:xfrm>
            <a:off x="8381848" y="1728216"/>
            <a:ext cx="868680" cy="530352"/>
          </a:xfrm>
          <a:prstGeom prst="rect">
            <a:avLst/>
          </a:prstGeom>
          <a:noFill/>
          <a:ln/>
        </p:spPr>
        <p:txBody>
          <a:bodyPr wrap="square" lIns="0" tIns="0" rIns="0" bIns="0" rtlCol="0" anchor="ctr"/>
          <a:lstStyle/>
          <a:p>
            <a:pPr algn="r" indent="0" marL="0">
              <a:buNone/>
            </a:pPr>
            <a:r>
              <a:rPr lang="en-US" sz="1000" dirty="0">
                <a:solidFill>
                  <a:srgbClr val="94A3B8"/>
                </a:solidFill>
                <a:latin typeface="Calibri" pitchFamily="34" charset="0"/>
                <a:ea typeface="Calibri" pitchFamily="34" charset="-122"/>
                <a:cs typeface="Calibri" pitchFamily="34" charset="-120"/>
              </a:rPr>
              <a:t>AED 26.7M</a:t>
            </a:r>
            <a:endParaRPr lang="en-US" sz="1000" dirty="0"/>
          </a:p>
        </p:txBody>
      </p:sp>
      <p:sp>
        <p:nvSpPr>
          <p:cNvPr id="14" name="Text 12"/>
          <p:cNvSpPr/>
          <p:nvPr/>
        </p:nvSpPr>
        <p:spPr>
          <a:xfrm>
            <a:off x="9305392" y="1728216"/>
            <a:ext cx="914400" cy="530352"/>
          </a:xfrm>
          <a:prstGeom prst="rect">
            <a:avLst/>
          </a:prstGeom>
          <a:noFill/>
          <a:ln/>
        </p:spPr>
        <p:txBody>
          <a:bodyPr wrap="square" lIns="0" tIns="0" rIns="0" bIns="0" rtlCol="0" anchor="ctr"/>
          <a:lstStyle/>
          <a:p>
            <a:pPr algn="r" indent="0" marL="0">
              <a:buNone/>
            </a:pPr>
            <a:r>
              <a:rPr lang="en-US" sz="1300" b="1" dirty="0">
                <a:solidFill>
                  <a:srgbClr val="FBBF24"/>
                </a:solidFill>
                <a:latin typeface="Cambria" pitchFamily="34" charset="0"/>
                <a:ea typeface="Cambria" pitchFamily="34" charset="-122"/>
                <a:cs typeface="Cambria" pitchFamily="34" charset="-120"/>
              </a:rPr>
              <a:t>+7.28M</a:t>
            </a:r>
            <a:endParaRPr lang="en-US" sz="1300" dirty="0"/>
          </a:p>
        </p:txBody>
      </p:sp>
      <p:sp>
        <p:nvSpPr>
          <p:cNvPr id="15" name="Text 13"/>
          <p:cNvSpPr/>
          <p:nvPr/>
        </p:nvSpPr>
        <p:spPr>
          <a:xfrm>
            <a:off x="10274656" y="1728216"/>
            <a:ext cx="566928" cy="530352"/>
          </a:xfrm>
          <a:prstGeom prst="rect">
            <a:avLst/>
          </a:prstGeom>
          <a:noFill/>
          <a:ln/>
        </p:spPr>
        <p:txBody>
          <a:bodyPr wrap="square" lIns="0" tIns="0" rIns="0" bIns="0" rtlCol="0" anchor="ctr"/>
          <a:lstStyle/>
          <a:p>
            <a:pPr algn="r" indent="0" marL="0">
              <a:buNone/>
            </a:pPr>
            <a:r>
              <a:rPr lang="en-US" sz="1000" dirty="0">
                <a:solidFill>
                  <a:srgbClr val="CADCFC"/>
                </a:solidFill>
                <a:latin typeface="Calibri" pitchFamily="34" charset="0"/>
                <a:ea typeface="Calibri" pitchFamily="34" charset="-122"/>
                <a:cs typeface="Calibri" pitchFamily="34" charset="-120"/>
              </a:rPr>
              <a:t>16.4%</a:t>
            </a:r>
            <a:endParaRPr lang="en-US" sz="1000" dirty="0"/>
          </a:p>
        </p:txBody>
      </p:sp>
      <p:sp>
        <p:nvSpPr>
          <p:cNvPr id="16" name="Text 14"/>
          <p:cNvSpPr/>
          <p:nvPr/>
        </p:nvSpPr>
        <p:spPr>
          <a:xfrm>
            <a:off x="10887304" y="1728216"/>
            <a:ext cx="621792" cy="530352"/>
          </a:xfrm>
          <a:prstGeom prst="rect">
            <a:avLst/>
          </a:prstGeom>
          <a:noFill/>
          <a:ln/>
        </p:spPr>
        <p:txBody>
          <a:bodyPr wrap="square" lIns="0" tIns="0" rIns="0" bIns="0" rtlCol="0" anchor="ctr"/>
          <a:lstStyle/>
          <a:p>
            <a:pPr algn="r" indent="0" marL="0">
              <a:buNone/>
            </a:pPr>
            <a:r>
              <a:rPr lang="en-US" sz="1000" b="1" dirty="0">
                <a:solidFill>
                  <a:srgbClr val="FBBF24"/>
                </a:solidFill>
                <a:latin typeface="Calibri" pitchFamily="34" charset="0"/>
                <a:ea typeface="Calibri" pitchFamily="34" charset="-122"/>
                <a:cs typeface="Calibri" pitchFamily="34" charset="-120"/>
              </a:rPr>
              <a:t>Phased</a:t>
            </a:r>
            <a:endParaRPr lang="en-US" sz="1000" dirty="0"/>
          </a:p>
        </p:txBody>
      </p:sp>
      <p:sp>
        <p:nvSpPr>
          <p:cNvPr id="17" name="Shape 15"/>
          <p:cNvSpPr/>
          <p:nvPr/>
        </p:nvSpPr>
        <p:spPr>
          <a:xfrm>
            <a:off x="566928" y="2395728"/>
            <a:ext cx="5419192" cy="621792"/>
          </a:xfrm>
          <a:prstGeom prst="roundRect">
            <a:avLst>
              <a:gd name="adj" fmla="val 14706"/>
            </a:avLst>
          </a:prstGeom>
          <a:solidFill>
            <a:srgbClr val="0F2740"/>
          </a:solidFill>
          <a:ln w="12700">
            <a:solidFill>
              <a:srgbClr val="1E4463"/>
            </a:solidFill>
            <a:prstDash val="solid"/>
          </a:ln>
          <a:effectLst>
            <a:outerShdw sx="100000" sy="100000" kx="0" ky="0" algn="bl" rotWithShape="0" blurRad="177800" dist="38100" dir="5400000">
              <a:srgbClr val="000000">
                <a:alpha val="35000"/>
              </a:srgbClr>
            </a:outerShdw>
          </a:effectLst>
        </p:spPr>
      </p:sp>
      <p:sp>
        <p:nvSpPr>
          <p:cNvPr id="18" name="Text 16"/>
          <p:cNvSpPr/>
          <p:nvPr/>
        </p:nvSpPr>
        <p:spPr>
          <a:xfrm>
            <a:off x="749808" y="2441448"/>
            <a:ext cx="1956816" cy="530352"/>
          </a:xfrm>
          <a:prstGeom prst="rect">
            <a:avLst/>
          </a:prstGeom>
          <a:noFill/>
          <a:ln/>
        </p:spPr>
        <p:txBody>
          <a:bodyPr wrap="square" lIns="0" tIns="0" rIns="0" bIns="0" rtlCol="0" anchor="ctr"/>
          <a:lstStyle/>
          <a:p>
            <a:pPr indent="0" marL="0">
              <a:buNone/>
            </a:pPr>
            <a:r>
              <a:rPr lang="en-US" sz="1050" dirty="0">
                <a:solidFill>
                  <a:srgbClr val="F8FAFC"/>
                </a:solidFill>
                <a:latin typeface="Calibri" pitchFamily="34" charset="0"/>
                <a:ea typeface="Calibri" pitchFamily="34" charset="-122"/>
                <a:cs typeface="Calibri" pitchFamily="34" charset="-120"/>
              </a:rPr>
              <a:t>Purchasing new machinery</a:t>
            </a:r>
            <a:endParaRPr lang="en-US" sz="1050" dirty="0"/>
          </a:p>
        </p:txBody>
      </p:sp>
      <p:sp>
        <p:nvSpPr>
          <p:cNvPr id="19" name="Text 17"/>
          <p:cNvSpPr/>
          <p:nvPr/>
        </p:nvSpPr>
        <p:spPr>
          <a:xfrm>
            <a:off x="2743200" y="2441448"/>
            <a:ext cx="868680" cy="530352"/>
          </a:xfrm>
          <a:prstGeom prst="rect">
            <a:avLst/>
          </a:prstGeom>
          <a:noFill/>
          <a:ln/>
        </p:spPr>
        <p:txBody>
          <a:bodyPr wrap="square" lIns="0" tIns="0" rIns="0" bIns="0" rtlCol="0" anchor="ctr"/>
          <a:lstStyle/>
          <a:p>
            <a:pPr algn="r" indent="0" marL="0">
              <a:buNone/>
            </a:pPr>
            <a:r>
              <a:rPr lang="en-US" sz="1000" dirty="0">
                <a:solidFill>
                  <a:srgbClr val="94A3B8"/>
                </a:solidFill>
                <a:latin typeface="Calibri" pitchFamily="34" charset="0"/>
                <a:ea typeface="Calibri" pitchFamily="34" charset="-122"/>
                <a:cs typeface="Calibri" pitchFamily="34" charset="-120"/>
              </a:rPr>
              <a:t>AED 5.21M</a:t>
            </a:r>
            <a:endParaRPr lang="en-US" sz="1000" dirty="0"/>
          </a:p>
        </p:txBody>
      </p:sp>
      <p:sp>
        <p:nvSpPr>
          <p:cNvPr id="20" name="Text 18"/>
          <p:cNvSpPr/>
          <p:nvPr/>
        </p:nvSpPr>
        <p:spPr>
          <a:xfrm>
            <a:off x="3666744" y="2441448"/>
            <a:ext cx="914400" cy="530352"/>
          </a:xfrm>
          <a:prstGeom prst="rect">
            <a:avLst/>
          </a:prstGeom>
          <a:noFill/>
          <a:ln/>
        </p:spPr>
        <p:txBody>
          <a:bodyPr wrap="square" lIns="0" tIns="0" rIns="0" bIns="0" rtlCol="0" anchor="ctr"/>
          <a:lstStyle/>
          <a:p>
            <a:pPr algn="r" indent="0" marL="0">
              <a:buNone/>
            </a:pPr>
            <a:r>
              <a:rPr lang="en-US" sz="1300" b="1" dirty="0">
                <a:solidFill>
                  <a:srgbClr val="34D399"/>
                </a:solidFill>
                <a:latin typeface="Cambria" pitchFamily="34" charset="0"/>
                <a:ea typeface="Cambria" pitchFamily="34" charset="-122"/>
                <a:cs typeface="Cambria" pitchFamily="34" charset="-120"/>
              </a:rPr>
              <a:t>+1.57M</a:t>
            </a:r>
            <a:endParaRPr lang="en-US" sz="1300" dirty="0"/>
          </a:p>
        </p:txBody>
      </p:sp>
      <p:sp>
        <p:nvSpPr>
          <p:cNvPr id="21" name="Text 19"/>
          <p:cNvSpPr/>
          <p:nvPr/>
        </p:nvSpPr>
        <p:spPr>
          <a:xfrm>
            <a:off x="4636008" y="2441448"/>
            <a:ext cx="566928" cy="530352"/>
          </a:xfrm>
          <a:prstGeom prst="rect">
            <a:avLst/>
          </a:prstGeom>
          <a:noFill/>
          <a:ln/>
        </p:spPr>
        <p:txBody>
          <a:bodyPr wrap="square" lIns="0" tIns="0" rIns="0" bIns="0" rtlCol="0" anchor="ctr"/>
          <a:lstStyle/>
          <a:p>
            <a:pPr algn="r" indent="0" marL="0">
              <a:buNone/>
            </a:pPr>
            <a:r>
              <a:rPr lang="en-US" sz="1000" dirty="0">
                <a:solidFill>
                  <a:srgbClr val="CADCFC"/>
                </a:solidFill>
                <a:latin typeface="Calibri" pitchFamily="34" charset="0"/>
                <a:ea typeface="Calibri" pitchFamily="34" charset="-122"/>
                <a:cs typeface="Calibri" pitchFamily="34" charset="-120"/>
              </a:rPr>
              <a:t>18.9%</a:t>
            </a:r>
            <a:endParaRPr lang="en-US" sz="1000" dirty="0"/>
          </a:p>
        </p:txBody>
      </p:sp>
      <p:sp>
        <p:nvSpPr>
          <p:cNvPr id="22" name="Text 20"/>
          <p:cNvSpPr/>
          <p:nvPr/>
        </p:nvSpPr>
        <p:spPr>
          <a:xfrm>
            <a:off x="5248656" y="2441448"/>
            <a:ext cx="621792" cy="530352"/>
          </a:xfrm>
          <a:prstGeom prst="rect">
            <a:avLst/>
          </a:prstGeom>
          <a:noFill/>
          <a:ln/>
        </p:spPr>
        <p:txBody>
          <a:bodyPr wrap="square" lIns="0" tIns="0" rIns="0" bIns="0" rtlCol="0" anchor="ctr"/>
          <a:lstStyle/>
          <a:p>
            <a:pPr algn="r" indent="0" marL="0">
              <a:buNone/>
            </a:pPr>
            <a:r>
              <a:rPr lang="en-US" sz="1000" b="1" dirty="0">
                <a:solidFill>
                  <a:srgbClr val="34D399"/>
                </a:solidFill>
                <a:latin typeface="Calibri" pitchFamily="34" charset="0"/>
                <a:ea typeface="Calibri" pitchFamily="34" charset="-122"/>
                <a:cs typeface="Calibri" pitchFamily="34" charset="-120"/>
              </a:rPr>
              <a:t>Approve</a:t>
            </a:r>
            <a:endParaRPr lang="en-US" sz="1000" dirty="0"/>
          </a:p>
        </p:txBody>
      </p:sp>
      <p:sp>
        <p:nvSpPr>
          <p:cNvPr id="23" name="Shape 21"/>
          <p:cNvSpPr/>
          <p:nvPr/>
        </p:nvSpPr>
        <p:spPr>
          <a:xfrm>
            <a:off x="6205576" y="2395728"/>
            <a:ext cx="5419192" cy="621792"/>
          </a:xfrm>
          <a:prstGeom prst="roundRect">
            <a:avLst>
              <a:gd name="adj" fmla="val 14706"/>
            </a:avLst>
          </a:prstGeom>
          <a:solidFill>
            <a:srgbClr val="0F2740"/>
          </a:solidFill>
          <a:ln w="12700">
            <a:solidFill>
              <a:srgbClr val="1E4463"/>
            </a:solidFill>
            <a:prstDash val="solid"/>
          </a:ln>
          <a:effectLst>
            <a:outerShdw sx="100000" sy="100000" kx="0" ky="0" algn="bl" rotWithShape="0" blurRad="177800" dist="38100" dir="5400000">
              <a:srgbClr val="000000">
                <a:alpha val="35000"/>
              </a:srgbClr>
            </a:outerShdw>
          </a:effectLst>
        </p:spPr>
      </p:sp>
      <p:sp>
        <p:nvSpPr>
          <p:cNvPr id="24" name="Text 22"/>
          <p:cNvSpPr/>
          <p:nvPr/>
        </p:nvSpPr>
        <p:spPr>
          <a:xfrm>
            <a:off x="6388456" y="2441448"/>
            <a:ext cx="1956816" cy="530352"/>
          </a:xfrm>
          <a:prstGeom prst="rect">
            <a:avLst/>
          </a:prstGeom>
          <a:noFill/>
          <a:ln/>
        </p:spPr>
        <p:txBody>
          <a:bodyPr wrap="square" lIns="0" tIns="0" rIns="0" bIns="0" rtlCol="0" anchor="ctr"/>
          <a:lstStyle/>
          <a:p>
            <a:pPr indent="0" marL="0">
              <a:buNone/>
            </a:pPr>
            <a:r>
              <a:rPr lang="en-US" sz="1050" dirty="0">
                <a:solidFill>
                  <a:srgbClr val="F8FAFC"/>
                </a:solidFill>
                <a:latin typeface="Calibri" pitchFamily="34" charset="0"/>
                <a:ea typeface="Calibri" pitchFamily="34" charset="-122"/>
                <a:cs typeface="Calibri" pitchFamily="34" charset="-120"/>
              </a:rPr>
              <a:t>Building an AI platform</a:t>
            </a:r>
            <a:endParaRPr lang="en-US" sz="1050" dirty="0"/>
          </a:p>
        </p:txBody>
      </p:sp>
      <p:sp>
        <p:nvSpPr>
          <p:cNvPr id="25" name="Text 23"/>
          <p:cNvSpPr/>
          <p:nvPr/>
        </p:nvSpPr>
        <p:spPr>
          <a:xfrm>
            <a:off x="8381848" y="2441448"/>
            <a:ext cx="868680" cy="530352"/>
          </a:xfrm>
          <a:prstGeom prst="rect">
            <a:avLst/>
          </a:prstGeom>
          <a:noFill/>
          <a:ln/>
        </p:spPr>
        <p:txBody>
          <a:bodyPr wrap="square" lIns="0" tIns="0" rIns="0" bIns="0" rtlCol="0" anchor="ctr"/>
          <a:lstStyle/>
          <a:p>
            <a:pPr algn="r" indent="0" marL="0">
              <a:buNone/>
            </a:pPr>
            <a:r>
              <a:rPr lang="en-US" sz="1000" dirty="0">
                <a:solidFill>
                  <a:srgbClr val="94A3B8"/>
                </a:solidFill>
                <a:latin typeface="Calibri" pitchFamily="34" charset="0"/>
                <a:ea typeface="Calibri" pitchFamily="34" charset="-122"/>
                <a:cs typeface="Calibri" pitchFamily="34" charset="-120"/>
              </a:rPr>
              <a:t>AED 7.80M</a:t>
            </a:r>
            <a:endParaRPr lang="en-US" sz="1000" dirty="0"/>
          </a:p>
        </p:txBody>
      </p:sp>
      <p:sp>
        <p:nvSpPr>
          <p:cNvPr id="26" name="Text 24"/>
          <p:cNvSpPr/>
          <p:nvPr/>
        </p:nvSpPr>
        <p:spPr>
          <a:xfrm>
            <a:off x="9305392" y="2441448"/>
            <a:ext cx="914400" cy="530352"/>
          </a:xfrm>
          <a:prstGeom prst="rect">
            <a:avLst/>
          </a:prstGeom>
          <a:noFill/>
          <a:ln/>
        </p:spPr>
        <p:txBody>
          <a:bodyPr wrap="square" lIns="0" tIns="0" rIns="0" bIns="0" rtlCol="0" anchor="ctr"/>
          <a:lstStyle/>
          <a:p>
            <a:pPr algn="r" indent="0" marL="0">
              <a:buNone/>
            </a:pPr>
            <a:r>
              <a:rPr lang="en-US" sz="1300" b="1" dirty="0">
                <a:solidFill>
                  <a:srgbClr val="FBBF24"/>
                </a:solidFill>
                <a:latin typeface="Cambria" pitchFamily="34" charset="0"/>
                <a:ea typeface="Cambria" pitchFamily="34" charset="-122"/>
                <a:cs typeface="Cambria" pitchFamily="34" charset="-120"/>
              </a:rPr>
              <a:t>(0.01M)</a:t>
            </a:r>
            <a:endParaRPr lang="en-US" sz="1300" dirty="0"/>
          </a:p>
        </p:txBody>
      </p:sp>
      <p:sp>
        <p:nvSpPr>
          <p:cNvPr id="27" name="Text 25"/>
          <p:cNvSpPr/>
          <p:nvPr/>
        </p:nvSpPr>
        <p:spPr>
          <a:xfrm>
            <a:off x="10274656" y="2441448"/>
            <a:ext cx="566928" cy="530352"/>
          </a:xfrm>
          <a:prstGeom prst="rect">
            <a:avLst/>
          </a:prstGeom>
          <a:noFill/>
          <a:ln/>
        </p:spPr>
        <p:txBody>
          <a:bodyPr wrap="square" lIns="0" tIns="0" rIns="0" bIns="0" rtlCol="0" anchor="ctr"/>
          <a:lstStyle/>
          <a:p>
            <a:pPr algn="r" indent="0" marL="0">
              <a:buNone/>
            </a:pPr>
            <a:r>
              <a:rPr lang="en-US" sz="1000" dirty="0">
                <a:solidFill>
                  <a:srgbClr val="CADCFC"/>
                </a:solidFill>
                <a:latin typeface="Calibri" pitchFamily="34" charset="0"/>
                <a:ea typeface="Calibri" pitchFamily="34" charset="-122"/>
                <a:cs typeface="Calibri" pitchFamily="34" charset="-120"/>
              </a:rPr>
              <a:t>16.0%</a:t>
            </a:r>
            <a:endParaRPr lang="en-US" sz="1000" dirty="0"/>
          </a:p>
        </p:txBody>
      </p:sp>
      <p:sp>
        <p:nvSpPr>
          <p:cNvPr id="28" name="Text 26"/>
          <p:cNvSpPr/>
          <p:nvPr/>
        </p:nvSpPr>
        <p:spPr>
          <a:xfrm>
            <a:off x="10887304" y="2441448"/>
            <a:ext cx="621792" cy="530352"/>
          </a:xfrm>
          <a:prstGeom prst="rect">
            <a:avLst/>
          </a:prstGeom>
          <a:noFill/>
          <a:ln/>
        </p:spPr>
        <p:txBody>
          <a:bodyPr wrap="square" lIns="0" tIns="0" rIns="0" bIns="0" rtlCol="0" anchor="ctr"/>
          <a:lstStyle/>
          <a:p>
            <a:pPr algn="r" indent="0" marL="0">
              <a:buNone/>
            </a:pPr>
            <a:r>
              <a:rPr lang="en-US" sz="1000" b="1" dirty="0">
                <a:solidFill>
                  <a:srgbClr val="FBBF24"/>
                </a:solidFill>
                <a:latin typeface="Calibri" pitchFamily="34" charset="0"/>
                <a:ea typeface="Calibri" pitchFamily="34" charset="-122"/>
                <a:cs typeface="Calibri" pitchFamily="34" charset="-120"/>
              </a:rPr>
              <a:t>Delay</a:t>
            </a:r>
            <a:endParaRPr lang="en-US" sz="1000" dirty="0"/>
          </a:p>
        </p:txBody>
      </p:sp>
      <p:sp>
        <p:nvSpPr>
          <p:cNvPr id="29" name="Shape 27"/>
          <p:cNvSpPr/>
          <p:nvPr/>
        </p:nvSpPr>
        <p:spPr>
          <a:xfrm>
            <a:off x="566928" y="3108960"/>
            <a:ext cx="5419192" cy="621792"/>
          </a:xfrm>
          <a:prstGeom prst="roundRect">
            <a:avLst>
              <a:gd name="adj" fmla="val 14706"/>
            </a:avLst>
          </a:prstGeom>
          <a:solidFill>
            <a:srgbClr val="0F2740"/>
          </a:solidFill>
          <a:ln w="12700">
            <a:solidFill>
              <a:srgbClr val="1E4463"/>
            </a:solidFill>
            <a:prstDash val="solid"/>
          </a:ln>
          <a:effectLst>
            <a:outerShdw sx="100000" sy="100000" kx="0" ky="0" algn="bl" rotWithShape="0" blurRad="177800" dist="38100" dir="5400000">
              <a:srgbClr val="000000">
                <a:alpha val="35000"/>
              </a:srgbClr>
            </a:outerShdw>
          </a:effectLst>
        </p:spPr>
      </p:sp>
      <p:sp>
        <p:nvSpPr>
          <p:cNvPr id="30" name="Text 28"/>
          <p:cNvSpPr/>
          <p:nvPr/>
        </p:nvSpPr>
        <p:spPr>
          <a:xfrm>
            <a:off x="749808" y="3154680"/>
            <a:ext cx="1956816" cy="530352"/>
          </a:xfrm>
          <a:prstGeom prst="rect">
            <a:avLst/>
          </a:prstGeom>
          <a:noFill/>
          <a:ln/>
        </p:spPr>
        <p:txBody>
          <a:bodyPr wrap="square" lIns="0" tIns="0" rIns="0" bIns="0" rtlCol="0" anchor="ctr"/>
          <a:lstStyle/>
          <a:p>
            <a:pPr indent="0" marL="0">
              <a:buNone/>
            </a:pPr>
            <a:r>
              <a:rPr lang="en-US" sz="1050" dirty="0">
                <a:solidFill>
                  <a:srgbClr val="F8FAFC"/>
                </a:solidFill>
                <a:latin typeface="Calibri" pitchFamily="34" charset="0"/>
                <a:ea typeface="Calibri" pitchFamily="34" charset="-122"/>
                <a:cs typeface="Calibri" pitchFamily="34" charset="-120"/>
              </a:rPr>
              <a:t>Opening a new branch</a:t>
            </a:r>
            <a:endParaRPr lang="en-US" sz="1050" dirty="0"/>
          </a:p>
        </p:txBody>
      </p:sp>
      <p:sp>
        <p:nvSpPr>
          <p:cNvPr id="31" name="Text 29"/>
          <p:cNvSpPr/>
          <p:nvPr/>
        </p:nvSpPr>
        <p:spPr>
          <a:xfrm>
            <a:off x="2743200" y="3154680"/>
            <a:ext cx="868680" cy="530352"/>
          </a:xfrm>
          <a:prstGeom prst="rect">
            <a:avLst/>
          </a:prstGeom>
          <a:noFill/>
          <a:ln/>
        </p:spPr>
        <p:txBody>
          <a:bodyPr wrap="square" lIns="0" tIns="0" rIns="0" bIns="0" rtlCol="0" anchor="ctr"/>
          <a:lstStyle/>
          <a:p>
            <a:pPr algn="r" indent="0" marL="0">
              <a:buNone/>
            </a:pPr>
            <a:r>
              <a:rPr lang="en-US" sz="1000" dirty="0">
                <a:solidFill>
                  <a:srgbClr val="94A3B8"/>
                </a:solidFill>
                <a:latin typeface="Calibri" pitchFamily="34" charset="0"/>
                <a:ea typeface="Calibri" pitchFamily="34" charset="-122"/>
                <a:cs typeface="Calibri" pitchFamily="34" charset="-120"/>
              </a:rPr>
              <a:t>AED 6.80M</a:t>
            </a:r>
            <a:endParaRPr lang="en-US" sz="1000" dirty="0"/>
          </a:p>
        </p:txBody>
      </p:sp>
      <p:sp>
        <p:nvSpPr>
          <p:cNvPr id="32" name="Text 30"/>
          <p:cNvSpPr/>
          <p:nvPr/>
        </p:nvSpPr>
        <p:spPr>
          <a:xfrm>
            <a:off x="3666744" y="3154680"/>
            <a:ext cx="914400" cy="530352"/>
          </a:xfrm>
          <a:prstGeom prst="rect">
            <a:avLst/>
          </a:prstGeom>
          <a:noFill/>
          <a:ln/>
        </p:spPr>
        <p:txBody>
          <a:bodyPr wrap="square" lIns="0" tIns="0" rIns="0" bIns="0" rtlCol="0" anchor="ctr"/>
          <a:lstStyle/>
          <a:p>
            <a:pPr algn="r" indent="0" marL="0">
              <a:buNone/>
            </a:pPr>
            <a:r>
              <a:rPr lang="en-US" sz="1300" b="1" dirty="0">
                <a:solidFill>
                  <a:srgbClr val="FBBF24"/>
                </a:solidFill>
                <a:latin typeface="Cambria" pitchFamily="34" charset="0"/>
                <a:ea typeface="Cambria" pitchFamily="34" charset="-122"/>
                <a:cs typeface="Cambria" pitchFamily="34" charset="-120"/>
              </a:rPr>
              <a:t>(0.10M)</a:t>
            </a:r>
            <a:endParaRPr lang="en-US" sz="1300" dirty="0"/>
          </a:p>
        </p:txBody>
      </p:sp>
      <p:sp>
        <p:nvSpPr>
          <p:cNvPr id="33" name="Text 31"/>
          <p:cNvSpPr/>
          <p:nvPr/>
        </p:nvSpPr>
        <p:spPr>
          <a:xfrm>
            <a:off x="4636008" y="3154680"/>
            <a:ext cx="566928" cy="530352"/>
          </a:xfrm>
          <a:prstGeom prst="rect">
            <a:avLst/>
          </a:prstGeom>
          <a:noFill/>
          <a:ln/>
        </p:spPr>
        <p:txBody>
          <a:bodyPr wrap="square" lIns="0" tIns="0" rIns="0" bIns="0" rtlCol="0" anchor="ctr"/>
          <a:lstStyle/>
          <a:p>
            <a:pPr algn="r" indent="0" marL="0">
              <a:buNone/>
            </a:pPr>
            <a:r>
              <a:rPr lang="en-US" sz="1000" dirty="0">
                <a:solidFill>
                  <a:srgbClr val="CADCFC"/>
                </a:solidFill>
                <a:latin typeface="Calibri" pitchFamily="34" charset="0"/>
                <a:ea typeface="Calibri" pitchFamily="34" charset="-122"/>
                <a:cs typeface="Calibri" pitchFamily="34" charset="-120"/>
              </a:rPr>
              <a:t>12.1%</a:t>
            </a:r>
            <a:endParaRPr lang="en-US" sz="1000" dirty="0"/>
          </a:p>
        </p:txBody>
      </p:sp>
      <p:sp>
        <p:nvSpPr>
          <p:cNvPr id="34" name="Text 32"/>
          <p:cNvSpPr/>
          <p:nvPr/>
        </p:nvSpPr>
        <p:spPr>
          <a:xfrm>
            <a:off x="5248656" y="3154680"/>
            <a:ext cx="621792" cy="530352"/>
          </a:xfrm>
          <a:prstGeom prst="rect">
            <a:avLst/>
          </a:prstGeom>
          <a:noFill/>
          <a:ln/>
        </p:spPr>
        <p:txBody>
          <a:bodyPr wrap="square" lIns="0" tIns="0" rIns="0" bIns="0" rtlCol="0" anchor="ctr"/>
          <a:lstStyle/>
          <a:p>
            <a:pPr algn="r" indent="0" marL="0">
              <a:buNone/>
            </a:pPr>
            <a:r>
              <a:rPr lang="en-US" sz="1000" b="1" dirty="0">
                <a:solidFill>
                  <a:srgbClr val="FBBF24"/>
                </a:solidFill>
                <a:latin typeface="Calibri" pitchFamily="34" charset="0"/>
                <a:ea typeface="Calibri" pitchFamily="34" charset="-122"/>
                <a:cs typeface="Calibri" pitchFamily="34" charset="-120"/>
              </a:rPr>
              <a:t>Delay</a:t>
            </a:r>
            <a:endParaRPr lang="en-US" sz="1000" dirty="0"/>
          </a:p>
        </p:txBody>
      </p:sp>
      <p:sp>
        <p:nvSpPr>
          <p:cNvPr id="35" name="Shape 33"/>
          <p:cNvSpPr/>
          <p:nvPr/>
        </p:nvSpPr>
        <p:spPr>
          <a:xfrm>
            <a:off x="6205576" y="3108960"/>
            <a:ext cx="5419192" cy="621792"/>
          </a:xfrm>
          <a:prstGeom prst="roundRect">
            <a:avLst>
              <a:gd name="adj" fmla="val 14706"/>
            </a:avLst>
          </a:prstGeom>
          <a:solidFill>
            <a:srgbClr val="0F2740"/>
          </a:solidFill>
          <a:ln w="12700">
            <a:solidFill>
              <a:srgbClr val="1E4463"/>
            </a:solidFill>
            <a:prstDash val="solid"/>
          </a:ln>
          <a:effectLst>
            <a:outerShdw sx="100000" sy="100000" kx="0" ky="0" algn="bl" rotWithShape="0" blurRad="177800" dist="38100" dir="5400000">
              <a:srgbClr val="000000">
                <a:alpha val="35000"/>
              </a:srgbClr>
            </a:outerShdw>
          </a:effectLst>
        </p:spPr>
      </p:sp>
      <p:sp>
        <p:nvSpPr>
          <p:cNvPr id="36" name="Text 34"/>
          <p:cNvSpPr/>
          <p:nvPr/>
        </p:nvSpPr>
        <p:spPr>
          <a:xfrm>
            <a:off x="6388456" y="3154680"/>
            <a:ext cx="1956816" cy="530352"/>
          </a:xfrm>
          <a:prstGeom prst="rect">
            <a:avLst/>
          </a:prstGeom>
          <a:noFill/>
          <a:ln/>
        </p:spPr>
        <p:txBody>
          <a:bodyPr wrap="square" lIns="0" tIns="0" rIns="0" bIns="0" rtlCol="0" anchor="ctr"/>
          <a:lstStyle/>
          <a:p>
            <a:pPr indent="0" marL="0">
              <a:buNone/>
            </a:pPr>
            <a:r>
              <a:rPr lang="en-US" sz="1050" dirty="0">
                <a:solidFill>
                  <a:srgbClr val="F8FAFC"/>
                </a:solidFill>
                <a:latin typeface="Calibri" pitchFamily="34" charset="0"/>
                <a:ea typeface="Calibri" pitchFamily="34" charset="-122"/>
                <a:cs typeface="Calibri" pitchFamily="34" charset="-120"/>
              </a:rPr>
              <a:t>Introducing a new product</a:t>
            </a:r>
            <a:endParaRPr lang="en-US" sz="1050" dirty="0"/>
          </a:p>
        </p:txBody>
      </p:sp>
      <p:sp>
        <p:nvSpPr>
          <p:cNvPr id="37" name="Text 35"/>
          <p:cNvSpPr/>
          <p:nvPr/>
        </p:nvSpPr>
        <p:spPr>
          <a:xfrm>
            <a:off x="8381848" y="3154680"/>
            <a:ext cx="868680" cy="530352"/>
          </a:xfrm>
          <a:prstGeom prst="rect">
            <a:avLst/>
          </a:prstGeom>
          <a:noFill/>
          <a:ln/>
        </p:spPr>
        <p:txBody>
          <a:bodyPr wrap="square" lIns="0" tIns="0" rIns="0" bIns="0" rtlCol="0" anchor="ctr"/>
          <a:lstStyle/>
          <a:p>
            <a:pPr algn="r" indent="0" marL="0">
              <a:buNone/>
            </a:pPr>
            <a:r>
              <a:rPr lang="en-US" sz="1000" dirty="0">
                <a:solidFill>
                  <a:srgbClr val="94A3B8"/>
                </a:solidFill>
                <a:latin typeface="Calibri" pitchFamily="34" charset="0"/>
                <a:ea typeface="Calibri" pitchFamily="34" charset="-122"/>
                <a:cs typeface="Calibri" pitchFamily="34" charset="-120"/>
              </a:rPr>
              <a:t>AED 6.30M</a:t>
            </a:r>
            <a:endParaRPr lang="en-US" sz="1000" dirty="0"/>
          </a:p>
        </p:txBody>
      </p:sp>
      <p:sp>
        <p:nvSpPr>
          <p:cNvPr id="38" name="Text 36"/>
          <p:cNvSpPr/>
          <p:nvPr/>
        </p:nvSpPr>
        <p:spPr>
          <a:xfrm>
            <a:off x="9305392" y="3154680"/>
            <a:ext cx="914400" cy="530352"/>
          </a:xfrm>
          <a:prstGeom prst="rect">
            <a:avLst/>
          </a:prstGeom>
          <a:noFill/>
          <a:ln/>
        </p:spPr>
        <p:txBody>
          <a:bodyPr wrap="square" lIns="0" tIns="0" rIns="0" bIns="0" rtlCol="0" anchor="ctr"/>
          <a:lstStyle/>
          <a:p>
            <a:pPr algn="r" indent="0" marL="0">
              <a:buNone/>
            </a:pPr>
            <a:r>
              <a:rPr lang="en-US" sz="1300" b="1" dirty="0">
                <a:solidFill>
                  <a:srgbClr val="FBBF24"/>
                </a:solidFill>
                <a:latin typeface="Cambria" pitchFamily="34" charset="0"/>
                <a:ea typeface="Cambria" pitchFamily="34" charset="-122"/>
                <a:cs typeface="Cambria" pitchFamily="34" charset="-120"/>
              </a:rPr>
              <a:t>(0.55M)</a:t>
            </a:r>
            <a:endParaRPr lang="en-US" sz="1300" dirty="0"/>
          </a:p>
        </p:txBody>
      </p:sp>
      <p:sp>
        <p:nvSpPr>
          <p:cNvPr id="39" name="Text 37"/>
          <p:cNvSpPr/>
          <p:nvPr/>
        </p:nvSpPr>
        <p:spPr>
          <a:xfrm>
            <a:off x="10274656" y="3154680"/>
            <a:ext cx="566928" cy="530352"/>
          </a:xfrm>
          <a:prstGeom prst="rect">
            <a:avLst/>
          </a:prstGeom>
          <a:noFill/>
          <a:ln/>
        </p:spPr>
        <p:txBody>
          <a:bodyPr wrap="square" lIns="0" tIns="0" rIns="0" bIns="0" rtlCol="0" anchor="ctr"/>
          <a:lstStyle/>
          <a:p>
            <a:pPr algn="r" indent="0" marL="0">
              <a:buNone/>
            </a:pPr>
            <a:r>
              <a:rPr lang="en-US" sz="1000" dirty="0">
                <a:solidFill>
                  <a:srgbClr val="CADCFC"/>
                </a:solidFill>
                <a:latin typeface="Calibri" pitchFamily="34" charset="0"/>
                <a:ea typeface="Calibri" pitchFamily="34" charset="-122"/>
                <a:cs typeface="Calibri" pitchFamily="34" charset="-120"/>
              </a:rPr>
              <a:t>10.4%</a:t>
            </a:r>
            <a:endParaRPr lang="en-US" sz="1000" dirty="0"/>
          </a:p>
        </p:txBody>
      </p:sp>
      <p:sp>
        <p:nvSpPr>
          <p:cNvPr id="40" name="Text 38"/>
          <p:cNvSpPr/>
          <p:nvPr/>
        </p:nvSpPr>
        <p:spPr>
          <a:xfrm>
            <a:off x="10887304" y="3154680"/>
            <a:ext cx="621792" cy="530352"/>
          </a:xfrm>
          <a:prstGeom prst="rect">
            <a:avLst/>
          </a:prstGeom>
          <a:noFill/>
          <a:ln/>
        </p:spPr>
        <p:txBody>
          <a:bodyPr wrap="square" lIns="0" tIns="0" rIns="0" bIns="0" rtlCol="0" anchor="ctr"/>
          <a:lstStyle/>
          <a:p>
            <a:pPr algn="r" indent="0" marL="0">
              <a:buNone/>
            </a:pPr>
            <a:r>
              <a:rPr lang="en-US" sz="1000" b="1" dirty="0">
                <a:solidFill>
                  <a:srgbClr val="FBBF24"/>
                </a:solidFill>
                <a:latin typeface="Calibri" pitchFamily="34" charset="0"/>
                <a:ea typeface="Calibri" pitchFamily="34" charset="-122"/>
                <a:cs typeface="Calibri" pitchFamily="34" charset="-120"/>
              </a:rPr>
              <a:t>Delay</a:t>
            </a:r>
            <a:endParaRPr lang="en-US" sz="1000" dirty="0"/>
          </a:p>
        </p:txBody>
      </p:sp>
      <p:sp>
        <p:nvSpPr>
          <p:cNvPr id="41" name="Shape 39"/>
          <p:cNvSpPr/>
          <p:nvPr/>
        </p:nvSpPr>
        <p:spPr>
          <a:xfrm>
            <a:off x="566928" y="3822192"/>
            <a:ext cx="5419192" cy="621792"/>
          </a:xfrm>
          <a:prstGeom prst="roundRect">
            <a:avLst>
              <a:gd name="adj" fmla="val 14706"/>
            </a:avLst>
          </a:prstGeom>
          <a:solidFill>
            <a:srgbClr val="0F2740"/>
          </a:solidFill>
          <a:ln w="12700">
            <a:solidFill>
              <a:srgbClr val="1E4463"/>
            </a:solidFill>
            <a:prstDash val="solid"/>
          </a:ln>
          <a:effectLst>
            <a:outerShdw sx="100000" sy="100000" kx="0" ky="0" algn="bl" rotWithShape="0" blurRad="177800" dist="38100" dir="5400000">
              <a:srgbClr val="000000">
                <a:alpha val="35000"/>
              </a:srgbClr>
            </a:outerShdw>
          </a:effectLst>
        </p:spPr>
      </p:sp>
      <p:sp>
        <p:nvSpPr>
          <p:cNvPr id="42" name="Text 40"/>
          <p:cNvSpPr/>
          <p:nvPr/>
        </p:nvSpPr>
        <p:spPr>
          <a:xfrm>
            <a:off x="749808" y="3867912"/>
            <a:ext cx="1956816" cy="530352"/>
          </a:xfrm>
          <a:prstGeom prst="rect">
            <a:avLst/>
          </a:prstGeom>
          <a:noFill/>
          <a:ln/>
        </p:spPr>
        <p:txBody>
          <a:bodyPr wrap="square" lIns="0" tIns="0" rIns="0" bIns="0" rtlCol="0" anchor="ctr"/>
          <a:lstStyle/>
          <a:p>
            <a:pPr indent="0" marL="0">
              <a:buNone/>
            </a:pPr>
            <a:r>
              <a:rPr lang="en-US" sz="1050" dirty="0">
                <a:solidFill>
                  <a:srgbClr val="F8FAFC"/>
                </a:solidFill>
                <a:latin typeface="Calibri" pitchFamily="34" charset="0"/>
                <a:ea typeface="Calibri" pitchFamily="34" charset="-122"/>
                <a:cs typeface="Calibri" pitchFamily="34" charset="-120"/>
              </a:rPr>
              <a:t>Launching an online service</a:t>
            </a:r>
            <a:endParaRPr lang="en-US" sz="1050" dirty="0"/>
          </a:p>
        </p:txBody>
      </p:sp>
      <p:sp>
        <p:nvSpPr>
          <p:cNvPr id="43" name="Text 41"/>
          <p:cNvSpPr/>
          <p:nvPr/>
        </p:nvSpPr>
        <p:spPr>
          <a:xfrm>
            <a:off x="2743200" y="3867912"/>
            <a:ext cx="868680" cy="530352"/>
          </a:xfrm>
          <a:prstGeom prst="rect">
            <a:avLst/>
          </a:prstGeom>
          <a:noFill/>
          <a:ln/>
        </p:spPr>
        <p:txBody>
          <a:bodyPr wrap="square" lIns="0" tIns="0" rIns="0" bIns="0" rtlCol="0" anchor="ctr"/>
          <a:lstStyle/>
          <a:p>
            <a:pPr algn="r" indent="0" marL="0">
              <a:buNone/>
            </a:pPr>
            <a:r>
              <a:rPr lang="en-US" sz="1000" dirty="0">
                <a:solidFill>
                  <a:srgbClr val="94A3B8"/>
                </a:solidFill>
                <a:latin typeface="Calibri" pitchFamily="34" charset="0"/>
                <a:ea typeface="Calibri" pitchFamily="34" charset="-122"/>
                <a:cs typeface="Calibri" pitchFamily="34" charset="-120"/>
              </a:rPr>
              <a:t>AED 6.90M</a:t>
            </a:r>
            <a:endParaRPr lang="en-US" sz="1000" dirty="0"/>
          </a:p>
        </p:txBody>
      </p:sp>
      <p:sp>
        <p:nvSpPr>
          <p:cNvPr id="44" name="Text 42"/>
          <p:cNvSpPr/>
          <p:nvPr/>
        </p:nvSpPr>
        <p:spPr>
          <a:xfrm>
            <a:off x="3666744" y="3867912"/>
            <a:ext cx="914400" cy="530352"/>
          </a:xfrm>
          <a:prstGeom prst="rect">
            <a:avLst/>
          </a:prstGeom>
          <a:noFill/>
          <a:ln/>
        </p:spPr>
        <p:txBody>
          <a:bodyPr wrap="square" lIns="0" tIns="0" rIns="0" bIns="0" rtlCol="0" anchor="ctr"/>
          <a:lstStyle/>
          <a:p>
            <a:pPr algn="r" indent="0" marL="0">
              <a:buNone/>
            </a:pPr>
            <a:r>
              <a:rPr lang="en-US" sz="1300" b="1" dirty="0">
                <a:solidFill>
                  <a:srgbClr val="F87171"/>
                </a:solidFill>
                <a:latin typeface="Cambria" pitchFamily="34" charset="0"/>
                <a:ea typeface="Cambria" pitchFamily="34" charset="-122"/>
                <a:cs typeface="Cambria" pitchFamily="34" charset="-120"/>
              </a:rPr>
              <a:t>(1.49M)</a:t>
            </a:r>
            <a:endParaRPr lang="en-US" sz="1300" dirty="0"/>
          </a:p>
        </p:txBody>
      </p:sp>
      <p:sp>
        <p:nvSpPr>
          <p:cNvPr id="45" name="Text 43"/>
          <p:cNvSpPr/>
          <p:nvPr/>
        </p:nvSpPr>
        <p:spPr>
          <a:xfrm>
            <a:off x="4636008" y="3867912"/>
            <a:ext cx="566928" cy="530352"/>
          </a:xfrm>
          <a:prstGeom prst="rect">
            <a:avLst/>
          </a:prstGeom>
          <a:noFill/>
          <a:ln/>
        </p:spPr>
        <p:txBody>
          <a:bodyPr wrap="square" lIns="0" tIns="0" rIns="0" bIns="0" rtlCol="0" anchor="ctr"/>
          <a:lstStyle/>
          <a:p>
            <a:pPr algn="r" indent="0" marL="0">
              <a:buNone/>
            </a:pPr>
            <a:r>
              <a:rPr lang="en-US" sz="1000" dirty="0">
                <a:solidFill>
                  <a:srgbClr val="CADCFC"/>
                </a:solidFill>
                <a:latin typeface="Calibri" pitchFamily="34" charset="0"/>
                <a:ea typeface="Calibri" pitchFamily="34" charset="-122"/>
                <a:cs typeface="Calibri" pitchFamily="34" charset="-120"/>
              </a:rPr>
              <a:t>14.0%</a:t>
            </a:r>
            <a:endParaRPr lang="en-US" sz="1000" dirty="0"/>
          </a:p>
        </p:txBody>
      </p:sp>
      <p:sp>
        <p:nvSpPr>
          <p:cNvPr id="46" name="Text 44"/>
          <p:cNvSpPr/>
          <p:nvPr/>
        </p:nvSpPr>
        <p:spPr>
          <a:xfrm>
            <a:off x="5248656" y="3867912"/>
            <a:ext cx="621792" cy="530352"/>
          </a:xfrm>
          <a:prstGeom prst="rect">
            <a:avLst/>
          </a:prstGeom>
          <a:noFill/>
          <a:ln/>
        </p:spPr>
        <p:txBody>
          <a:bodyPr wrap="square" lIns="0" tIns="0" rIns="0" bIns="0" rtlCol="0" anchor="ctr"/>
          <a:lstStyle/>
          <a:p>
            <a:pPr algn="r" indent="0" marL="0">
              <a:buNone/>
            </a:pPr>
            <a:r>
              <a:rPr lang="en-US" sz="1000" b="1" dirty="0">
                <a:solidFill>
                  <a:srgbClr val="F87171"/>
                </a:solidFill>
                <a:latin typeface="Calibri" pitchFamily="34" charset="0"/>
                <a:ea typeface="Calibri" pitchFamily="34" charset="-122"/>
                <a:cs typeface="Calibri" pitchFamily="34" charset="-120"/>
              </a:rPr>
              <a:t>Reject</a:t>
            </a:r>
            <a:endParaRPr lang="en-US" sz="1000" dirty="0"/>
          </a:p>
        </p:txBody>
      </p:sp>
      <p:sp>
        <p:nvSpPr>
          <p:cNvPr id="47" name="Shape 45"/>
          <p:cNvSpPr/>
          <p:nvPr/>
        </p:nvSpPr>
        <p:spPr>
          <a:xfrm>
            <a:off x="6205576" y="3822192"/>
            <a:ext cx="5419192" cy="621792"/>
          </a:xfrm>
          <a:prstGeom prst="roundRect">
            <a:avLst>
              <a:gd name="adj" fmla="val 14706"/>
            </a:avLst>
          </a:prstGeom>
          <a:solidFill>
            <a:srgbClr val="0F2740"/>
          </a:solidFill>
          <a:ln w="12700">
            <a:solidFill>
              <a:srgbClr val="1E4463"/>
            </a:solidFill>
            <a:prstDash val="solid"/>
          </a:ln>
          <a:effectLst>
            <a:outerShdw sx="100000" sy="100000" kx="0" ky="0" algn="bl" rotWithShape="0" blurRad="177800" dist="38100" dir="5400000">
              <a:srgbClr val="000000">
                <a:alpha val="35000"/>
              </a:srgbClr>
            </a:outerShdw>
          </a:effectLst>
        </p:spPr>
      </p:sp>
      <p:sp>
        <p:nvSpPr>
          <p:cNvPr id="48" name="Text 46"/>
          <p:cNvSpPr/>
          <p:nvPr/>
        </p:nvSpPr>
        <p:spPr>
          <a:xfrm>
            <a:off x="6388456" y="3867912"/>
            <a:ext cx="1956816" cy="530352"/>
          </a:xfrm>
          <a:prstGeom prst="rect">
            <a:avLst/>
          </a:prstGeom>
          <a:noFill/>
          <a:ln/>
        </p:spPr>
        <p:txBody>
          <a:bodyPr wrap="square" lIns="0" tIns="0" rIns="0" bIns="0" rtlCol="0" anchor="ctr"/>
          <a:lstStyle/>
          <a:p>
            <a:pPr indent="0" marL="0">
              <a:buNone/>
            </a:pPr>
            <a:r>
              <a:rPr lang="en-US" sz="1050" dirty="0">
                <a:solidFill>
                  <a:srgbClr val="F8FAFC"/>
                </a:solidFill>
                <a:latin typeface="Calibri" pitchFamily="34" charset="0"/>
                <a:ea typeface="Calibri" pitchFamily="34" charset="-122"/>
                <a:cs typeface="Calibri" pitchFamily="34" charset="-120"/>
              </a:rPr>
              <a:t>Entering a new market</a:t>
            </a:r>
            <a:endParaRPr lang="en-US" sz="1050" dirty="0"/>
          </a:p>
        </p:txBody>
      </p:sp>
      <p:sp>
        <p:nvSpPr>
          <p:cNvPr id="49" name="Text 47"/>
          <p:cNvSpPr/>
          <p:nvPr/>
        </p:nvSpPr>
        <p:spPr>
          <a:xfrm>
            <a:off x="8381848" y="3867912"/>
            <a:ext cx="868680" cy="530352"/>
          </a:xfrm>
          <a:prstGeom prst="rect">
            <a:avLst/>
          </a:prstGeom>
          <a:noFill/>
          <a:ln/>
        </p:spPr>
        <p:txBody>
          <a:bodyPr wrap="square" lIns="0" tIns="0" rIns="0" bIns="0" rtlCol="0" anchor="ctr"/>
          <a:lstStyle/>
          <a:p>
            <a:pPr algn="r" indent="0" marL="0">
              <a:buNone/>
            </a:pPr>
            <a:r>
              <a:rPr lang="en-US" sz="1000" dirty="0">
                <a:solidFill>
                  <a:srgbClr val="94A3B8"/>
                </a:solidFill>
                <a:latin typeface="Calibri" pitchFamily="34" charset="0"/>
                <a:ea typeface="Calibri" pitchFamily="34" charset="-122"/>
                <a:cs typeface="Calibri" pitchFamily="34" charset="-120"/>
              </a:rPr>
              <a:t>AED 10.9M</a:t>
            </a:r>
            <a:endParaRPr lang="en-US" sz="1000" dirty="0"/>
          </a:p>
        </p:txBody>
      </p:sp>
      <p:sp>
        <p:nvSpPr>
          <p:cNvPr id="50" name="Text 48"/>
          <p:cNvSpPr/>
          <p:nvPr/>
        </p:nvSpPr>
        <p:spPr>
          <a:xfrm>
            <a:off x="9305392" y="3867912"/>
            <a:ext cx="914400" cy="530352"/>
          </a:xfrm>
          <a:prstGeom prst="rect">
            <a:avLst/>
          </a:prstGeom>
          <a:noFill/>
          <a:ln/>
        </p:spPr>
        <p:txBody>
          <a:bodyPr wrap="square" lIns="0" tIns="0" rIns="0" bIns="0" rtlCol="0" anchor="ctr"/>
          <a:lstStyle/>
          <a:p>
            <a:pPr algn="r" indent="0" marL="0">
              <a:buNone/>
            </a:pPr>
            <a:r>
              <a:rPr lang="en-US" sz="1300" b="1" dirty="0">
                <a:solidFill>
                  <a:srgbClr val="F87171"/>
                </a:solidFill>
                <a:latin typeface="Cambria" pitchFamily="34" charset="0"/>
                <a:ea typeface="Cambria" pitchFamily="34" charset="-122"/>
                <a:cs typeface="Cambria" pitchFamily="34" charset="-120"/>
              </a:rPr>
              <a:t>(2.21M)</a:t>
            </a:r>
            <a:endParaRPr lang="en-US" sz="1300" dirty="0"/>
          </a:p>
        </p:txBody>
      </p:sp>
      <p:sp>
        <p:nvSpPr>
          <p:cNvPr id="51" name="Text 49"/>
          <p:cNvSpPr/>
          <p:nvPr/>
        </p:nvSpPr>
        <p:spPr>
          <a:xfrm>
            <a:off x="10274656" y="3867912"/>
            <a:ext cx="566928" cy="530352"/>
          </a:xfrm>
          <a:prstGeom prst="rect">
            <a:avLst/>
          </a:prstGeom>
          <a:noFill/>
          <a:ln/>
        </p:spPr>
        <p:txBody>
          <a:bodyPr wrap="square" lIns="0" tIns="0" rIns="0" bIns="0" rtlCol="0" anchor="ctr"/>
          <a:lstStyle/>
          <a:p>
            <a:pPr algn="r" indent="0" marL="0">
              <a:buNone/>
            </a:pPr>
            <a:r>
              <a:rPr lang="en-US" sz="1000" dirty="0">
                <a:solidFill>
                  <a:srgbClr val="CADCFC"/>
                </a:solidFill>
                <a:latin typeface="Calibri" pitchFamily="34" charset="0"/>
                <a:ea typeface="Calibri" pitchFamily="34" charset="-122"/>
                <a:cs typeface="Calibri" pitchFamily="34" charset="-120"/>
              </a:rPr>
              <a:t>10.7%</a:t>
            </a:r>
            <a:endParaRPr lang="en-US" sz="1000" dirty="0"/>
          </a:p>
        </p:txBody>
      </p:sp>
      <p:sp>
        <p:nvSpPr>
          <p:cNvPr id="52" name="Text 50"/>
          <p:cNvSpPr/>
          <p:nvPr/>
        </p:nvSpPr>
        <p:spPr>
          <a:xfrm>
            <a:off x="10887304" y="3867912"/>
            <a:ext cx="621792" cy="530352"/>
          </a:xfrm>
          <a:prstGeom prst="rect">
            <a:avLst/>
          </a:prstGeom>
          <a:noFill/>
          <a:ln/>
        </p:spPr>
        <p:txBody>
          <a:bodyPr wrap="square" lIns="0" tIns="0" rIns="0" bIns="0" rtlCol="0" anchor="ctr"/>
          <a:lstStyle/>
          <a:p>
            <a:pPr algn="r" indent="0" marL="0">
              <a:buNone/>
            </a:pPr>
            <a:r>
              <a:rPr lang="en-US" sz="1000" b="1" dirty="0">
                <a:solidFill>
                  <a:srgbClr val="F87171"/>
                </a:solidFill>
                <a:latin typeface="Calibri" pitchFamily="34" charset="0"/>
                <a:ea typeface="Calibri" pitchFamily="34" charset="-122"/>
                <a:cs typeface="Calibri" pitchFamily="34" charset="-120"/>
              </a:rPr>
              <a:t>Reject</a:t>
            </a:r>
            <a:endParaRPr lang="en-US" sz="1000" dirty="0"/>
          </a:p>
        </p:txBody>
      </p:sp>
      <p:sp>
        <p:nvSpPr>
          <p:cNvPr id="53" name="Shape 51"/>
          <p:cNvSpPr/>
          <p:nvPr/>
        </p:nvSpPr>
        <p:spPr>
          <a:xfrm>
            <a:off x="566928" y="4553712"/>
            <a:ext cx="11057839" cy="1261872"/>
          </a:xfrm>
          <a:prstGeom prst="roundRect">
            <a:avLst>
              <a:gd name="adj" fmla="val 7246"/>
            </a:avLst>
          </a:prstGeom>
          <a:solidFill>
            <a:srgbClr val="13314E"/>
          </a:solidFill>
          <a:ln w="12700">
            <a:solidFill>
              <a:srgbClr val="1E4463"/>
            </a:solidFill>
            <a:prstDash val="solid"/>
          </a:ln>
          <a:effectLst>
            <a:outerShdw sx="100000" sy="100000" kx="0" ky="0" algn="bl" rotWithShape="0" blurRad="177800" dist="38100" dir="5400000">
              <a:srgbClr val="000000">
                <a:alpha val="35000"/>
              </a:srgbClr>
            </a:outerShdw>
          </a:effectLst>
        </p:spPr>
      </p:sp>
      <p:sp>
        <p:nvSpPr>
          <p:cNvPr id="54" name="Shape 52"/>
          <p:cNvSpPr/>
          <p:nvPr/>
        </p:nvSpPr>
        <p:spPr>
          <a:xfrm>
            <a:off x="822960" y="4736592"/>
            <a:ext cx="310896" cy="310896"/>
          </a:xfrm>
          <a:prstGeom prst="ellipse">
            <a:avLst/>
          </a:prstGeom>
          <a:solidFill>
            <a:srgbClr val="22D3EE"/>
          </a:solidFill>
          <a:ln w="12700">
            <a:solidFill>
              <a:srgbClr val="22D3EE"/>
            </a:solidFill>
            <a:prstDash val="solid"/>
          </a:ln>
        </p:spPr>
      </p:sp>
      <p:sp>
        <p:nvSpPr>
          <p:cNvPr id="55" name="Text 53"/>
          <p:cNvSpPr/>
          <p:nvPr/>
        </p:nvSpPr>
        <p:spPr>
          <a:xfrm>
            <a:off x="822960" y="4736592"/>
            <a:ext cx="310896" cy="310896"/>
          </a:xfrm>
          <a:prstGeom prst="rect">
            <a:avLst/>
          </a:prstGeom>
          <a:noFill/>
          <a:ln/>
        </p:spPr>
        <p:txBody>
          <a:bodyPr wrap="square" lIns="0" tIns="0" rIns="0" bIns="0" rtlCol="0" anchor="ctr"/>
          <a:lstStyle/>
          <a:p>
            <a:pPr algn="ctr" indent="0" marL="0">
              <a:buNone/>
            </a:pPr>
            <a:r>
              <a:rPr lang="en-US" sz="1300" b="1" dirty="0">
                <a:solidFill>
                  <a:srgbClr val="0B1A2E"/>
                </a:solidFill>
                <a:latin typeface="Calibri" pitchFamily="34" charset="0"/>
                <a:ea typeface="Calibri" pitchFamily="34" charset="-122"/>
                <a:cs typeface="Calibri" pitchFamily="34" charset="-120"/>
              </a:rPr>
              <a:t>✓</a:t>
            </a:r>
            <a:endParaRPr lang="en-US" sz="1300" dirty="0"/>
          </a:p>
        </p:txBody>
      </p:sp>
      <p:sp>
        <p:nvSpPr>
          <p:cNvPr id="56" name="Text 54"/>
          <p:cNvSpPr/>
          <p:nvPr/>
        </p:nvSpPr>
        <p:spPr>
          <a:xfrm>
            <a:off x="1261872" y="4718304"/>
            <a:ext cx="4937760" cy="292608"/>
          </a:xfrm>
          <a:prstGeom prst="rect">
            <a:avLst/>
          </a:prstGeom>
          <a:noFill/>
          <a:ln/>
        </p:spPr>
        <p:txBody>
          <a:bodyPr wrap="square" lIns="0" tIns="0" rIns="0" bIns="0" rtlCol="0" anchor="ctr"/>
          <a:lstStyle/>
          <a:p>
            <a:pPr indent="0" marL="0">
              <a:buNone/>
            </a:pPr>
            <a:r>
              <a:rPr lang="en-US" sz="1400" b="1" dirty="0">
                <a:solidFill>
                  <a:srgbClr val="F8FAFC"/>
                </a:solidFill>
                <a:latin typeface="Calibri" pitchFamily="34" charset="0"/>
                <a:ea typeface="Calibri" pitchFamily="34" charset="-122"/>
                <a:cs typeface="Calibri" pitchFamily="34" charset="-120"/>
              </a:rPr>
              <a:t>Five of the eight fail — deliberately</a:t>
            </a:r>
            <a:endParaRPr lang="en-US" sz="1400" dirty="0"/>
          </a:p>
        </p:txBody>
      </p:sp>
      <p:sp>
        <p:nvSpPr>
          <p:cNvPr id="57" name="Text 55"/>
          <p:cNvSpPr/>
          <p:nvPr/>
        </p:nvSpPr>
        <p:spPr>
          <a:xfrm>
            <a:off x="841248" y="5029200"/>
            <a:ext cx="10509199" cy="694944"/>
          </a:xfrm>
          <a:prstGeom prst="rect">
            <a:avLst/>
          </a:prstGeom>
          <a:noFill/>
          <a:ln/>
        </p:spPr>
        <p:txBody>
          <a:bodyPr wrap="square" lIns="0" tIns="0" rIns="0" bIns="0" rtlCol="0" anchor="ctr"/>
          <a:lstStyle/>
          <a:p>
            <a:pPr indent="0" marL="0">
              <a:buNone/>
            </a:pPr>
            <a:r>
              <a:rPr lang="en-US" sz="1150" dirty="0">
                <a:solidFill>
                  <a:srgbClr val="CADCFC"/>
                </a:solidFill>
                <a:latin typeface="Calibri" pitchFamily="34" charset="0"/>
                <a:ea typeface="Calibri" pitchFamily="34" charset="-122"/>
                <a:cs typeface="Calibri" pitchFamily="34" charset="-120"/>
              </a:rPr>
              <a:t>A template pack in which every archetype is comfortably profitable would demonstrate optimistic defaults, not a working engine. The AI platform case breaks even only because inference cost scales with usage; the new-branch case turns on ten percent cannibalisation; the online service dies on customer-acquisition-cost inflation. The flagship NovaRetail case reproduces its figures to the dirham after the refactor, verified by regression test.</a:t>
            </a:r>
            <a:endParaRPr lang="en-US" sz="11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1A2E"/>
        </a:solidFill>
      </p:bgPr>
    </p:bg>
    <p:spTree>
      <p:nvGrpSpPr>
        <p:cNvPr id="1" name=""/>
        <p:cNvGrpSpPr/>
        <p:nvPr/>
      </p:nvGrpSpPr>
      <p:grpSpPr>
        <a:xfrm>
          <a:off x="0" y="0"/>
          <a:ext cx="0" cy="0"/>
          <a:chOff x="0" y="0"/>
          <a:chExt cx="0" cy="0"/>
        </a:xfrm>
      </p:grpSpPr>
      <p:sp>
        <p:nvSpPr>
          <p:cNvPr id="2" name="Text 0"/>
          <p:cNvSpPr/>
          <p:nvPr/>
        </p:nvSpPr>
        <p:spPr>
          <a:xfrm>
            <a:off x="566928" y="310896"/>
            <a:ext cx="8680399" cy="237744"/>
          </a:xfrm>
          <a:prstGeom prst="rect">
            <a:avLst/>
          </a:prstGeom>
          <a:noFill/>
          <a:ln/>
        </p:spPr>
        <p:txBody>
          <a:bodyPr wrap="square" lIns="0" tIns="0" rIns="0" bIns="0" rtlCol="0" anchor="ctr"/>
          <a:lstStyle/>
          <a:p>
            <a:pPr indent="0" marL="0">
              <a:buNone/>
            </a:pPr>
            <a:r>
              <a:rPr lang="en-US" sz="1100" b="1" spc="200" kern="0" dirty="0">
                <a:solidFill>
                  <a:srgbClr val="22D3EE"/>
                </a:solidFill>
                <a:latin typeface="Calibri" pitchFamily="34" charset="0"/>
                <a:ea typeface="Calibri" pitchFamily="34" charset="-122"/>
                <a:cs typeface="Calibri" pitchFamily="34" charset="-120"/>
              </a:rPr>
              <a:t>ARTIFICIAL INTELLIGENCE</a:t>
            </a:r>
            <a:endParaRPr lang="en-US" sz="1100" dirty="0"/>
          </a:p>
        </p:txBody>
      </p:sp>
      <p:sp>
        <p:nvSpPr>
          <p:cNvPr id="3" name="Text 1"/>
          <p:cNvSpPr/>
          <p:nvPr/>
        </p:nvSpPr>
        <p:spPr>
          <a:xfrm>
            <a:off x="566928" y="548640"/>
            <a:ext cx="8680399" cy="566928"/>
          </a:xfrm>
          <a:prstGeom prst="rect">
            <a:avLst/>
          </a:prstGeom>
          <a:noFill/>
          <a:ln/>
        </p:spPr>
        <p:txBody>
          <a:bodyPr wrap="square" lIns="0" tIns="0" rIns="0" bIns="0" rtlCol="0" anchor="ctr"/>
          <a:lstStyle/>
          <a:p>
            <a:pPr indent="0" marL="0">
              <a:buNone/>
            </a:pPr>
            <a:r>
              <a:rPr lang="en-US" sz="3000" b="1" dirty="0">
                <a:solidFill>
                  <a:srgbClr val="F8FAFC"/>
                </a:solidFill>
                <a:latin typeface="Cambria" pitchFamily="34" charset="0"/>
                <a:ea typeface="Cambria" pitchFamily="34" charset="-122"/>
                <a:cs typeface="Cambria" pitchFamily="34" charset="-120"/>
              </a:rPr>
              <a:t>Ten AI capabilities — the first five</a:t>
            </a:r>
            <a:endParaRPr lang="en-US" sz="3000" dirty="0"/>
          </a:p>
        </p:txBody>
      </p:sp>
      <p:sp>
        <p:nvSpPr>
          <p:cNvPr id="4" name="Shape 2"/>
          <p:cNvSpPr/>
          <p:nvPr/>
        </p:nvSpPr>
        <p:spPr>
          <a:xfrm>
            <a:off x="9475927" y="384048"/>
            <a:ext cx="2148840" cy="384048"/>
          </a:xfrm>
          <a:prstGeom prst="roundRect">
            <a:avLst>
              <a:gd name="adj" fmla="val 50000"/>
            </a:avLst>
          </a:prstGeom>
          <a:solidFill>
            <a:srgbClr val="13314E"/>
          </a:solidFill>
          <a:ln w="12700">
            <a:solidFill>
              <a:srgbClr val="22D3EE"/>
            </a:solidFill>
            <a:prstDash val="solid"/>
          </a:ln>
        </p:spPr>
      </p:sp>
      <p:sp>
        <p:nvSpPr>
          <p:cNvPr id="5" name="Text 3"/>
          <p:cNvSpPr/>
          <p:nvPr/>
        </p:nvSpPr>
        <p:spPr>
          <a:xfrm>
            <a:off x="9475927" y="384048"/>
            <a:ext cx="2148840" cy="384048"/>
          </a:xfrm>
          <a:prstGeom prst="rect">
            <a:avLst/>
          </a:prstGeom>
          <a:noFill/>
          <a:ln/>
        </p:spPr>
        <p:txBody>
          <a:bodyPr wrap="square" lIns="0" tIns="0" rIns="0" bIns="0" rtlCol="0" anchor="ctr"/>
          <a:lstStyle/>
          <a:p>
            <a:pPr algn="ctr" indent="0" marL="0">
              <a:buNone/>
            </a:pPr>
            <a:r>
              <a:rPr lang="en-US" sz="1150" b="1" dirty="0">
                <a:solidFill>
                  <a:srgbClr val="22D3EE"/>
                </a:solidFill>
                <a:latin typeface="Calibri" pitchFamily="34" charset="0"/>
                <a:ea typeface="Calibri" pitchFamily="34" charset="-122"/>
                <a:cs typeface="Calibri" pitchFamily="34" charset="-120"/>
              </a:rPr>
              <a:t>QUESTION 4 · A</a:t>
            </a:r>
            <a:endParaRPr lang="en-US" sz="1150" dirty="0"/>
          </a:p>
        </p:txBody>
      </p:sp>
      <p:sp>
        <p:nvSpPr>
          <p:cNvPr id="6" name="Shape 4"/>
          <p:cNvSpPr/>
          <p:nvPr/>
        </p:nvSpPr>
        <p:spPr>
          <a:xfrm>
            <a:off x="566928" y="1426464"/>
            <a:ext cx="11057839" cy="768096"/>
          </a:xfrm>
          <a:prstGeom prst="roundRect">
            <a:avLst>
              <a:gd name="adj" fmla="val 11905"/>
            </a:avLst>
          </a:prstGeom>
          <a:solidFill>
            <a:srgbClr val="13314E"/>
          </a:solidFill>
          <a:ln w="12700">
            <a:solidFill>
              <a:srgbClr val="1E4463"/>
            </a:solidFill>
            <a:prstDash val="solid"/>
          </a:ln>
          <a:effectLst>
            <a:outerShdw sx="100000" sy="100000" kx="0" ky="0" algn="bl" rotWithShape="0" blurRad="177800" dist="38100" dir="5400000">
              <a:srgbClr val="000000">
                <a:alpha val="35000"/>
              </a:srgbClr>
            </a:outerShdw>
          </a:effectLst>
        </p:spPr>
      </p:sp>
      <p:sp>
        <p:nvSpPr>
          <p:cNvPr id="7" name="Shape 5"/>
          <p:cNvSpPr/>
          <p:nvPr/>
        </p:nvSpPr>
        <p:spPr>
          <a:xfrm>
            <a:off x="768096" y="1655064"/>
            <a:ext cx="310896" cy="310896"/>
          </a:xfrm>
          <a:prstGeom prst="ellipse">
            <a:avLst/>
          </a:prstGeom>
          <a:solidFill>
            <a:srgbClr val="22D3EE"/>
          </a:solidFill>
          <a:ln w="12700">
            <a:solidFill>
              <a:srgbClr val="22D3EE"/>
            </a:solidFill>
            <a:prstDash val="solid"/>
          </a:ln>
        </p:spPr>
      </p:sp>
      <p:sp>
        <p:nvSpPr>
          <p:cNvPr id="8" name="Text 6"/>
          <p:cNvSpPr/>
          <p:nvPr/>
        </p:nvSpPr>
        <p:spPr>
          <a:xfrm>
            <a:off x="768096" y="1655064"/>
            <a:ext cx="310896" cy="310896"/>
          </a:xfrm>
          <a:prstGeom prst="rect">
            <a:avLst/>
          </a:prstGeom>
          <a:noFill/>
          <a:ln/>
        </p:spPr>
        <p:txBody>
          <a:bodyPr wrap="square" lIns="0" tIns="0" rIns="0" bIns="0" rtlCol="0" anchor="ctr"/>
          <a:lstStyle/>
          <a:p>
            <a:pPr algn="ctr" indent="0" marL="0">
              <a:buNone/>
            </a:pPr>
            <a:r>
              <a:rPr lang="en-US" sz="1300" b="1" dirty="0">
                <a:solidFill>
                  <a:srgbClr val="0B1A2E"/>
                </a:solidFill>
                <a:latin typeface="Calibri" pitchFamily="34" charset="0"/>
                <a:ea typeface="Calibri" pitchFamily="34" charset="-122"/>
                <a:cs typeface="Calibri" pitchFamily="34" charset="-120"/>
              </a:rPr>
              <a:t>1</a:t>
            </a:r>
            <a:endParaRPr lang="en-US" sz="1300" dirty="0"/>
          </a:p>
        </p:txBody>
      </p:sp>
      <p:sp>
        <p:nvSpPr>
          <p:cNvPr id="9" name="Text 7"/>
          <p:cNvSpPr/>
          <p:nvPr/>
        </p:nvSpPr>
        <p:spPr>
          <a:xfrm>
            <a:off x="1188720" y="1481328"/>
            <a:ext cx="2011680" cy="585216"/>
          </a:xfrm>
          <a:prstGeom prst="rect">
            <a:avLst/>
          </a:prstGeom>
          <a:noFill/>
          <a:ln/>
        </p:spPr>
        <p:txBody>
          <a:bodyPr wrap="square" lIns="0" tIns="0" rIns="0" bIns="0" rtlCol="0" anchor="ctr"/>
          <a:lstStyle/>
          <a:p>
            <a:pPr indent="0" marL="0">
              <a:buNone/>
            </a:pPr>
            <a:r>
              <a:rPr lang="en-US" sz="1200" b="1" dirty="0">
                <a:solidFill>
                  <a:srgbClr val="22D3EE"/>
                </a:solidFill>
                <a:latin typeface="Calibri" pitchFamily="34" charset="0"/>
                <a:ea typeface="Calibri" pitchFamily="34" charset="-122"/>
                <a:cs typeface="Calibri" pitchFamily="34" charset="-120"/>
              </a:rPr>
              <a:t>Finance assistant</a:t>
            </a:r>
            <a:endParaRPr lang="en-US" sz="1200" dirty="0"/>
          </a:p>
        </p:txBody>
      </p:sp>
      <p:sp>
        <p:nvSpPr>
          <p:cNvPr id="10" name="Text 8"/>
          <p:cNvSpPr/>
          <p:nvPr/>
        </p:nvSpPr>
        <p:spPr>
          <a:xfrm>
            <a:off x="3236976" y="1481328"/>
            <a:ext cx="2697480" cy="585216"/>
          </a:xfrm>
          <a:prstGeom prst="rect">
            <a:avLst/>
          </a:prstGeom>
          <a:noFill/>
          <a:ln/>
        </p:spPr>
        <p:txBody>
          <a:bodyPr wrap="square" lIns="0" tIns="0" rIns="0" bIns="0" rtlCol="0" anchor="ctr"/>
          <a:lstStyle/>
          <a:p>
            <a:pPr indent="0" marL="0">
              <a:buNone/>
            </a:pPr>
            <a:r>
              <a:rPr lang="en-US" sz="1050" dirty="0">
                <a:solidFill>
                  <a:srgbClr val="F8FAFC"/>
                </a:solidFill>
                <a:latin typeface="Calibri" pitchFamily="34" charset="0"/>
                <a:ea typeface="Calibri" pitchFamily="34" charset="-122"/>
                <a:cs typeface="Calibri" pitchFamily="34" charset="-120"/>
              </a:rPr>
              <a:t>Answers free-text questions about the live model</a:t>
            </a:r>
            <a:endParaRPr lang="en-US" sz="1050" dirty="0"/>
          </a:p>
        </p:txBody>
      </p:sp>
      <p:sp>
        <p:nvSpPr>
          <p:cNvPr id="11" name="Text 9"/>
          <p:cNvSpPr/>
          <p:nvPr/>
        </p:nvSpPr>
        <p:spPr>
          <a:xfrm>
            <a:off x="6236208" y="1481328"/>
            <a:ext cx="2423160" cy="585216"/>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Assumptions and computed metrics as injected context</a:t>
            </a:r>
            <a:endParaRPr lang="en-US" sz="1000" dirty="0"/>
          </a:p>
        </p:txBody>
      </p:sp>
      <p:sp>
        <p:nvSpPr>
          <p:cNvPr id="12" name="Text 10"/>
          <p:cNvSpPr/>
          <p:nvPr/>
        </p:nvSpPr>
        <p:spPr>
          <a:xfrm>
            <a:off x="8961120" y="1481328"/>
            <a:ext cx="2468880" cy="585216"/>
          </a:xfrm>
          <a:prstGeom prst="rect">
            <a:avLst/>
          </a:prstGeom>
          <a:noFill/>
          <a:ln/>
        </p:spPr>
        <p:txBody>
          <a:bodyPr wrap="square" lIns="0" tIns="0" rIns="0" bIns="0" rtlCol="0" anchor="ctr"/>
          <a:lstStyle/>
          <a:p>
            <a:pPr indent="0" marL="0">
              <a:buNone/>
            </a:pPr>
            <a:r>
              <a:rPr lang="en-US" sz="1000" i="1" dirty="0">
                <a:solidFill>
                  <a:srgbClr val="94A3B8"/>
                </a:solidFill>
                <a:latin typeface="Calibri" pitchFamily="34" charset="0"/>
                <a:ea typeface="Calibri" pitchFamily="34" charset="-122"/>
                <a:cs typeface="Calibri" pitchFamily="34" charset="-120"/>
              </a:rPr>
              <a:t>May misread ambiguous questions; not auditable line by line</a:t>
            </a:r>
            <a:endParaRPr lang="en-US" sz="1000" dirty="0"/>
          </a:p>
        </p:txBody>
      </p:sp>
      <p:sp>
        <p:nvSpPr>
          <p:cNvPr id="13" name="Shape 11"/>
          <p:cNvSpPr/>
          <p:nvPr/>
        </p:nvSpPr>
        <p:spPr>
          <a:xfrm>
            <a:off x="566928" y="2286000"/>
            <a:ext cx="11057839" cy="768096"/>
          </a:xfrm>
          <a:prstGeom prst="roundRect">
            <a:avLst>
              <a:gd name="adj" fmla="val 11905"/>
            </a:avLst>
          </a:prstGeom>
          <a:solidFill>
            <a:srgbClr val="0F2740"/>
          </a:solidFill>
          <a:ln w="12700">
            <a:solidFill>
              <a:srgbClr val="1E4463"/>
            </a:solidFill>
            <a:prstDash val="solid"/>
          </a:ln>
          <a:effectLst>
            <a:outerShdw sx="100000" sy="100000" kx="0" ky="0" algn="bl" rotWithShape="0" blurRad="177800" dist="38100" dir="5400000">
              <a:srgbClr val="000000">
                <a:alpha val="35000"/>
              </a:srgbClr>
            </a:outerShdw>
          </a:effectLst>
        </p:spPr>
      </p:sp>
      <p:sp>
        <p:nvSpPr>
          <p:cNvPr id="14" name="Shape 12"/>
          <p:cNvSpPr/>
          <p:nvPr/>
        </p:nvSpPr>
        <p:spPr>
          <a:xfrm>
            <a:off x="768096" y="2514600"/>
            <a:ext cx="310896" cy="310896"/>
          </a:xfrm>
          <a:prstGeom prst="ellipse">
            <a:avLst/>
          </a:prstGeom>
          <a:solidFill>
            <a:srgbClr val="22D3EE"/>
          </a:solidFill>
          <a:ln w="12700">
            <a:solidFill>
              <a:srgbClr val="22D3EE"/>
            </a:solidFill>
            <a:prstDash val="solid"/>
          </a:ln>
        </p:spPr>
      </p:sp>
      <p:sp>
        <p:nvSpPr>
          <p:cNvPr id="15" name="Text 13"/>
          <p:cNvSpPr/>
          <p:nvPr/>
        </p:nvSpPr>
        <p:spPr>
          <a:xfrm>
            <a:off x="768096" y="2514600"/>
            <a:ext cx="310896" cy="310896"/>
          </a:xfrm>
          <a:prstGeom prst="rect">
            <a:avLst/>
          </a:prstGeom>
          <a:noFill/>
          <a:ln/>
        </p:spPr>
        <p:txBody>
          <a:bodyPr wrap="square" lIns="0" tIns="0" rIns="0" bIns="0" rtlCol="0" anchor="ctr"/>
          <a:lstStyle/>
          <a:p>
            <a:pPr algn="ctr" indent="0" marL="0">
              <a:buNone/>
            </a:pPr>
            <a:r>
              <a:rPr lang="en-US" sz="1300" b="1" dirty="0">
                <a:solidFill>
                  <a:srgbClr val="0B1A2E"/>
                </a:solidFill>
                <a:latin typeface="Calibri" pitchFamily="34" charset="0"/>
                <a:ea typeface="Calibri" pitchFamily="34" charset="-122"/>
                <a:cs typeface="Calibri" pitchFamily="34" charset="-120"/>
              </a:rPr>
              <a:t>2</a:t>
            </a:r>
            <a:endParaRPr lang="en-US" sz="1300" dirty="0"/>
          </a:p>
        </p:txBody>
      </p:sp>
      <p:sp>
        <p:nvSpPr>
          <p:cNvPr id="16" name="Text 14"/>
          <p:cNvSpPr/>
          <p:nvPr/>
        </p:nvSpPr>
        <p:spPr>
          <a:xfrm>
            <a:off x="1188720" y="2340864"/>
            <a:ext cx="2011680" cy="585216"/>
          </a:xfrm>
          <a:prstGeom prst="rect">
            <a:avLst/>
          </a:prstGeom>
          <a:noFill/>
          <a:ln/>
        </p:spPr>
        <p:txBody>
          <a:bodyPr wrap="square" lIns="0" tIns="0" rIns="0" bIns="0" rtlCol="0" anchor="ctr"/>
          <a:lstStyle/>
          <a:p>
            <a:pPr indent="0" marL="0">
              <a:buNone/>
            </a:pPr>
            <a:r>
              <a:rPr lang="en-US" sz="1200" b="1" dirty="0">
                <a:solidFill>
                  <a:srgbClr val="22D3EE"/>
                </a:solidFill>
                <a:latin typeface="Calibri" pitchFamily="34" charset="0"/>
                <a:ea typeface="Calibri" pitchFamily="34" charset="-122"/>
                <a:cs typeface="Calibri" pitchFamily="34" charset="-120"/>
              </a:rPr>
              <a:t>Result explanation</a:t>
            </a:r>
            <a:endParaRPr lang="en-US" sz="1200" dirty="0"/>
          </a:p>
        </p:txBody>
      </p:sp>
      <p:sp>
        <p:nvSpPr>
          <p:cNvPr id="17" name="Text 15"/>
          <p:cNvSpPr/>
          <p:nvPr/>
        </p:nvSpPr>
        <p:spPr>
          <a:xfrm>
            <a:off x="3236976" y="2340864"/>
            <a:ext cx="2697480" cy="585216"/>
          </a:xfrm>
          <a:prstGeom prst="rect">
            <a:avLst/>
          </a:prstGeom>
          <a:noFill/>
          <a:ln/>
        </p:spPr>
        <p:txBody>
          <a:bodyPr wrap="square" lIns="0" tIns="0" rIns="0" bIns="0" rtlCol="0" anchor="ctr"/>
          <a:lstStyle/>
          <a:p>
            <a:pPr indent="0" marL="0">
              <a:buNone/>
            </a:pPr>
            <a:r>
              <a:rPr lang="en-US" sz="1050" dirty="0">
                <a:solidFill>
                  <a:srgbClr val="F8FAFC"/>
                </a:solidFill>
                <a:latin typeface="Calibri" pitchFamily="34" charset="0"/>
                <a:ea typeface="Calibri" pitchFamily="34" charset="-122"/>
                <a:cs typeface="Calibri" pitchFamily="34" charset="-120"/>
              </a:rPr>
              <a:t>Explains why a metric moved</a:t>
            </a:r>
            <a:endParaRPr lang="en-US" sz="1050" dirty="0"/>
          </a:p>
        </p:txBody>
      </p:sp>
      <p:sp>
        <p:nvSpPr>
          <p:cNvPr id="18" name="Text 16"/>
          <p:cNvSpPr/>
          <p:nvPr/>
        </p:nvSpPr>
        <p:spPr>
          <a:xfrm>
            <a:off x="6236208" y="2340864"/>
            <a:ext cx="2423160" cy="585216"/>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Before-and-after metric pair</a:t>
            </a:r>
            <a:endParaRPr lang="en-US" sz="1000" dirty="0"/>
          </a:p>
        </p:txBody>
      </p:sp>
      <p:sp>
        <p:nvSpPr>
          <p:cNvPr id="19" name="Text 17"/>
          <p:cNvSpPr/>
          <p:nvPr/>
        </p:nvSpPr>
        <p:spPr>
          <a:xfrm>
            <a:off x="8961120" y="2340864"/>
            <a:ext cx="2468880" cy="585216"/>
          </a:xfrm>
          <a:prstGeom prst="rect">
            <a:avLst/>
          </a:prstGeom>
          <a:noFill/>
          <a:ln/>
        </p:spPr>
        <p:txBody>
          <a:bodyPr wrap="square" lIns="0" tIns="0" rIns="0" bIns="0" rtlCol="0" anchor="ctr"/>
          <a:lstStyle/>
          <a:p>
            <a:pPr indent="0" marL="0">
              <a:buNone/>
            </a:pPr>
            <a:r>
              <a:rPr lang="en-US" sz="1000" i="1" dirty="0">
                <a:solidFill>
                  <a:srgbClr val="94A3B8"/>
                </a:solidFill>
                <a:latin typeface="Calibri" pitchFamily="34" charset="0"/>
                <a:ea typeface="Calibri" pitchFamily="34" charset="-122"/>
                <a:cs typeface="Calibri" pitchFamily="34" charset="-120"/>
              </a:rPr>
              <a:t>Correlation can be narrated as causation</a:t>
            </a:r>
            <a:endParaRPr lang="en-US" sz="1000" dirty="0"/>
          </a:p>
        </p:txBody>
      </p:sp>
      <p:sp>
        <p:nvSpPr>
          <p:cNvPr id="20" name="Shape 18"/>
          <p:cNvSpPr/>
          <p:nvPr/>
        </p:nvSpPr>
        <p:spPr>
          <a:xfrm>
            <a:off x="566928" y="3145536"/>
            <a:ext cx="11057839" cy="768096"/>
          </a:xfrm>
          <a:prstGeom prst="roundRect">
            <a:avLst>
              <a:gd name="adj" fmla="val 11905"/>
            </a:avLst>
          </a:prstGeom>
          <a:solidFill>
            <a:srgbClr val="13314E"/>
          </a:solidFill>
          <a:ln w="12700">
            <a:solidFill>
              <a:srgbClr val="1E4463"/>
            </a:solidFill>
            <a:prstDash val="solid"/>
          </a:ln>
          <a:effectLst>
            <a:outerShdw sx="100000" sy="100000" kx="0" ky="0" algn="bl" rotWithShape="0" blurRad="177800" dist="38100" dir="5400000">
              <a:srgbClr val="000000">
                <a:alpha val="35000"/>
              </a:srgbClr>
            </a:outerShdw>
          </a:effectLst>
        </p:spPr>
      </p:sp>
      <p:sp>
        <p:nvSpPr>
          <p:cNvPr id="21" name="Shape 19"/>
          <p:cNvSpPr/>
          <p:nvPr/>
        </p:nvSpPr>
        <p:spPr>
          <a:xfrm>
            <a:off x="768096" y="3374136"/>
            <a:ext cx="310896" cy="310896"/>
          </a:xfrm>
          <a:prstGeom prst="ellipse">
            <a:avLst/>
          </a:prstGeom>
          <a:solidFill>
            <a:srgbClr val="22D3EE"/>
          </a:solidFill>
          <a:ln w="12700">
            <a:solidFill>
              <a:srgbClr val="22D3EE"/>
            </a:solidFill>
            <a:prstDash val="solid"/>
          </a:ln>
        </p:spPr>
      </p:sp>
      <p:sp>
        <p:nvSpPr>
          <p:cNvPr id="22" name="Text 20"/>
          <p:cNvSpPr/>
          <p:nvPr/>
        </p:nvSpPr>
        <p:spPr>
          <a:xfrm>
            <a:off x="768096" y="3374136"/>
            <a:ext cx="310896" cy="310896"/>
          </a:xfrm>
          <a:prstGeom prst="rect">
            <a:avLst/>
          </a:prstGeom>
          <a:noFill/>
          <a:ln/>
        </p:spPr>
        <p:txBody>
          <a:bodyPr wrap="square" lIns="0" tIns="0" rIns="0" bIns="0" rtlCol="0" anchor="ctr"/>
          <a:lstStyle/>
          <a:p>
            <a:pPr algn="ctr" indent="0" marL="0">
              <a:buNone/>
            </a:pPr>
            <a:r>
              <a:rPr lang="en-US" sz="1300" b="1" dirty="0">
                <a:solidFill>
                  <a:srgbClr val="0B1A2E"/>
                </a:solidFill>
                <a:latin typeface="Calibri" pitchFamily="34" charset="0"/>
                <a:ea typeface="Calibri" pitchFamily="34" charset="-122"/>
                <a:cs typeface="Calibri" pitchFamily="34" charset="-120"/>
              </a:rPr>
              <a:t>3</a:t>
            </a:r>
            <a:endParaRPr lang="en-US" sz="1300" dirty="0"/>
          </a:p>
        </p:txBody>
      </p:sp>
      <p:sp>
        <p:nvSpPr>
          <p:cNvPr id="23" name="Text 21"/>
          <p:cNvSpPr/>
          <p:nvPr/>
        </p:nvSpPr>
        <p:spPr>
          <a:xfrm>
            <a:off x="1188720" y="3200400"/>
            <a:ext cx="2011680" cy="585216"/>
          </a:xfrm>
          <a:prstGeom prst="rect">
            <a:avLst/>
          </a:prstGeom>
          <a:noFill/>
          <a:ln/>
        </p:spPr>
        <p:txBody>
          <a:bodyPr wrap="square" lIns="0" tIns="0" rIns="0" bIns="0" rtlCol="0" anchor="ctr"/>
          <a:lstStyle/>
          <a:p>
            <a:pPr indent="0" marL="0">
              <a:buNone/>
            </a:pPr>
            <a:r>
              <a:rPr lang="en-US" sz="1200" b="1" dirty="0">
                <a:solidFill>
                  <a:srgbClr val="22D3EE"/>
                </a:solidFill>
                <a:latin typeface="Calibri" pitchFamily="34" charset="0"/>
                <a:ea typeface="Calibri" pitchFamily="34" charset="-122"/>
                <a:cs typeface="Calibri" pitchFamily="34" charset="-120"/>
              </a:rPr>
              <a:t>Board recommendation</a:t>
            </a:r>
            <a:endParaRPr lang="en-US" sz="1200" dirty="0"/>
          </a:p>
        </p:txBody>
      </p:sp>
      <p:sp>
        <p:nvSpPr>
          <p:cNvPr id="24" name="Text 22"/>
          <p:cNvSpPr/>
          <p:nvPr/>
        </p:nvSpPr>
        <p:spPr>
          <a:xfrm>
            <a:off x="3236976" y="3200400"/>
            <a:ext cx="2697480" cy="585216"/>
          </a:xfrm>
          <a:prstGeom prst="rect">
            <a:avLst/>
          </a:prstGeom>
          <a:noFill/>
          <a:ln/>
        </p:spPr>
        <p:txBody>
          <a:bodyPr wrap="square" lIns="0" tIns="0" rIns="0" bIns="0" rtlCol="0" anchor="ctr"/>
          <a:lstStyle/>
          <a:p>
            <a:pPr indent="0" marL="0">
              <a:buNone/>
            </a:pPr>
            <a:r>
              <a:rPr lang="en-US" sz="1050" dirty="0">
                <a:solidFill>
                  <a:srgbClr val="F8FAFC"/>
                </a:solidFill>
                <a:latin typeface="Calibri" pitchFamily="34" charset="0"/>
                <a:ea typeface="Calibri" pitchFamily="34" charset="-122"/>
                <a:cs typeface="Calibri" pitchFamily="34" charset="-120"/>
              </a:rPr>
              <a:t>Drafts a structured decision with drivers, risks and controls</a:t>
            </a:r>
            <a:endParaRPr lang="en-US" sz="1050" dirty="0"/>
          </a:p>
        </p:txBody>
      </p:sp>
      <p:sp>
        <p:nvSpPr>
          <p:cNvPr id="25" name="Text 23"/>
          <p:cNvSpPr/>
          <p:nvPr/>
        </p:nvSpPr>
        <p:spPr>
          <a:xfrm>
            <a:off x="6236208" y="3200400"/>
            <a:ext cx="2423160" cy="585216"/>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Validated metrics, scenarios and risk alerts</a:t>
            </a:r>
            <a:endParaRPr lang="en-US" sz="1000" dirty="0"/>
          </a:p>
        </p:txBody>
      </p:sp>
      <p:sp>
        <p:nvSpPr>
          <p:cNvPr id="26" name="Text 24"/>
          <p:cNvSpPr/>
          <p:nvPr/>
        </p:nvSpPr>
        <p:spPr>
          <a:xfrm>
            <a:off x="8961120" y="3200400"/>
            <a:ext cx="2468880" cy="585216"/>
          </a:xfrm>
          <a:prstGeom prst="rect">
            <a:avLst/>
          </a:prstGeom>
          <a:noFill/>
          <a:ln/>
        </p:spPr>
        <p:txBody>
          <a:bodyPr wrap="square" lIns="0" tIns="0" rIns="0" bIns="0" rtlCol="0" anchor="ctr"/>
          <a:lstStyle/>
          <a:p>
            <a:pPr indent="0" marL="0">
              <a:buNone/>
            </a:pPr>
            <a:r>
              <a:rPr lang="en-US" sz="1000" i="1" dirty="0">
                <a:solidFill>
                  <a:srgbClr val="94A3B8"/>
                </a:solidFill>
                <a:latin typeface="Calibri" pitchFamily="34" charset="0"/>
                <a:ea typeface="Calibri" pitchFamily="34" charset="-122"/>
                <a:cs typeface="Calibri" pitchFamily="34" charset="-120"/>
              </a:rPr>
              <a:t>Will write a confident memo from poor inputs — sign-off mandatory</a:t>
            </a:r>
            <a:endParaRPr lang="en-US" sz="1000" dirty="0"/>
          </a:p>
        </p:txBody>
      </p:sp>
      <p:sp>
        <p:nvSpPr>
          <p:cNvPr id="27" name="Shape 25"/>
          <p:cNvSpPr/>
          <p:nvPr/>
        </p:nvSpPr>
        <p:spPr>
          <a:xfrm>
            <a:off x="566928" y="4005072"/>
            <a:ext cx="11057839" cy="768096"/>
          </a:xfrm>
          <a:prstGeom prst="roundRect">
            <a:avLst>
              <a:gd name="adj" fmla="val 11905"/>
            </a:avLst>
          </a:prstGeom>
          <a:solidFill>
            <a:srgbClr val="0F2740"/>
          </a:solidFill>
          <a:ln w="12700">
            <a:solidFill>
              <a:srgbClr val="1E4463"/>
            </a:solidFill>
            <a:prstDash val="solid"/>
          </a:ln>
          <a:effectLst>
            <a:outerShdw sx="100000" sy="100000" kx="0" ky="0" algn="bl" rotWithShape="0" blurRad="177800" dist="38100" dir="5400000">
              <a:srgbClr val="000000">
                <a:alpha val="35000"/>
              </a:srgbClr>
            </a:outerShdw>
          </a:effectLst>
        </p:spPr>
      </p:sp>
      <p:sp>
        <p:nvSpPr>
          <p:cNvPr id="28" name="Shape 26"/>
          <p:cNvSpPr/>
          <p:nvPr/>
        </p:nvSpPr>
        <p:spPr>
          <a:xfrm>
            <a:off x="768096" y="4233672"/>
            <a:ext cx="310896" cy="310896"/>
          </a:xfrm>
          <a:prstGeom prst="ellipse">
            <a:avLst/>
          </a:prstGeom>
          <a:solidFill>
            <a:srgbClr val="22D3EE"/>
          </a:solidFill>
          <a:ln w="12700">
            <a:solidFill>
              <a:srgbClr val="22D3EE"/>
            </a:solidFill>
            <a:prstDash val="solid"/>
          </a:ln>
        </p:spPr>
      </p:sp>
      <p:sp>
        <p:nvSpPr>
          <p:cNvPr id="29" name="Text 27"/>
          <p:cNvSpPr/>
          <p:nvPr/>
        </p:nvSpPr>
        <p:spPr>
          <a:xfrm>
            <a:off x="768096" y="4233672"/>
            <a:ext cx="310896" cy="310896"/>
          </a:xfrm>
          <a:prstGeom prst="rect">
            <a:avLst/>
          </a:prstGeom>
          <a:noFill/>
          <a:ln/>
        </p:spPr>
        <p:txBody>
          <a:bodyPr wrap="square" lIns="0" tIns="0" rIns="0" bIns="0" rtlCol="0" anchor="ctr"/>
          <a:lstStyle/>
          <a:p>
            <a:pPr algn="ctr" indent="0" marL="0">
              <a:buNone/>
            </a:pPr>
            <a:r>
              <a:rPr lang="en-US" sz="1300" b="1" dirty="0">
                <a:solidFill>
                  <a:srgbClr val="0B1A2E"/>
                </a:solidFill>
                <a:latin typeface="Calibri" pitchFamily="34" charset="0"/>
                <a:ea typeface="Calibri" pitchFamily="34" charset="-122"/>
                <a:cs typeface="Calibri" pitchFamily="34" charset="-120"/>
              </a:rPr>
              <a:t>4</a:t>
            </a:r>
            <a:endParaRPr lang="en-US" sz="1300" dirty="0"/>
          </a:p>
        </p:txBody>
      </p:sp>
      <p:sp>
        <p:nvSpPr>
          <p:cNvPr id="30" name="Text 28"/>
          <p:cNvSpPr/>
          <p:nvPr/>
        </p:nvSpPr>
        <p:spPr>
          <a:xfrm>
            <a:off x="1188720" y="4059936"/>
            <a:ext cx="2011680" cy="585216"/>
          </a:xfrm>
          <a:prstGeom prst="rect">
            <a:avLst/>
          </a:prstGeom>
          <a:noFill/>
          <a:ln/>
        </p:spPr>
        <p:txBody>
          <a:bodyPr wrap="square" lIns="0" tIns="0" rIns="0" bIns="0" rtlCol="0" anchor="ctr"/>
          <a:lstStyle/>
          <a:p>
            <a:pPr indent="0" marL="0">
              <a:buNone/>
            </a:pPr>
            <a:r>
              <a:rPr lang="en-US" sz="1200" b="1" dirty="0">
                <a:solidFill>
                  <a:srgbClr val="22D3EE"/>
                </a:solidFill>
                <a:latin typeface="Calibri" pitchFamily="34" charset="0"/>
                <a:ea typeface="Calibri" pitchFamily="34" charset="-122"/>
                <a:cs typeface="Calibri" pitchFamily="34" charset="-120"/>
              </a:rPr>
              <a:t>Threat radar</a:t>
            </a:r>
            <a:endParaRPr lang="en-US" sz="1200" dirty="0"/>
          </a:p>
        </p:txBody>
      </p:sp>
      <p:sp>
        <p:nvSpPr>
          <p:cNvPr id="31" name="Text 29"/>
          <p:cNvSpPr/>
          <p:nvPr/>
        </p:nvSpPr>
        <p:spPr>
          <a:xfrm>
            <a:off x="3236976" y="4059936"/>
            <a:ext cx="2697480" cy="585216"/>
          </a:xfrm>
          <a:prstGeom prst="rect">
            <a:avLst/>
          </a:prstGeom>
          <a:noFill/>
          <a:ln/>
        </p:spPr>
        <p:txBody>
          <a:bodyPr wrap="square" lIns="0" tIns="0" rIns="0" bIns="0" rtlCol="0" anchor="ctr"/>
          <a:lstStyle/>
          <a:p>
            <a:pPr indent="0" marL="0">
              <a:buNone/>
            </a:pPr>
            <a:r>
              <a:rPr lang="en-US" sz="1050" dirty="0">
                <a:solidFill>
                  <a:srgbClr val="F8FAFC"/>
                </a:solidFill>
                <a:latin typeface="Calibri" pitchFamily="34" charset="0"/>
                <a:ea typeface="Calibri" pitchFamily="34" charset="-122"/>
                <a:cs typeface="Calibri" pitchFamily="34" charset="-120"/>
              </a:rPr>
              <a:t>Ranks risk axes specific to the investment archetype</a:t>
            </a:r>
            <a:endParaRPr lang="en-US" sz="1050" dirty="0"/>
          </a:p>
        </p:txBody>
      </p:sp>
      <p:sp>
        <p:nvSpPr>
          <p:cNvPr id="32" name="Text 30"/>
          <p:cNvSpPr/>
          <p:nvPr/>
        </p:nvSpPr>
        <p:spPr>
          <a:xfrm>
            <a:off x="6236208" y="4059936"/>
            <a:ext cx="2423160" cy="585216"/>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Archetype profile plus computed metrics</a:t>
            </a:r>
            <a:endParaRPr lang="en-US" sz="1000" dirty="0"/>
          </a:p>
        </p:txBody>
      </p:sp>
      <p:sp>
        <p:nvSpPr>
          <p:cNvPr id="33" name="Text 31"/>
          <p:cNvSpPr/>
          <p:nvPr/>
        </p:nvSpPr>
        <p:spPr>
          <a:xfrm>
            <a:off x="8961120" y="4059936"/>
            <a:ext cx="2468880" cy="585216"/>
          </a:xfrm>
          <a:prstGeom prst="rect">
            <a:avLst/>
          </a:prstGeom>
          <a:noFill/>
          <a:ln/>
        </p:spPr>
        <p:txBody>
          <a:bodyPr wrap="square" lIns="0" tIns="0" rIns="0" bIns="0" rtlCol="0" anchor="ctr"/>
          <a:lstStyle/>
          <a:p>
            <a:pPr indent="0" marL="0">
              <a:buNone/>
            </a:pPr>
            <a:r>
              <a:rPr lang="en-US" sz="1000" i="1" dirty="0">
                <a:solidFill>
                  <a:srgbClr val="94A3B8"/>
                </a:solidFill>
                <a:latin typeface="Calibri" pitchFamily="34" charset="0"/>
                <a:ea typeface="Calibri" pitchFamily="34" charset="-122"/>
                <a:cs typeface="Calibri" pitchFamily="34" charset="-120"/>
              </a:rPr>
              <a:t>Only detects risks encoded in its priors</a:t>
            </a:r>
            <a:endParaRPr lang="en-US" sz="1000" dirty="0"/>
          </a:p>
        </p:txBody>
      </p:sp>
      <p:sp>
        <p:nvSpPr>
          <p:cNvPr id="34" name="Shape 32"/>
          <p:cNvSpPr/>
          <p:nvPr/>
        </p:nvSpPr>
        <p:spPr>
          <a:xfrm>
            <a:off x="566928" y="4864608"/>
            <a:ext cx="11057839" cy="768096"/>
          </a:xfrm>
          <a:prstGeom prst="roundRect">
            <a:avLst>
              <a:gd name="adj" fmla="val 11905"/>
            </a:avLst>
          </a:prstGeom>
          <a:solidFill>
            <a:srgbClr val="13314E"/>
          </a:solidFill>
          <a:ln w="12700">
            <a:solidFill>
              <a:srgbClr val="1E4463"/>
            </a:solidFill>
            <a:prstDash val="solid"/>
          </a:ln>
          <a:effectLst>
            <a:outerShdw sx="100000" sy="100000" kx="0" ky="0" algn="bl" rotWithShape="0" blurRad="177800" dist="38100" dir="5400000">
              <a:srgbClr val="000000">
                <a:alpha val="35000"/>
              </a:srgbClr>
            </a:outerShdw>
          </a:effectLst>
        </p:spPr>
      </p:sp>
      <p:sp>
        <p:nvSpPr>
          <p:cNvPr id="35" name="Shape 33"/>
          <p:cNvSpPr/>
          <p:nvPr/>
        </p:nvSpPr>
        <p:spPr>
          <a:xfrm>
            <a:off x="768096" y="5093208"/>
            <a:ext cx="310896" cy="310896"/>
          </a:xfrm>
          <a:prstGeom prst="ellipse">
            <a:avLst/>
          </a:prstGeom>
          <a:solidFill>
            <a:srgbClr val="22D3EE"/>
          </a:solidFill>
          <a:ln w="12700">
            <a:solidFill>
              <a:srgbClr val="22D3EE"/>
            </a:solidFill>
            <a:prstDash val="solid"/>
          </a:ln>
        </p:spPr>
      </p:sp>
      <p:sp>
        <p:nvSpPr>
          <p:cNvPr id="36" name="Text 34"/>
          <p:cNvSpPr/>
          <p:nvPr/>
        </p:nvSpPr>
        <p:spPr>
          <a:xfrm>
            <a:off x="768096" y="5093208"/>
            <a:ext cx="310896" cy="310896"/>
          </a:xfrm>
          <a:prstGeom prst="rect">
            <a:avLst/>
          </a:prstGeom>
          <a:noFill/>
          <a:ln/>
        </p:spPr>
        <p:txBody>
          <a:bodyPr wrap="square" lIns="0" tIns="0" rIns="0" bIns="0" rtlCol="0" anchor="ctr"/>
          <a:lstStyle/>
          <a:p>
            <a:pPr algn="ctr" indent="0" marL="0">
              <a:buNone/>
            </a:pPr>
            <a:r>
              <a:rPr lang="en-US" sz="1300" b="1" dirty="0">
                <a:solidFill>
                  <a:srgbClr val="0B1A2E"/>
                </a:solidFill>
                <a:latin typeface="Calibri" pitchFamily="34" charset="0"/>
                <a:ea typeface="Calibri" pitchFamily="34" charset="-122"/>
                <a:cs typeface="Calibri" pitchFamily="34" charset="-120"/>
              </a:rPr>
              <a:t>5</a:t>
            </a:r>
            <a:endParaRPr lang="en-US" sz="1300" dirty="0"/>
          </a:p>
        </p:txBody>
      </p:sp>
      <p:sp>
        <p:nvSpPr>
          <p:cNvPr id="37" name="Text 35"/>
          <p:cNvSpPr/>
          <p:nvPr/>
        </p:nvSpPr>
        <p:spPr>
          <a:xfrm>
            <a:off x="1188720" y="4919472"/>
            <a:ext cx="2011680" cy="585216"/>
          </a:xfrm>
          <a:prstGeom prst="rect">
            <a:avLst/>
          </a:prstGeom>
          <a:noFill/>
          <a:ln/>
        </p:spPr>
        <p:txBody>
          <a:bodyPr wrap="square" lIns="0" tIns="0" rIns="0" bIns="0" rtlCol="0" anchor="ctr"/>
          <a:lstStyle/>
          <a:p>
            <a:pPr indent="0" marL="0">
              <a:buNone/>
            </a:pPr>
            <a:r>
              <a:rPr lang="en-US" sz="1200" b="1" dirty="0">
                <a:solidFill>
                  <a:srgbClr val="22D3EE"/>
                </a:solidFill>
                <a:latin typeface="Calibri" pitchFamily="34" charset="0"/>
                <a:ea typeface="Calibri" pitchFamily="34" charset="-122"/>
                <a:cs typeface="Calibri" pitchFamily="34" charset="-120"/>
              </a:rPr>
              <a:t>Board debate</a:t>
            </a:r>
            <a:endParaRPr lang="en-US" sz="1200" dirty="0"/>
          </a:p>
        </p:txBody>
      </p:sp>
      <p:sp>
        <p:nvSpPr>
          <p:cNvPr id="38" name="Text 36"/>
          <p:cNvSpPr/>
          <p:nvPr/>
        </p:nvSpPr>
        <p:spPr>
          <a:xfrm>
            <a:off x="3236976" y="4919472"/>
            <a:ext cx="2697480" cy="585216"/>
          </a:xfrm>
          <a:prstGeom prst="rect">
            <a:avLst/>
          </a:prstGeom>
          <a:noFill/>
          <a:ln/>
        </p:spPr>
        <p:txBody>
          <a:bodyPr wrap="square" lIns="0" tIns="0" rIns="0" bIns="0" rtlCol="0" anchor="ctr"/>
          <a:lstStyle/>
          <a:p>
            <a:pPr indent="0" marL="0">
              <a:buNone/>
            </a:pPr>
            <a:r>
              <a:rPr lang="en-US" sz="1050" dirty="0">
                <a:solidFill>
                  <a:srgbClr val="F8FAFC"/>
                </a:solidFill>
                <a:latin typeface="Calibri" pitchFamily="34" charset="0"/>
                <a:ea typeface="Calibri" pitchFamily="34" charset="-122"/>
                <a:cs typeface="Calibri" pitchFamily="34" charset="-120"/>
              </a:rPr>
              <a:t>Simulates CFO, COO, Risk Officer and a sceptical non-executive</a:t>
            </a:r>
            <a:endParaRPr lang="en-US" sz="1050" dirty="0"/>
          </a:p>
        </p:txBody>
      </p:sp>
      <p:sp>
        <p:nvSpPr>
          <p:cNvPr id="39" name="Text 37"/>
          <p:cNvSpPr/>
          <p:nvPr/>
        </p:nvSpPr>
        <p:spPr>
          <a:xfrm>
            <a:off x="6236208" y="4919472"/>
            <a:ext cx="2423160" cy="585216"/>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Metrics, scenario set, archetype persona slants</a:t>
            </a:r>
            <a:endParaRPr lang="en-US" sz="1000" dirty="0"/>
          </a:p>
        </p:txBody>
      </p:sp>
      <p:sp>
        <p:nvSpPr>
          <p:cNvPr id="40" name="Text 38"/>
          <p:cNvSpPr/>
          <p:nvPr/>
        </p:nvSpPr>
        <p:spPr>
          <a:xfrm>
            <a:off x="8961120" y="4919472"/>
            <a:ext cx="2468880" cy="585216"/>
          </a:xfrm>
          <a:prstGeom prst="rect">
            <a:avLst/>
          </a:prstGeom>
          <a:noFill/>
          <a:ln/>
        </p:spPr>
        <p:txBody>
          <a:bodyPr wrap="square" lIns="0" tIns="0" rIns="0" bIns="0" rtlCol="0" anchor="ctr"/>
          <a:lstStyle/>
          <a:p>
            <a:pPr indent="0" marL="0">
              <a:buNone/>
            </a:pPr>
            <a:r>
              <a:rPr lang="en-US" sz="1000" i="1" dirty="0">
                <a:solidFill>
                  <a:srgbClr val="94A3B8"/>
                </a:solidFill>
                <a:latin typeface="Calibri" pitchFamily="34" charset="0"/>
                <a:ea typeface="Calibri" pitchFamily="34" charset="-122"/>
                <a:cs typeface="Calibri" pitchFamily="34" charset="-120"/>
              </a:rPr>
              <a:t>Simulated dissent is not real governance</a:t>
            </a:r>
            <a:endParaRPr lang="en-US" sz="1000" dirty="0"/>
          </a:p>
        </p:txBody>
      </p:sp>
      <p:sp>
        <p:nvSpPr>
          <p:cNvPr id="41" name="Text 39"/>
          <p:cNvSpPr/>
          <p:nvPr/>
        </p:nvSpPr>
        <p:spPr>
          <a:xfrm>
            <a:off x="1188720" y="1188720"/>
            <a:ext cx="2011680" cy="219456"/>
          </a:xfrm>
          <a:prstGeom prst="rect">
            <a:avLst/>
          </a:prstGeom>
          <a:noFill/>
          <a:ln/>
        </p:spPr>
        <p:txBody>
          <a:bodyPr wrap="square" lIns="0" tIns="0" rIns="0" bIns="0" rtlCol="0" anchor="ctr"/>
          <a:lstStyle/>
          <a:p>
            <a:pPr indent="0" marL="0">
              <a:buNone/>
            </a:pPr>
            <a:r>
              <a:rPr lang="en-US" sz="900" b="1" spc="120" kern="0" dirty="0">
                <a:solidFill>
                  <a:srgbClr val="94A3B8"/>
                </a:solidFill>
                <a:latin typeface="Calibri" pitchFamily="34" charset="0"/>
                <a:ea typeface="Calibri" pitchFamily="34" charset="-122"/>
                <a:cs typeface="Calibri" pitchFamily="34" charset="-120"/>
              </a:rPr>
              <a:t>Capability</a:t>
            </a:r>
            <a:endParaRPr lang="en-US" sz="900" dirty="0"/>
          </a:p>
        </p:txBody>
      </p:sp>
      <p:sp>
        <p:nvSpPr>
          <p:cNvPr id="42" name="Text 40"/>
          <p:cNvSpPr/>
          <p:nvPr/>
        </p:nvSpPr>
        <p:spPr>
          <a:xfrm>
            <a:off x="3236976" y="1188720"/>
            <a:ext cx="2697480" cy="219456"/>
          </a:xfrm>
          <a:prstGeom prst="rect">
            <a:avLst/>
          </a:prstGeom>
          <a:noFill/>
          <a:ln/>
        </p:spPr>
        <p:txBody>
          <a:bodyPr wrap="square" lIns="0" tIns="0" rIns="0" bIns="0" rtlCol="0" anchor="ctr"/>
          <a:lstStyle/>
          <a:p>
            <a:pPr indent="0" marL="0">
              <a:buNone/>
            </a:pPr>
            <a:r>
              <a:rPr lang="en-US" sz="900" b="1" spc="120" kern="0" dirty="0">
                <a:solidFill>
                  <a:srgbClr val="94A3B8"/>
                </a:solidFill>
                <a:latin typeface="Calibri" pitchFamily="34" charset="0"/>
                <a:ea typeface="Calibri" pitchFamily="34" charset="-122"/>
                <a:cs typeface="Calibri" pitchFamily="34" charset="-120"/>
              </a:rPr>
              <a:t>What it does</a:t>
            </a:r>
            <a:endParaRPr lang="en-US" sz="900" dirty="0"/>
          </a:p>
        </p:txBody>
      </p:sp>
      <p:sp>
        <p:nvSpPr>
          <p:cNvPr id="43" name="Text 41"/>
          <p:cNvSpPr/>
          <p:nvPr/>
        </p:nvSpPr>
        <p:spPr>
          <a:xfrm>
            <a:off x="6236208" y="1188720"/>
            <a:ext cx="2423160" cy="219456"/>
          </a:xfrm>
          <a:prstGeom prst="rect">
            <a:avLst/>
          </a:prstGeom>
          <a:noFill/>
          <a:ln/>
        </p:spPr>
        <p:txBody>
          <a:bodyPr wrap="square" lIns="0" tIns="0" rIns="0" bIns="0" rtlCol="0" anchor="ctr"/>
          <a:lstStyle/>
          <a:p>
            <a:pPr indent="0" marL="0">
              <a:buNone/>
            </a:pPr>
            <a:r>
              <a:rPr lang="en-US" sz="900" b="1" spc="120" kern="0" dirty="0">
                <a:solidFill>
                  <a:srgbClr val="94A3B8"/>
                </a:solidFill>
                <a:latin typeface="Calibri" pitchFamily="34" charset="0"/>
                <a:ea typeface="Calibri" pitchFamily="34" charset="-122"/>
                <a:cs typeface="Calibri" pitchFamily="34" charset="-120"/>
              </a:rPr>
              <a:t>Information it uses</a:t>
            </a:r>
            <a:endParaRPr lang="en-US" sz="900" dirty="0"/>
          </a:p>
        </p:txBody>
      </p:sp>
      <p:sp>
        <p:nvSpPr>
          <p:cNvPr id="44" name="Text 42"/>
          <p:cNvSpPr/>
          <p:nvPr/>
        </p:nvSpPr>
        <p:spPr>
          <a:xfrm>
            <a:off x="8961120" y="1188720"/>
            <a:ext cx="2468880" cy="219456"/>
          </a:xfrm>
          <a:prstGeom prst="rect">
            <a:avLst/>
          </a:prstGeom>
          <a:noFill/>
          <a:ln/>
        </p:spPr>
        <p:txBody>
          <a:bodyPr wrap="square" lIns="0" tIns="0" rIns="0" bIns="0" rtlCol="0" anchor="ctr"/>
          <a:lstStyle/>
          <a:p>
            <a:pPr indent="0" marL="0">
              <a:buNone/>
            </a:pPr>
            <a:r>
              <a:rPr lang="en-US" sz="900" b="1" spc="120" kern="0" dirty="0">
                <a:solidFill>
                  <a:srgbClr val="94A3B8"/>
                </a:solidFill>
                <a:latin typeface="Calibri" pitchFamily="34" charset="0"/>
                <a:ea typeface="Calibri" pitchFamily="34" charset="-122"/>
                <a:cs typeface="Calibri" pitchFamily="34" charset="-120"/>
              </a:rPr>
              <a:t>Limitation / risk</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1A2E"/>
        </a:solidFill>
      </p:bgPr>
    </p:bg>
    <p:spTree>
      <p:nvGrpSpPr>
        <p:cNvPr id="1" name=""/>
        <p:cNvGrpSpPr/>
        <p:nvPr/>
      </p:nvGrpSpPr>
      <p:grpSpPr>
        <a:xfrm>
          <a:off x="0" y="0"/>
          <a:ext cx="0" cy="0"/>
          <a:chOff x="0" y="0"/>
          <a:chExt cx="0" cy="0"/>
        </a:xfrm>
      </p:grpSpPr>
      <p:sp>
        <p:nvSpPr>
          <p:cNvPr id="2" name="Text 0"/>
          <p:cNvSpPr/>
          <p:nvPr/>
        </p:nvSpPr>
        <p:spPr>
          <a:xfrm>
            <a:off x="566928" y="310896"/>
            <a:ext cx="8680399" cy="237744"/>
          </a:xfrm>
          <a:prstGeom prst="rect">
            <a:avLst/>
          </a:prstGeom>
          <a:noFill/>
          <a:ln/>
        </p:spPr>
        <p:txBody>
          <a:bodyPr wrap="square" lIns="0" tIns="0" rIns="0" bIns="0" rtlCol="0" anchor="ctr"/>
          <a:lstStyle/>
          <a:p>
            <a:pPr indent="0" marL="0">
              <a:buNone/>
            </a:pPr>
            <a:r>
              <a:rPr lang="en-US" sz="1100" b="1" spc="200" kern="0" dirty="0">
                <a:solidFill>
                  <a:srgbClr val="22D3EE"/>
                </a:solidFill>
                <a:latin typeface="Calibri" pitchFamily="34" charset="0"/>
                <a:ea typeface="Calibri" pitchFamily="34" charset="-122"/>
                <a:cs typeface="Calibri" pitchFamily="34" charset="-120"/>
              </a:rPr>
              <a:t>ARTIFICIAL INTELLIGENCE</a:t>
            </a:r>
            <a:endParaRPr lang="en-US" sz="1100" dirty="0"/>
          </a:p>
        </p:txBody>
      </p:sp>
      <p:sp>
        <p:nvSpPr>
          <p:cNvPr id="3" name="Text 1"/>
          <p:cNvSpPr/>
          <p:nvPr/>
        </p:nvSpPr>
        <p:spPr>
          <a:xfrm>
            <a:off x="566928" y="548640"/>
            <a:ext cx="8680399" cy="566928"/>
          </a:xfrm>
          <a:prstGeom prst="rect">
            <a:avLst/>
          </a:prstGeom>
          <a:noFill/>
          <a:ln/>
        </p:spPr>
        <p:txBody>
          <a:bodyPr wrap="square" lIns="0" tIns="0" rIns="0" bIns="0" rtlCol="0" anchor="ctr"/>
          <a:lstStyle/>
          <a:p>
            <a:pPr indent="0" marL="0">
              <a:buNone/>
            </a:pPr>
            <a:r>
              <a:rPr lang="en-US" sz="3000" b="1" dirty="0">
                <a:solidFill>
                  <a:srgbClr val="F8FAFC"/>
                </a:solidFill>
                <a:latin typeface="Cambria" pitchFamily="34" charset="0"/>
                <a:ea typeface="Cambria" pitchFamily="34" charset="-122"/>
                <a:cs typeface="Cambria" pitchFamily="34" charset="-120"/>
              </a:rPr>
              <a:t>Ten AI capabilities — the second five</a:t>
            </a:r>
            <a:endParaRPr lang="en-US" sz="3000" dirty="0"/>
          </a:p>
        </p:txBody>
      </p:sp>
      <p:sp>
        <p:nvSpPr>
          <p:cNvPr id="4" name="Shape 2"/>
          <p:cNvSpPr/>
          <p:nvPr/>
        </p:nvSpPr>
        <p:spPr>
          <a:xfrm>
            <a:off x="9475927" y="384048"/>
            <a:ext cx="2148840" cy="384048"/>
          </a:xfrm>
          <a:prstGeom prst="roundRect">
            <a:avLst>
              <a:gd name="adj" fmla="val 50000"/>
            </a:avLst>
          </a:prstGeom>
          <a:solidFill>
            <a:srgbClr val="13314E"/>
          </a:solidFill>
          <a:ln w="12700">
            <a:solidFill>
              <a:srgbClr val="22D3EE"/>
            </a:solidFill>
            <a:prstDash val="solid"/>
          </a:ln>
        </p:spPr>
      </p:sp>
      <p:sp>
        <p:nvSpPr>
          <p:cNvPr id="5" name="Text 3"/>
          <p:cNvSpPr/>
          <p:nvPr/>
        </p:nvSpPr>
        <p:spPr>
          <a:xfrm>
            <a:off x="9475927" y="384048"/>
            <a:ext cx="2148840" cy="384048"/>
          </a:xfrm>
          <a:prstGeom prst="rect">
            <a:avLst/>
          </a:prstGeom>
          <a:noFill/>
          <a:ln/>
        </p:spPr>
        <p:txBody>
          <a:bodyPr wrap="square" lIns="0" tIns="0" rIns="0" bIns="0" rtlCol="0" anchor="ctr"/>
          <a:lstStyle/>
          <a:p>
            <a:pPr algn="ctr" indent="0" marL="0">
              <a:buNone/>
            </a:pPr>
            <a:r>
              <a:rPr lang="en-US" sz="1150" b="1" dirty="0">
                <a:solidFill>
                  <a:srgbClr val="22D3EE"/>
                </a:solidFill>
                <a:latin typeface="Calibri" pitchFamily="34" charset="0"/>
                <a:ea typeface="Calibri" pitchFamily="34" charset="-122"/>
                <a:cs typeface="Calibri" pitchFamily="34" charset="-120"/>
              </a:rPr>
              <a:t>QUESTION 4 · B</a:t>
            </a:r>
            <a:endParaRPr lang="en-US" sz="1150" dirty="0"/>
          </a:p>
        </p:txBody>
      </p:sp>
      <p:sp>
        <p:nvSpPr>
          <p:cNvPr id="6" name="Shape 4"/>
          <p:cNvSpPr/>
          <p:nvPr/>
        </p:nvSpPr>
        <p:spPr>
          <a:xfrm>
            <a:off x="566928" y="1335024"/>
            <a:ext cx="11057839" cy="621792"/>
          </a:xfrm>
          <a:prstGeom prst="roundRect">
            <a:avLst>
              <a:gd name="adj" fmla="val 14706"/>
            </a:avLst>
          </a:prstGeom>
          <a:solidFill>
            <a:srgbClr val="13314E"/>
          </a:solidFill>
          <a:ln w="12700">
            <a:solidFill>
              <a:srgbClr val="1E4463"/>
            </a:solidFill>
            <a:prstDash val="solid"/>
          </a:ln>
          <a:effectLst>
            <a:outerShdw sx="100000" sy="100000" kx="0" ky="0" algn="bl" rotWithShape="0" blurRad="177800" dist="38100" dir="5400000">
              <a:srgbClr val="000000">
                <a:alpha val="35000"/>
              </a:srgbClr>
            </a:outerShdw>
          </a:effectLst>
        </p:spPr>
      </p:sp>
      <p:sp>
        <p:nvSpPr>
          <p:cNvPr id="7" name="Shape 5"/>
          <p:cNvSpPr/>
          <p:nvPr/>
        </p:nvSpPr>
        <p:spPr>
          <a:xfrm>
            <a:off x="768096" y="1481328"/>
            <a:ext cx="310896" cy="310896"/>
          </a:xfrm>
          <a:prstGeom prst="ellipse">
            <a:avLst/>
          </a:prstGeom>
          <a:solidFill>
            <a:srgbClr val="22D3EE"/>
          </a:solidFill>
          <a:ln w="12700">
            <a:solidFill>
              <a:srgbClr val="22D3EE"/>
            </a:solidFill>
            <a:prstDash val="solid"/>
          </a:ln>
        </p:spPr>
      </p:sp>
      <p:sp>
        <p:nvSpPr>
          <p:cNvPr id="8" name="Text 6"/>
          <p:cNvSpPr/>
          <p:nvPr/>
        </p:nvSpPr>
        <p:spPr>
          <a:xfrm>
            <a:off x="768096" y="1481328"/>
            <a:ext cx="310896" cy="310896"/>
          </a:xfrm>
          <a:prstGeom prst="rect">
            <a:avLst/>
          </a:prstGeom>
          <a:noFill/>
          <a:ln/>
        </p:spPr>
        <p:txBody>
          <a:bodyPr wrap="square" lIns="0" tIns="0" rIns="0" bIns="0" rtlCol="0" anchor="ctr"/>
          <a:lstStyle/>
          <a:p>
            <a:pPr algn="ctr" indent="0" marL="0">
              <a:buNone/>
            </a:pPr>
            <a:r>
              <a:rPr lang="en-US" sz="1300" b="1" dirty="0">
                <a:solidFill>
                  <a:srgbClr val="0B1A2E"/>
                </a:solidFill>
                <a:latin typeface="Calibri" pitchFamily="34" charset="0"/>
                <a:ea typeface="Calibri" pitchFamily="34" charset="-122"/>
                <a:cs typeface="Calibri" pitchFamily="34" charset="-120"/>
              </a:rPr>
              <a:t>6</a:t>
            </a:r>
            <a:endParaRPr lang="en-US" sz="1300" dirty="0"/>
          </a:p>
        </p:txBody>
      </p:sp>
      <p:sp>
        <p:nvSpPr>
          <p:cNvPr id="9" name="Text 7"/>
          <p:cNvSpPr/>
          <p:nvPr/>
        </p:nvSpPr>
        <p:spPr>
          <a:xfrm>
            <a:off x="1188720" y="1380744"/>
            <a:ext cx="2011680" cy="512064"/>
          </a:xfrm>
          <a:prstGeom prst="rect">
            <a:avLst/>
          </a:prstGeom>
          <a:noFill/>
          <a:ln/>
        </p:spPr>
        <p:txBody>
          <a:bodyPr wrap="square" lIns="0" tIns="0" rIns="0" bIns="0" rtlCol="0" anchor="ctr"/>
          <a:lstStyle/>
          <a:p>
            <a:pPr indent="0" marL="0">
              <a:buNone/>
            </a:pPr>
            <a:r>
              <a:rPr lang="en-US" sz="1200" b="1" dirty="0">
                <a:solidFill>
                  <a:srgbClr val="22D3EE"/>
                </a:solidFill>
                <a:latin typeface="Calibri" pitchFamily="34" charset="0"/>
                <a:ea typeface="Calibri" pitchFamily="34" charset="-122"/>
                <a:cs typeface="Calibri" pitchFamily="34" charset="-120"/>
              </a:rPr>
              <a:t>Board memorandum</a:t>
            </a:r>
            <a:endParaRPr lang="en-US" sz="1200" dirty="0"/>
          </a:p>
        </p:txBody>
      </p:sp>
      <p:sp>
        <p:nvSpPr>
          <p:cNvPr id="10" name="Text 8"/>
          <p:cNvSpPr/>
          <p:nvPr/>
        </p:nvSpPr>
        <p:spPr>
          <a:xfrm>
            <a:off x="3236976" y="1380744"/>
            <a:ext cx="2697480" cy="512064"/>
          </a:xfrm>
          <a:prstGeom prst="rect">
            <a:avLst/>
          </a:prstGeom>
          <a:noFill/>
          <a:ln/>
        </p:spPr>
        <p:txBody>
          <a:bodyPr wrap="square" lIns="0" tIns="0" rIns="0" bIns="0" rtlCol="0" anchor="ctr"/>
          <a:lstStyle/>
          <a:p>
            <a:pPr indent="0" marL="0">
              <a:buNone/>
            </a:pPr>
            <a:r>
              <a:rPr lang="en-US" sz="1050" dirty="0">
                <a:solidFill>
                  <a:srgbClr val="F8FAFC"/>
                </a:solidFill>
                <a:latin typeface="Calibri" pitchFamily="34" charset="0"/>
                <a:ea typeface="Calibri" pitchFamily="34" charset="-122"/>
                <a:cs typeface="Calibri" pitchFamily="34" charset="-120"/>
              </a:rPr>
              <a:t>Drafts the full memorandum in structured sections</a:t>
            </a:r>
            <a:endParaRPr lang="en-US" sz="1050" dirty="0"/>
          </a:p>
        </p:txBody>
      </p:sp>
      <p:sp>
        <p:nvSpPr>
          <p:cNvPr id="11" name="Text 9"/>
          <p:cNvSpPr/>
          <p:nvPr/>
        </p:nvSpPr>
        <p:spPr>
          <a:xfrm>
            <a:off x="6236208" y="1380744"/>
            <a:ext cx="2423160" cy="512064"/>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Metrics, scenarios, risk register, archetype KPIs</a:t>
            </a:r>
            <a:endParaRPr lang="en-US" sz="1000" dirty="0"/>
          </a:p>
        </p:txBody>
      </p:sp>
      <p:sp>
        <p:nvSpPr>
          <p:cNvPr id="12" name="Text 10"/>
          <p:cNvSpPr/>
          <p:nvPr/>
        </p:nvSpPr>
        <p:spPr>
          <a:xfrm>
            <a:off x="8961120" y="1380744"/>
            <a:ext cx="2468880" cy="512064"/>
          </a:xfrm>
          <a:prstGeom prst="rect">
            <a:avLst/>
          </a:prstGeom>
          <a:noFill/>
          <a:ln/>
        </p:spPr>
        <p:txBody>
          <a:bodyPr wrap="square" lIns="0" tIns="0" rIns="0" bIns="0" rtlCol="0" anchor="ctr"/>
          <a:lstStyle/>
          <a:p>
            <a:pPr indent="0" marL="0">
              <a:buNone/>
            </a:pPr>
            <a:r>
              <a:rPr lang="en-US" sz="1000" i="1" dirty="0">
                <a:solidFill>
                  <a:srgbClr val="94A3B8"/>
                </a:solidFill>
                <a:latin typeface="Calibri" pitchFamily="34" charset="0"/>
                <a:ea typeface="Calibri" pitchFamily="34" charset="-122"/>
                <a:cs typeface="Calibri" pitchFamily="34" charset="-120"/>
              </a:rPr>
              <a:t>Fluent prose lends false authority to weak assumptions</a:t>
            </a:r>
            <a:endParaRPr lang="en-US" sz="1000" dirty="0"/>
          </a:p>
        </p:txBody>
      </p:sp>
      <p:sp>
        <p:nvSpPr>
          <p:cNvPr id="13" name="Shape 11"/>
          <p:cNvSpPr/>
          <p:nvPr/>
        </p:nvSpPr>
        <p:spPr>
          <a:xfrm>
            <a:off x="566928" y="2048256"/>
            <a:ext cx="11057839" cy="621792"/>
          </a:xfrm>
          <a:prstGeom prst="roundRect">
            <a:avLst>
              <a:gd name="adj" fmla="val 14706"/>
            </a:avLst>
          </a:prstGeom>
          <a:solidFill>
            <a:srgbClr val="0F2740"/>
          </a:solidFill>
          <a:ln w="12700">
            <a:solidFill>
              <a:srgbClr val="1E4463"/>
            </a:solidFill>
            <a:prstDash val="solid"/>
          </a:ln>
          <a:effectLst>
            <a:outerShdw sx="100000" sy="100000" kx="0" ky="0" algn="bl" rotWithShape="0" blurRad="177800" dist="38100" dir="5400000">
              <a:srgbClr val="000000">
                <a:alpha val="35000"/>
              </a:srgbClr>
            </a:outerShdw>
          </a:effectLst>
        </p:spPr>
      </p:sp>
      <p:sp>
        <p:nvSpPr>
          <p:cNvPr id="14" name="Shape 12"/>
          <p:cNvSpPr/>
          <p:nvPr/>
        </p:nvSpPr>
        <p:spPr>
          <a:xfrm>
            <a:off x="768096" y="2194560"/>
            <a:ext cx="310896" cy="310896"/>
          </a:xfrm>
          <a:prstGeom prst="ellipse">
            <a:avLst/>
          </a:prstGeom>
          <a:solidFill>
            <a:srgbClr val="22D3EE"/>
          </a:solidFill>
          <a:ln w="12700">
            <a:solidFill>
              <a:srgbClr val="22D3EE"/>
            </a:solidFill>
            <a:prstDash val="solid"/>
          </a:ln>
        </p:spPr>
      </p:sp>
      <p:sp>
        <p:nvSpPr>
          <p:cNvPr id="15" name="Text 13"/>
          <p:cNvSpPr/>
          <p:nvPr/>
        </p:nvSpPr>
        <p:spPr>
          <a:xfrm>
            <a:off x="768096" y="2194560"/>
            <a:ext cx="310896" cy="310896"/>
          </a:xfrm>
          <a:prstGeom prst="rect">
            <a:avLst/>
          </a:prstGeom>
          <a:noFill/>
          <a:ln/>
        </p:spPr>
        <p:txBody>
          <a:bodyPr wrap="square" lIns="0" tIns="0" rIns="0" bIns="0" rtlCol="0" anchor="ctr"/>
          <a:lstStyle/>
          <a:p>
            <a:pPr algn="ctr" indent="0" marL="0">
              <a:buNone/>
            </a:pPr>
            <a:r>
              <a:rPr lang="en-US" sz="1300" b="1" dirty="0">
                <a:solidFill>
                  <a:srgbClr val="0B1A2E"/>
                </a:solidFill>
                <a:latin typeface="Calibri" pitchFamily="34" charset="0"/>
                <a:ea typeface="Calibri" pitchFamily="34" charset="-122"/>
                <a:cs typeface="Calibri" pitchFamily="34" charset="-120"/>
              </a:rPr>
              <a:t>7</a:t>
            </a:r>
            <a:endParaRPr lang="en-US" sz="1300" dirty="0"/>
          </a:p>
        </p:txBody>
      </p:sp>
      <p:sp>
        <p:nvSpPr>
          <p:cNvPr id="16" name="Text 14"/>
          <p:cNvSpPr/>
          <p:nvPr/>
        </p:nvSpPr>
        <p:spPr>
          <a:xfrm>
            <a:off x="1188720" y="2093976"/>
            <a:ext cx="2011680" cy="512064"/>
          </a:xfrm>
          <a:prstGeom prst="rect">
            <a:avLst/>
          </a:prstGeom>
          <a:noFill/>
          <a:ln/>
        </p:spPr>
        <p:txBody>
          <a:bodyPr wrap="square" lIns="0" tIns="0" rIns="0" bIns="0" rtlCol="0" anchor="ctr"/>
          <a:lstStyle/>
          <a:p>
            <a:pPr indent="0" marL="0">
              <a:buNone/>
            </a:pPr>
            <a:r>
              <a:rPr lang="en-US" sz="1200" b="1" dirty="0">
                <a:solidFill>
                  <a:srgbClr val="22D3EE"/>
                </a:solidFill>
                <a:latin typeface="Calibri" pitchFamily="34" charset="0"/>
                <a:ea typeface="Calibri" pitchFamily="34" charset="-122"/>
                <a:cs typeface="Calibri" pitchFamily="34" charset="-120"/>
              </a:rPr>
              <a:t>Scenario studio</a:t>
            </a:r>
            <a:endParaRPr lang="en-US" sz="1200" dirty="0"/>
          </a:p>
        </p:txBody>
      </p:sp>
      <p:sp>
        <p:nvSpPr>
          <p:cNvPr id="17" name="Text 15"/>
          <p:cNvSpPr/>
          <p:nvPr/>
        </p:nvSpPr>
        <p:spPr>
          <a:xfrm>
            <a:off x="3236976" y="2093976"/>
            <a:ext cx="2697480" cy="512064"/>
          </a:xfrm>
          <a:prstGeom prst="rect">
            <a:avLst/>
          </a:prstGeom>
          <a:noFill/>
          <a:ln/>
        </p:spPr>
        <p:txBody>
          <a:bodyPr wrap="square" lIns="0" tIns="0" rIns="0" bIns="0" rtlCol="0" anchor="ctr"/>
          <a:lstStyle/>
          <a:p>
            <a:pPr indent="0" marL="0">
              <a:buNone/>
            </a:pPr>
            <a:r>
              <a:rPr lang="en-US" sz="1050" dirty="0">
                <a:solidFill>
                  <a:srgbClr val="F8FAFC"/>
                </a:solidFill>
                <a:latin typeface="Calibri" pitchFamily="34" charset="0"/>
                <a:ea typeface="Calibri" pitchFamily="34" charset="-122"/>
                <a:cs typeface="Calibri" pitchFamily="34" charset="-120"/>
              </a:rPr>
              <a:t>Proposes named scenarios beyond the standard three</a:t>
            </a:r>
            <a:endParaRPr lang="en-US" sz="1050" dirty="0"/>
          </a:p>
        </p:txBody>
      </p:sp>
      <p:sp>
        <p:nvSpPr>
          <p:cNvPr id="18" name="Text 16"/>
          <p:cNvSpPr/>
          <p:nvPr/>
        </p:nvSpPr>
        <p:spPr>
          <a:xfrm>
            <a:off x="6236208" y="2093976"/>
            <a:ext cx="2423160" cy="512064"/>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Archetype scenario themes and base-case posture</a:t>
            </a:r>
            <a:endParaRPr lang="en-US" sz="1000" dirty="0"/>
          </a:p>
        </p:txBody>
      </p:sp>
      <p:sp>
        <p:nvSpPr>
          <p:cNvPr id="19" name="Text 17"/>
          <p:cNvSpPr/>
          <p:nvPr/>
        </p:nvSpPr>
        <p:spPr>
          <a:xfrm>
            <a:off x="8961120" y="2093976"/>
            <a:ext cx="2468880" cy="512064"/>
          </a:xfrm>
          <a:prstGeom prst="rect">
            <a:avLst/>
          </a:prstGeom>
          <a:noFill/>
          <a:ln/>
        </p:spPr>
        <p:txBody>
          <a:bodyPr wrap="square" lIns="0" tIns="0" rIns="0" bIns="0" rtlCol="0" anchor="ctr"/>
          <a:lstStyle/>
          <a:p>
            <a:pPr indent="0" marL="0">
              <a:buNone/>
            </a:pPr>
            <a:r>
              <a:rPr lang="en-US" sz="1000" i="1" dirty="0">
                <a:solidFill>
                  <a:srgbClr val="94A3B8"/>
                </a:solidFill>
                <a:latin typeface="Calibri" pitchFamily="34" charset="0"/>
                <a:ea typeface="Calibri" pitchFamily="34" charset="-122"/>
                <a:cs typeface="Calibri" pitchFamily="34" charset="-120"/>
              </a:rPr>
              <a:t>Proposes assumptions only — it never produces results</a:t>
            </a:r>
            <a:endParaRPr lang="en-US" sz="1000" dirty="0"/>
          </a:p>
        </p:txBody>
      </p:sp>
      <p:sp>
        <p:nvSpPr>
          <p:cNvPr id="20" name="Shape 18"/>
          <p:cNvSpPr/>
          <p:nvPr/>
        </p:nvSpPr>
        <p:spPr>
          <a:xfrm>
            <a:off x="566928" y="2761488"/>
            <a:ext cx="11057839" cy="621792"/>
          </a:xfrm>
          <a:prstGeom prst="roundRect">
            <a:avLst>
              <a:gd name="adj" fmla="val 14706"/>
            </a:avLst>
          </a:prstGeom>
          <a:solidFill>
            <a:srgbClr val="13314E"/>
          </a:solidFill>
          <a:ln w="12700">
            <a:solidFill>
              <a:srgbClr val="1E4463"/>
            </a:solidFill>
            <a:prstDash val="solid"/>
          </a:ln>
          <a:effectLst>
            <a:outerShdw sx="100000" sy="100000" kx="0" ky="0" algn="bl" rotWithShape="0" blurRad="177800" dist="38100" dir="5400000">
              <a:srgbClr val="000000">
                <a:alpha val="35000"/>
              </a:srgbClr>
            </a:outerShdw>
          </a:effectLst>
        </p:spPr>
      </p:sp>
      <p:sp>
        <p:nvSpPr>
          <p:cNvPr id="21" name="Shape 19"/>
          <p:cNvSpPr/>
          <p:nvPr/>
        </p:nvSpPr>
        <p:spPr>
          <a:xfrm>
            <a:off x="768096" y="2907792"/>
            <a:ext cx="310896" cy="310896"/>
          </a:xfrm>
          <a:prstGeom prst="ellipse">
            <a:avLst/>
          </a:prstGeom>
          <a:solidFill>
            <a:srgbClr val="22D3EE"/>
          </a:solidFill>
          <a:ln w="12700">
            <a:solidFill>
              <a:srgbClr val="22D3EE"/>
            </a:solidFill>
            <a:prstDash val="solid"/>
          </a:ln>
        </p:spPr>
      </p:sp>
      <p:sp>
        <p:nvSpPr>
          <p:cNvPr id="22" name="Text 20"/>
          <p:cNvSpPr/>
          <p:nvPr/>
        </p:nvSpPr>
        <p:spPr>
          <a:xfrm>
            <a:off x="768096" y="2907792"/>
            <a:ext cx="310896" cy="310896"/>
          </a:xfrm>
          <a:prstGeom prst="rect">
            <a:avLst/>
          </a:prstGeom>
          <a:noFill/>
          <a:ln/>
        </p:spPr>
        <p:txBody>
          <a:bodyPr wrap="square" lIns="0" tIns="0" rIns="0" bIns="0" rtlCol="0" anchor="ctr"/>
          <a:lstStyle/>
          <a:p>
            <a:pPr algn="ctr" indent="0" marL="0">
              <a:buNone/>
            </a:pPr>
            <a:r>
              <a:rPr lang="en-US" sz="1300" b="1" dirty="0">
                <a:solidFill>
                  <a:srgbClr val="0B1A2E"/>
                </a:solidFill>
                <a:latin typeface="Calibri" pitchFamily="34" charset="0"/>
                <a:ea typeface="Calibri" pitchFamily="34" charset="-122"/>
                <a:cs typeface="Calibri" pitchFamily="34" charset="-120"/>
              </a:rPr>
              <a:t>8</a:t>
            </a:r>
            <a:endParaRPr lang="en-US" sz="1300" dirty="0"/>
          </a:p>
        </p:txBody>
      </p:sp>
      <p:sp>
        <p:nvSpPr>
          <p:cNvPr id="23" name="Text 21"/>
          <p:cNvSpPr/>
          <p:nvPr/>
        </p:nvSpPr>
        <p:spPr>
          <a:xfrm>
            <a:off x="1188720" y="2807208"/>
            <a:ext cx="2011680" cy="512064"/>
          </a:xfrm>
          <a:prstGeom prst="rect">
            <a:avLst/>
          </a:prstGeom>
          <a:noFill/>
          <a:ln/>
        </p:spPr>
        <p:txBody>
          <a:bodyPr wrap="square" lIns="0" tIns="0" rIns="0" bIns="0" rtlCol="0" anchor="ctr"/>
          <a:lstStyle/>
          <a:p>
            <a:pPr indent="0" marL="0">
              <a:buNone/>
            </a:pPr>
            <a:r>
              <a:rPr lang="en-US" sz="1200" b="1" dirty="0">
                <a:solidFill>
                  <a:srgbClr val="22D3EE"/>
                </a:solidFill>
                <a:latin typeface="Calibri" pitchFamily="34" charset="0"/>
                <a:ea typeface="Calibri" pitchFamily="34" charset="-122"/>
                <a:cs typeface="Calibri" pitchFamily="34" charset="-120"/>
              </a:rPr>
              <a:t>ESG impact</a:t>
            </a:r>
            <a:endParaRPr lang="en-US" sz="1200" dirty="0"/>
          </a:p>
        </p:txBody>
      </p:sp>
      <p:sp>
        <p:nvSpPr>
          <p:cNvPr id="24" name="Text 22"/>
          <p:cNvSpPr/>
          <p:nvPr/>
        </p:nvSpPr>
        <p:spPr>
          <a:xfrm>
            <a:off x="3236976" y="2807208"/>
            <a:ext cx="2697480" cy="512064"/>
          </a:xfrm>
          <a:prstGeom prst="rect">
            <a:avLst/>
          </a:prstGeom>
          <a:noFill/>
          <a:ln/>
        </p:spPr>
        <p:txBody>
          <a:bodyPr wrap="square" lIns="0" tIns="0" rIns="0" bIns="0" rtlCol="0" anchor="ctr"/>
          <a:lstStyle/>
          <a:p>
            <a:pPr indent="0" marL="0">
              <a:buNone/>
            </a:pPr>
            <a:r>
              <a:rPr lang="en-US" sz="1050" dirty="0">
                <a:solidFill>
                  <a:srgbClr val="F8FAFC"/>
                </a:solidFill>
                <a:latin typeface="Calibri" pitchFamily="34" charset="0"/>
                <a:ea typeface="Calibri" pitchFamily="34" charset="-122"/>
                <a:cs typeface="Calibri" pitchFamily="34" charset="-120"/>
              </a:rPr>
              <a:t>Green-financing commentary, or an explicit not-applicable flag</a:t>
            </a:r>
            <a:endParaRPr lang="en-US" sz="1050" dirty="0"/>
          </a:p>
        </p:txBody>
      </p:sp>
      <p:sp>
        <p:nvSpPr>
          <p:cNvPr id="25" name="Text 23"/>
          <p:cNvSpPr/>
          <p:nvPr/>
        </p:nvSpPr>
        <p:spPr>
          <a:xfrm>
            <a:off x="6236208" y="2807208"/>
            <a:ext cx="2423160" cy="512064"/>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Capex composition and archetype relevance</a:t>
            </a:r>
            <a:endParaRPr lang="en-US" sz="1000" dirty="0"/>
          </a:p>
        </p:txBody>
      </p:sp>
      <p:sp>
        <p:nvSpPr>
          <p:cNvPr id="26" name="Text 24"/>
          <p:cNvSpPr/>
          <p:nvPr/>
        </p:nvSpPr>
        <p:spPr>
          <a:xfrm>
            <a:off x="8961120" y="2807208"/>
            <a:ext cx="2468880" cy="512064"/>
          </a:xfrm>
          <a:prstGeom prst="rect">
            <a:avLst/>
          </a:prstGeom>
          <a:noFill/>
          <a:ln/>
        </p:spPr>
        <p:txBody>
          <a:bodyPr wrap="square" lIns="0" tIns="0" rIns="0" bIns="0" rtlCol="0" anchor="ctr"/>
          <a:lstStyle/>
          <a:p>
            <a:pPr indent="0" marL="0">
              <a:buNone/>
            </a:pPr>
            <a:r>
              <a:rPr lang="en-US" sz="1000" i="1" dirty="0">
                <a:solidFill>
                  <a:srgbClr val="94A3B8"/>
                </a:solidFill>
                <a:latin typeface="Calibri" pitchFamily="34" charset="0"/>
                <a:ea typeface="Calibri" pitchFamily="34" charset="-122"/>
                <a:cs typeface="Calibri" pitchFamily="34" charset="-120"/>
              </a:rPr>
              <a:t>Not an assurance opinion and no substitute for one</a:t>
            </a:r>
            <a:endParaRPr lang="en-US" sz="1000" dirty="0"/>
          </a:p>
        </p:txBody>
      </p:sp>
      <p:sp>
        <p:nvSpPr>
          <p:cNvPr id="27" name="Shape 25"/>
          <p:cNvSpPr/>
          <p:nvPr/>
        </p:nvSpPr>
        <p:spPr>
          <a:xfrm>
            <a:off x="566928" y="3474720"/>
            <a:ext cx="11057839" cy="621792"/>
          </a:xfrm>
          <a:prstGeom prst="roundRect">
            <a:avLst>
              <a:gd name="adj" fmla="val 14706"/>
            </a:avLst>
          </a:prstGeom>
          <a:solidFill>
            <a:srgbClr val="0F2740"/>
          </a:solidFill>
          <a:ln w="12700">
            <a:solidFill>
              <a:srgbClr val="1E4463"/>
            </a:solidFill>
            <a:prstDash val="solid"/>
          </a:ln>
          <a:effectLst>
            <a:outerShdw sx="100000" sy="100000" kx="0" ky="0" algn="bl" rotWithShape="0" blurRad="177800" dist="38100" dir="5400000">
              <a:srgbClr val="000000">
                <a:alpha val="35000"/>
              </a:srgbClr>
            </a:outerShdw>
          </a:effectLst>
        </p:spPr>
      </p:sp>
      <p:sp>
        <p:nvSpPr>
          <p:cNvPr id="28" name="Shape 26"/>
          <p:cNvSpPr/>
          <p:nvPr/>
        </p:nvSpPr>
        <p:spPr>
          <a:xfrm>
            <a:off x="768096" y="3621024"/>
            <a:ext cx="310896" cy="310896"/>
          </a:xfrm>
          <a:prstGeom prst="ellipse">
            <a:avLst/>
          </a:prstGeom>
          <a:solidFill>
            <a:srgbClr val="22D3EE"/>
          </a:solidFill>
          <a:ln w="12700">
            <a:solidFill>
              <a:srgbClr val="22D3EE"/>
            </a:solidFill>
            <a:prstDash val="solid"/>
          </a:ln>
        </p:spPr>
      </p:sp>
      <p:sp>
        <p:nvSpPr>
          <p:cNvPr id="29" name="Text 27"/>
          <p:cNvSpPr/>
          <p:nvPr/>
        </p:nvSpPr>
        <p:spPr>
          <a:xfrm>
            <a:off x="768096" y="3621024"/>
            <a:ext cx="310896" cy="310896"/>
          </a:xfrm>
          <a:prstGeom prst="rect">
            <a:avLst/>
          </a:prstGeom>
          <a:noFill/>
          <a:ln/>
        </p:spPr>
        <p:txBody>
          <a:bodyPr wrap="square" lIns="0" tIns="0" rIns="0" bIns="0" rtlCol="0" anchor="ctr"/>
          <a:lstStyle/>
          <a:p>
            <a:pPr algn="ctr" indent="0" marL="0">
              <a:buNone/>
            </a:pPr>
            <a:r>
              <a:rPr lang="en-US" sz="1300" b="1" dirty="0">
                <a:solidFill>
                  <a:srgbClr val="0B1A2E"/>
                </a:solidFill>
                <a:latin typeface="Calibri" pitchFamily="34" charset="0"/>
                <a:ea typeface="Calibri" pitchFamily="34" charset="-122"/>
                <a:cs typeface="Calibri" pitchFamily="34" charset="-120"/>
              </a:rPr>
              <a:t>9</a:t>
            </a:r>
            <a:endParaRPr lang="en-US" sz="1300" dirty="0"/>
          </a:p>
        </p:txBody>
      </p:sp>
      <p:sp>
        <p:nvSpPr>
          <p:cNvPr id="30" name="Text 28"/>
          <p:cNvSpPr/>
          <p:nvPr/>
        </p:nvSpPr>
        <p:spPr>
          <a:xfrm>
            <a:off x="1188720" y="3520440"/>
            <a:ext cx="2011680" cy="512064"/>
          </a:xfrm>
          <a:prstGeom prst="rect">
            <a:avLst/>
          </a:prstGeom>
          <a:noFill/>
          <a:ln/>
        </p:spPr>
        <p:txBody>
          <a:bodyPr wrap="square" lIns="0" tIns="0" rIns="0" bIns="0" rtlCol="0" anchor="ctr"/>
          <a:lstStyle/>
          <a:p>
            <a:pPr indent="0" marL="0">
              <a:buNone/>
            </a:pPr>
            <a:r>
              <a:rPr lang="en-US" sz="1200" b="1" dirty="0">
                <a:solidFill>
                  <a:srgbClr val="22D3EE"/>
                </a:solidFill>
                <a:latin typeface="Calibri" pitchFamily="34" charset="0"/>
                <a:ea typeface="Calibri" pitchFamily="34" charset="-122"/>
                <a:cs typeface="Calibri" pitchFamily="34" charset="-120"/>
              </a:rPr>
              <a:t>Quote parser</a:t>
            </a:r>
            <a:endParaRPr lang="en-US" sz="1200" dirty="0"/>
          </a:p>
        </p:txBody>
      </p:sp>
      <p:sp>
        <p:nvSpPr>
          <p:cNvPr id="31" name="Text 29"/>
          <p:cNvSpPr/>
          <p:nvPr/>
        </p:nvSpPr>
        <p:spPr>
          <a:xfrm>
            <a:off x="3236976" y="3520440"/>
            <a:ext cx="2697480" cy="512064"/>
          </a:xfrm>
          <a:prstGeom prst="rect">
            <a:avLst/>
          </a:prstGeom>
          <a:noFill/>
          <a:ln/>
        </p:spPr>
        <p:txBody>
          <a:bodyPr wrap="square" lIns="0" tIns="0" rIns="0" bIns="0" rtlCol="0" anchor="ctr"/>
          <a:lstStyle/>
          <a:p>
            <a:pPr indent="0" marL="0">
              <a:buNone/>
            </a:pPr>
            <a:r>
              <a:rPr lang="en-US" sz="1050" dirty="0">
                <a:solidFill>
                  <a:srgbClr val="F8FAFC"/>
                </a:solidFill>
                <a:latin typeface="Calibri" pitchFamily="34" charset="0"/>
                <a:ea typeface="Calibri" pitchFamily="34" charset="-122"/>
                <a:cs typeface="Calibri" pitchFamily="34" charset="-120"/>
              </a:rPr>
              <a:t>Extracts structured capex lines from pasted vendor quotations</a:t>
            </a:r>
            <a:endParaRPr lang="en-US" sz="1050" dirty="0"/>
          </a:p>
        </p:txBody>
      </p:sp>
      <p:sp>
        <p:nvSpPr>
          <p:cNvPr id="32" name="Text 30"/>
          <p:cNvSpPr/>
          <p:nvPr/>
        </p:nvSpPr>
        <p:spPr>
          <a:xfrm>
            <a:off x="6236208" y="3520440"/>
            <a:ext cx="2423160" cy="512064"/>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Raw quotation text, archetype capex categories</a:t>
            </a:r>
            <a:endParaRPr lang="en-US" sz="1000" dirty="0"/>
          </a:p>
        </p:txBody>
      </p:sp>
      <p:sp>
        <p:nvSpPr>
          <p:cNvPr id="33" name="Text 31"/>
          <p:cNvSpPr/>
          <p:nvPr/>
        </p:nvSpPr>
        <p:spPr>
          <a:xfrm>
            <a:off x="8961120" y="3520440"/>
            <a:ext cx="2468880" cy="512064"/>
          </a:xfrm>
          <a:prstGeom prst="rect">
            <a:avLst/>
          </a:prstGeom>
          <a:noFill/>
          <a:ln/>
        </p:spPr>
        <p:txBody>
          <a:bodyPr wrap="square" lIns="0" tIns="0" rIns="0" bIns="0" rtlCol="0" anchor="ctr"/>
          <a:lstStyle/>
          <a:p>
            <a:pPr indent="0" marL="0">
              <a:buNone/>
            </a:pPr>
            <a:r>
              <a:rPr lang="en-US" sz="1000" i="1" dirty="0">
                <a:solidFill>
                  <a:srgbClr val="94A3B8"/>
                </a:solidFill>
                <a:latin typeface="Calibri" pitchFamily="34" charset="0"/>
                <a:ea typeface="Calibri" pitchFamily="34" charset="-122"/>
                <a:cs typeface="Calibri" pitchFamily="34" charset="-120"/>
              </a:rPr>
              <a:t>Ambiguous lines returned unparsed rather than guessed</a:t>
            </a:r>
            <a:endParaRPr lang="en-US" sz="1000" dirty="0"/>
          </a:p>
        </p:txBody>
      </p:sp>
      <p:sp>
        <p:nvSpPr>
          <p:cNvPr id="34" name="Shape 32"/>
          <p:cNvSpPr/>
          <p:nvPr/>
        </p:nvSpPr>
        <p:spPr>
          <a:xfrm>
            <a:off x="566928" y="4187952"/>
            <a:ext cx="11057839" cy="621792"/>
          </a:xfrm>
          <a:prstGeom prst="roundRect">
            <a:avLst>
              <a:gd name="adj" fmla="val 14706"/>
            </a:avLst>
          </a:prstGeom>
          <a:solidFill>
            <a:srgbClr val="13314E"/>
          </a:solidFill>
          <a:ln w="12700">
            <a:solidFill>
              <a:srgbClr val="1E4463"/>
            </a:solidFill>
            <a:prstDash val="solid"/>
          </a:ln>
          <a:effectLst>
            <a:outerShdw sx="100000" sy="100000" kx="0" ky="0" algn="bl" rotWithShape="0" blurRad="177800" dist="38100" dir="5400000">
              <a:srgbClr val="000000">
                <a:alpha val="35000"/>
              </a:srgbClr>
            </a:outerShdw>
          </a:effectLst>
        </p:spPr>
      </p:sp>
      <p:sp>
        <p:nvSpPr>
          <p:cNvPr id="35" name="Shape 33"/>
          <p:cNvSpPr/>
          <p:nvPr/>
        </p:nvSpPr>
        <p:spPr>
          <a:xfrm>
            <a:off x="768096" y="4334256"/>
            <a:ext cx="310896" cy="310896"/>
          </a:xfrm>
          <a:prstGeom prst="ellipse">
            <a:avLst/>
          </a:prstGeom>
          <a:solidFill>
            <a:srgbClr val="22D3EE"/>
          </a:solidFill>
          <a:ln w="12700">
            <a:solidFill>
              <a:srgbClr val="22D3EE"/>
            </a:solidFill>
            <a:prstDash val="solid"/>
          </a:ln>
        </p:spPr>
      </p:sp>
      <p:sp>
        <p:nvSpPr>
          <p:cNvPr id="36" name="Text 34"/>
          <p:cNvSpPr/>
          <p:nvPr/>
        </p:nvSpPr>
        <p:spPr>
          <a:xfrm>
            <a:off x="768096" y="4334256"/>
            <a:ext cx="310896" cy="310896"/>
          </a:xfrm>
          <a:prstGeom prst="rect">
            <a:avLst/>
          </a:prstGeom>
          <a:noFill/>
          <a:ln/>
        </p:spPr>
        <p:txBody>
          <a:bodyPr wrap="square" lIns="0" tIns="0" rIns="0" bIns="0" rtlCol="0" anchor="ctr"/>
          <a:lstStyle/>
          <a:p>
            <a:pPr algn="ctr" indent="0" marL="0">
              <a:buNone/>
            </a:pPr>
            <a:r>
              <a:rPr lang="en-US" sz="1300" b="1" dirty="0">
                <a:solidFill>
                  <a:srgbClr val="0B1A2E"/>
                </a:solidFill>
                <a:latin typeface="Calibri" pitchFamily="34" charset="0"/>
                <a:ea typeface="Calibri" pitchFamily="34" charset="-122"/>
                <a:cs typeface="Calibri" pitchFamily="34" charset="-120"/>
              </a:rPr>
              <a:t>10</a:t>
            </a:r>
            <a:endParaRPr lang="en-US" sz="1300" dirty="0"/>
          </a:p>
        </p:txBody>
      </p:sp>
      <p:sp>
        <p:nvSpPr>
          <p:cNvPr id="37" name="Text 35"/>
          <p:cNvSpPr/>
          <p:nvPr/>
        </p:nvSpPr>
        <p:spPr>
          <a:xfrm>
            <a:off x="1188720" y="4233672"/>
            <a:ext cx="2011680" cy="512064"/>
          </a:xfrm>
          <a:prstGeom prst="rect">
            <a:avLst/>
          </a:prstGeom>
          <a:noFill/>
          <a:ln/>
        </p:spPr>
        <p:txBody>
          <a:bodyPr wrap="square" lIns="0" tIns="0" rIns="0" bIns="0" rtlCol="0" anchor="ctr"/>
          <a:lstStyle/>
          <a:p>
            <a:pPr indent="0" marL="0">
              <a:buNone/>
            </a:pPr>
            <a:r>
              <a:rPr lang="en-US" sz="1200" b="1" dirty="0">
                <a:solidFill>
                  <a:srgbClr val="22D3EE"/>
                </a:solidFill>
                <a:latin typeface="Calibri" pitchFamily="34" charset="0"/>
                <a:ea typeface="Calibri" pitchFamily="34" charset="-122"/>
                <a:cs typeface="Calibri" pitchFamily="34" charset="-120"/>
              </a:rPr>
              <a:t>Macro briefing</a:t>
            </a:r>
            <a:endParaRPr lang="en-US" sz="1200" dirty="0"/>
          </a:p>
        </p:txBody>
      </p:sp>
      <p:sp>
        <p:nvSpPr>
          <p:cNvPr id="38" name="Text 36"/>
          <p:cNvSpPr/>
          <p:nvPr/>
        </p:nvSpPr>
        <p:spPr>
          <a:xfrm>
            <a:off x="3236976" y="4233672"/>
            <a:ext cx="2697480" cy="512064"/>
          </a:xfrm>
          <a:prstGeom prst="rect">
            <a:avLst/>
          </a:prstGeom>
          <a:noFill/>
          <a:ln/>
        </p:spPr>
        <p:txBody>
          <a:bodyPr wrap="square" lIns="0" tIns="0" rIns="0" bIns="0" rtlCol="0" anchor="ctr"/>
          <a:lstStyle/>
          <a:p>
            <a:pPr indent="0" marL="0">
              <a:buNone/>
            </a:pPr>
            <a:r>
              <a:rPr lang="en-US" sz="1050" dirty="0">
                <a:solidFill>
                  <a:srgbClr val="F8FAFC"/>
                </a:solidFill>
                <a:latin typeface="Calibri" pitchFamily="34" charset="0"/>
                <a:ea typeface="Calibri" pitchFamily="34" charset="-122"/>
                <a:cs typeface="Calibri" pitchFamily="34" charset="-120"/>
              </a:rPr>
              <a:t>Summarises the macro drivers that matter for this archetype</a:t>
            </a:r>
            <a:endParaRPr lang="en-US" sz="1050" dirty="0"/>
          </a:p>
        </p:txBody>
      </p:sp>
      <p:sp>
        <p:nvSpPr>
          <p:cNvPr id="39" name="Text 37"/>
          <p:cNvSpPr/>
          <p:nvPr/>
        </p:nvSpPr>
        <p:spPr>
          <a:xfrm>
            <a:off x="6236208" y="4233672"/>
            <a:ext cx="2423160" cy="512064"/>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Rates, FX, tariff and inflation data passed in the request</a:t>
            </a:r>
            <a:endParaRPr lang="en-US" sz="1000" dirty="0"/>
          </a:p>
        </p:txBody>
      </p:sp>
      <p:sp>
        <p:nvSpPr>
          <p:cNvPr id="40" name="Text 38"/>
          <p:cNvSpPr/>
          <p:nvPr/>
        </p:nvSpPr>
        <p:spPr>
          <a:xfrm>
            <a:off x="8961120" y="4233672"/>
            <a:ext cx="2468880" cy="512064"/>
          </a:xfrm>
          <a:prstGeom prst="rect">
            <a:avLst/>
          </a:prstGeom>
          <a:noFill/>
          <a:ln/>
        </p:spPr>
        <p:txBody>
          <a:bodyPr wrap="square" lIns="0" tIns="0" rIns="0" bIns="0" rtlCol="0" anchor="ctr"/>
          <a:lstStyle/>
          <a:p>
            <a:pPr indent="0" marL="0">
              <a:buNone/>
            </a:pPr>
            <a:r>
              <a:rPr lang="en-US" sz="1000" i="1" dirty="0">
                <a:solidFill>
                  <a:srgbClr val="94A3B8"/>
                </a:solidFill>
                <a:latin typeface="Calibri" pitchFamily="34" charset="0"/>
                <a:ea typeface="Calibri" pitchFamily="34" charset="-122"/>
                <a:cs typeface="Calibri" pitchFamily="34" charset="-120"/>
              </a:rPr>
              <a:t>No live market access — reasons only over supplied data</a:t>
            </a:r>
            <a:endParaRPr lang="en-US" sz="1000" dirty="0"/>
          </a:p>
        </p:txBody>
      </p:sp>
      <p:sp>
        <p:nvSpPr>
          <p:cNvPr id="41" name="Shape 39"/>
          <p:cNvSpPr/>
          <p:nvPr/>
        </p:nvSpPr>
        <p:spPr>
          <a:xfrm>
            <a:off x="566928" y="4846320"/>
            <a:ext cx="5413248" cy="786384"/>
          </a:xfrm>
          <a:prstGeom prst="roundRect">
            <a:avLst>
              <a:gd name="adj" fmla="val 11628"/>
            </a:avLst>
          </a:prstGeom>
          <a:solidFill>
            <a:srgbClr val="0F2740"/>
          </a:solidFill>
          <a:ln w="12700">
            <a:solidFill>
              <a:srgbClr val="1E4463"/>
            </a:solidFill>
            <a:prstDash val="solid"/>
          </a:ln>
          <a:effectLst>
            <a:outerShdw sx="100000" sy="100000" kx="0" ky="0" algn="bl" rotWithShape="0" blurRad="177800" dist="38100" dir="5400000">
              <a:srgbClr val="000000">
                <a:alpha val="35000"/>
              </a:srgbClr>
            </a:outerShdw>
          </a:effectLst>
        </p:spPr>
      </p:sp>
      <p:sp>
        <p:nvSpPr>
          <p:cNvPr id="42" name="Shape 40"/>
          <p:cNvSpPr/>
          <p:nvPr/>
        </p:nvSpPr>
        <p:spPr>
          <a:xfrm>
            <a:off x="786384" y="5029200"/>
            <a:ext cx="310896" cy="310896"/>
          </a:xfrm>
          <a:prstGeom prst="ellipse">
            <a:avLst/>
          </a:prstGeom>
          <a:solidFill>
            <a:srgbClr val="22D3EE"/>
          </a:solidFill>
          <a:ln w="12700">
            <a:solidFill>
              <a:srgbClr val="22D3EE"/>
            </a:solidFill>
            <a:prstDash val="solid"/>
          </a:ln>
        </p:spPr>
      </p:sp>
      <p:sp>
        <p:nvSpPr>
          <p:cNvPr id="43" name="Text 41"/>
          <p:cNvSpPr/>
          <p:nvPr/>
        </p:nvSpPr>
        <p:spPr>
          <a:xfrm>
            <a:off x="786384" y="5029200"/>
            <a:ext cx="310896" cy="310896"/>
          </a:xfrm>
          <a:prstGeom prst="rect">
            <a:avLst/>
          </a:prstGeom>
          <a:noFill/>
          <a:ln/>
        </p:spPr>
        <p:txBody>
          <a:bodyPr wrap="square" lIns="0" tIns="0" rIns="0" bIns="0" rtlCol="0" anchor="ctr"/>
          <a:lstStyle/>
          <a:p>
            <a:pPr algn="ctr" indent="0" marL="0">
              <a:buNone/>
            </a:pPr>
            <a:r>
              <a:rPr lang="en-US" sz="1300" b="1" dirty="0">
                <a:solidFill>
                  <a:srgbClr val="0B1A2E"/>
                </a:solidFill>
                <a:latin typeface="Calibri" pitchFamily="34" charset="0"/>
                <a:ea typeface="Calibri" pitchFamily="34" charset="-122"/>
                <a:cs typeface="Calibri" pitchFamily="34" charset="-120"/>
              </a:rPr>
              <a:t>11</a:t>
            </a:r>
            <a:endParaRPr lang="en-US" sz="1300" dirty="0"/>
          </a:p>
        </p:txBody>
      </p:sp>
      <p:sp>
        <p:nvSpPr>
          <p:cNvPr id="44" name="Text 42"/>
          <p:cNvSpPr/>
          <p:nvPr/>
        </p:nvSpPr>
        <p:spPr>
          <a:xfrm>
            <a:off x="1207008" y="4974336"/>
            <a:ext cx="1554480" cy="274320"/>
          </a:xfrm>
          <a:prstGeom prst="rect">
            <a:avLst/>
          </a:prstGeom>
          <a:noFill/>
          <a:ln/>
        </p:spPr>
        <p:txBody>
          <a:bodyPr wrap="square" lIns="0" tIns="0" rIns="0" bIns="0" rtlCol="0" anchor="ctr"/>
          <a:lstStyle/>
          <a:p>
            <a:pPr indent="0" marL="0">
              <a:buNone/>
            </a:pPr>
            <a:r>
              <a:rPr lang="en-US" sz="1200" b="1" dirty="0">
                <a:solidFill>
                  <a:srgbClr val="22D3EE"/>
                </a:solidFill>
                <a:latin typeface="Calibri" pitchFamily="34" charset="0"/>
                <a:ea typeface="Calibri" pitchFamily="34" charset="-122"/>
                <a:cs typeface="Calibri" pitchFamily="34" charset="-120"/>
              </a:rPr>
              <a:t>Voice intent</a:t>
            </a:r>
            <a:endParaRPr lang="en-US" sz="1200" dirty="0"/>
          </a:p>
        </p:txBody>
      </p:sp>
      <p:sp>
        <p:nvSpPr>
          <p:cNvPr id="45" name="Text 43"/>
          <p:cNvSpPr/>
          <p:nvPr/>
        </p:nvSpPr>
        <p:spPr>
          <a:xfrm>
            <a:off x="1207008" y="5230368"/>
            <a:ext cx="4572000" cy="365760"/>
          </a:xfrm>
          <a:prstGeom prst="rect">
            <a:avLst/>
          </a:prstGeom>
          <a:noFill/>
          <a:ln/>
        </p:spPr>
        <p:txBody>
          <a:bodyPr wrap="square" lIns="0" tIns="0" rIns="0" bIns="0" rtlCol="0" anchor="ctr"/>
          <a:lstStyle/>
          <a:p>
            <a:pPr indent="0" marL="0">
              <a:buNone/>
            </a:pPr>
            <a:r>
              <a:rPr lang="en-US" sz="1050" dirty="0">
                <a:solidFill>
                  <a:srgbClr val="CADCFC"/>
                </a:solidFill>
                <a:latin typeface="Calibri" pitchFamily="34" charset="0"/>
                <a:ea typeface="Calibri" pitchFamily="34" charset="-122"/>
                <a:cs typeface="Calibri" pitchFamily="34" charset="-120"/>
              </a:rPr>
              <a:t>Maps a spoken command to a typed application action — or returns unknown rather than guessing at low confidence.</a:t>
            </a:r>
            <a:endParaRPr lang="en-US" sz="1050" dirty="0"/>
          </a:p>
        </p:txBody>
      </p:sp>
      <p:sp>
        <p:nvSpPr>
          <p:cNvPr id="46" name="Shape 44"/>
          <p:cNvSpPr/>
          <p:nvPr/>
        </p:nvSpPr>
        <p:spPr>
          <a:xfrm>
            <a:off x="6181344" y="4846320"/>
            <a:ext cx="5443423" cy="786384"/>
          </a:xfrm>
          <a:prstGeom prst="roundRect">
            <a:avLst>
              <a:gd name="adj" fmla="val 11628"/>
            </a:avLst>
          </a:prstGeom>
          <a:solidFill>
            <a:srgbClr val="0F3B2E"/>
          </a:solidFill>
          <a:ln w="12700">
            <a:solidFill>
              <a:srgbClr val="34D399"/>
            </a:solidFill>
            <a:prstDash val="solid"/>
          </a:ln>
        </p:spPr>
      </p:sp>
      <p:sp>
        <p:nvSpPr>
          <p:cNvPr id="47" name="Text 45"/>
          <p:cNvSpPr/>
          <p:nvPr/>
        </p:nvSpPr>
        <p:spPr>
          <a:xfrm>
            <a:off x="6400800" y="4956048"/>
            <a:ext cx="5004511" cy="585216"/>
          </a:xfrm>
          <a:prstGeom prst="rect">
            <a:avLst/>
          </a:prstGeom>
          <a:noFill/>
          <a:ln/>
        </p:spPr>
        <p:txBody>
          <a:bodyPr wrap="square" lIns="0" tIns="0" rIns="0" bIns="0" rtlCol="0" anchor="ctr"/>
          <a:lstStyle/>
          <a:p>
            <a:pPr indent="0" marL="0">
              <a:buNone/>
            </a:pPr>
            <a:r>
              <a:rPr lang="en-US" sz="1050" b="1" dirty="0">
                <a:solidFill>
                  <a:srgbClr val="34D399"/>
                </a:solidFill>
                <a:latin typeface="Calibri" pitchFamily="34" charset="0"/>
                <a:ea typeface="Calibri" pitchFamily="34" charset="-122"/>
                <a:cs typeface="Calibri" pitchFamily="34" charset="-120"/>
              </a:rPr>
              <a:t>The governance boundary is architectural, not advisory.  </a:t>
            </a:r>
            <a:pPr indent="0" marL="0">
              <a:buNone/>
            </a:pPr>
            <a:r>
              <a:rPr lang="en-US" sz="1050" dirty="0">
                <a:solidFill>
                  <a:srgbClr val="CADCFC"/>
                </a:solidFill>
                <a:latin typeface="Calibri" pitchFamily="34" charset="0"/>
                <a:ea typeface="Calibri" pitchFamily="34" charset="-122"/>
                <a:cs typeface="Calibri" pitchFamily="34" charset="-120"/>
              </a:rPr>
              <a:t>Every route receives pre-computed figures, is instructed never to recalculate, and degrades to a deterministic fallback — the platform produces identical financial results with no API key at all.</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B1A2E"/>
        </a:solidFill>
      </p:bgPr>
    </p:bg>
    <p:spTree>
      <p:nvGrpSpPr>
        <p:cNvPr id="1" name=""/>
        <p:cNvGrpSpPr/>
        <p:nvPr/>
      </p:nvGrpSpPr>
      <p:grpSpPr>
        <a:xfrm>
          <a:off x="0" y="0"/>
          <a:ext cx="0" cy="0"/>
          <a:chOff x="0" y="0"/>
          <a:chExt cx="0" cy="0"/>
        </a:xfrm>
      </p:grpSpPr>
      <p:sp>
        <p:nvSpPr>
          <p:cNvPr id="2" name="Text 0"/>
          <p:cNvSpPr/>
          <p:nvPr/>
        </p:nvSpPr>
        <p:spPr>
          <a:xfrm>
            <a:off x="566928" y="310896"/>
            <a:ext cx="8680399" cy="237744"/>
          </a:xfrm>
          <a:prstGeom prst="rect">
            <a:avLst/>
          </a:prstGeom>
          <a:noFill/>
          <a:ln/>
        </p:spPr>
        <p:txBody>
          <a:bodyPr wrap="square" lIns="0" tIns="0" rIns="0" bIns="0" rtlCol="0" anchor="ctr"/>
          <a:lstStyle/>
          <a:p>
            <a:pPr indent="0" marL="0">
              <a:buNone/>
            </a:pPr>
            <a:r>
              <a:rPr lang="en-US" sz="1100" b="1" spc="200" kern="0" dirty="0">
                <a:solidFill>
                  <a:srgbClr val="22D3EE"/>
                </a:solidFill>
                <a:latin typeface="Calibri" pitchFamily="34" charset="0"/>
                <a:ea typeface="Calibri" pitchFamily="34" charset="-122"/>
                <a:cs typeface="Calibri" pitchFamily="34" charset="-120"/>
              </a:rPr>
              <a:t>LIMITATIONS AND ETHICS</a:t>
            </a:r>
            <a:endParaRPr lang="en-US" sz="1100" dirty="0"/>
          </a:p>
        </p:txBody>
      </p:sp>
      <p:sp>
        <p:nvSpPr>
          <p:cNvPr id="3" name="Text 1"/>
          <p:cNvSpPr/>
          <p:nvPr/>
        </p:nvSpPr>
        <p:spPr>
          <a:xfrm>
            <a:off x="566928" y="548640"/>
            <a:ext cx="8680399" cy="566928"/>
          </a:xfrm>
          <a:prstGeom prst="rect">
            <a:avLst/>
          </a:prstGeom>
          <a:noFill/>
          <a:ln/>
        </p:spPr>
        <p:txBody>
          <a:bodyPr wrap="square" lIns="0" tIns="0" rIns="0" bIns="0" rtlCol="0" anchor="ctr"/>
          <a:lstStyle/>
          <a:p>
            <a:pPr indent="0" marL="0">
              <a:buNone/>
            </a:pPr>
            <a:r>
              <a:rPr lang="en-US" sz="3000" b="1" dirty="0">
                <a:solidFill>
                  <a:srgbClr val="F8FAFC"/>
                </a:solidFill>
                <a:latin typeface="Cambria" pitchFamily="34" charset="0"/>
                <a:ea typeface="Cambria" pitchFamily="34" charset="-122"/>
                <a:cs typeface="Cambria" pitchFamily="34" charset="-120"/>
              </a:rPr>
              <a:t>Where AI is not allowed to go</a:t>
            </a:r>
            <a:endParaRPr lang="en-US" sz="3000" dirty="0"/>
          </a:p>
        </p:txBody>
      </p:sp>
      <p:sp>
        <p:nvSpPr>
          <p:cNvPr id="4" name="Shape 2"/>
          <p:cNvSpPr/>
          <p:nvPr/>
        </p:nvSpPr>
        <p:spPr>
          <a:xfrm>
            <a:off x="566928" y="1316736"/>
            <a:ext cx="5419192" cy="1005840"/>
          </a:xfrm>
          <a:prstGeom prst="roundRect">
            <a:avLst>
              <a:gd name="adj" fmla="val 9091"/>
            </a:avLst>
          </a:prstGeom>
          <a:solidFill>
            <a:srgbClr val="13314E"/>
          </a:solidFill>
          <a:ln w="12700">
            <a:solidFill>
              <a:srgbClr val="1E4463"/>
            </a:solidFill>
            <a:prstDash val="solid"/>
          </a:ln>
          <a:effectLst>
            <a:outerShdw sx="100000" sy="100000" kx="0" ky="0" algn="bl" rotWithShape="0" blurRad="177800" dist="38100" dir="5400000">
              <a:srgbClr val="000000">
                <a:alpha val="35000"/>
              </a:srgbClr>
            </a:outerShdw>
          </a:effectLst>
        </p:spPr>
      </p:sp>
      <p:sp>
        <p:nvSpPr>
          <p:cNvPr id="5" name="Shape 3"/>
          <p:cNvSpPr/>
          <p:nvPr/>
        </p:nvSpPr>
        <p:spPr>
          <a:xfrm>
            <a:off x="786384" y="1517904"/>
            <a:ext cx="310896" cy="310896"/>
          </a:xfrm>
          <a:prstGeom prst="ellipse">
            <a:avLst/>
          </a:prstGeom>
          <a:solidFill>
            <a:srgbClr val="22D3EE"/>
          </a:solidFill>
          <a:ln w="12700">
            <a:solidFill>
              <a:srgbClr val="22D3EE"/>
            </a:solidFill>
            <a:prstDash val="solid"/>
          </a:ln>
        </p:spPr>
      </p:sp>
      <p:sp>
        <p:nvSpPr>
          <p:cNvPr id="6" name="Text 4"/>
          <p:cNvSpPr/>
          <p:nvPr/>
        </p:nvSpPr>
        <p:spPr>
          <a:xfrm>
            <a:off x="786384" y="1517904"/>
            <a:ext cx="310896" cy="310896"/>
          </a:xfrm>
          <a:prstGeom prst="rect">
            <a:avLst/>
          </a:prstGeom>
          <a:noFill/>
          <a:ln/>
        </p:spPr>
        <p:txBody>
          <a:bodyPr wrap="square" lIns="0" tIns="0" rIns="0" bIns="0" rtlCol="0" anchor="ctr"/>
          <a:lstStyle/>
          <a:p>
            <a:pPr algn="ctr" indent="0" marL="0">
              <a:buNone/>
            </a:pPr>
            <a:r>
              <a:rPr lang="en-US" sz="1300" b="1" dirty="0">
                <a:solidFill>
                  <a:srgbClr val="0B1A2E"/>
                </a:solidFill>
                <a:latin typeface="Calibri" pitchFamily="34" charset="0"/>
                <a:ea typeface="Calibri" pitchFamily="34" charset="-122"/>
                <a:cs typeface="Calibri" pitchFamily="34" charset="-120"/>
              </a:rPr>
              <a:t>1</a:t>
            </a:r>
            <a:endParaRPr lang="en-US" sz="1300" dirty="0"/>
          </a:p>
        </p:txBody>
      </p:sp>
      <p:sp>
        <p:nvSpPr>
          <p:cNvPr id="7" name="Text 5"/>
          <p:cNvSpPr/>
          <p:nvPr/>
        </p:nvSpPr>
        <p:spPr>
          <a:xfrm>
            <a:off x="1207008" y="1499616"/>
            <a:ext cx="4559656" cy="274320"/>
          </a:xfrm>
          <a:prstGeom prst="rect">
            <a:avLst/>
          </a:prstGeom>
          <a:noFill/>
          <a:ln/>
        </p:spPr>
        <p:txBody>
          <a:bodyPr wrap="square" lIns="0" tIns="0" rIns="0" bIns="0" rtlCol="0" anchor="ctr"/>
          <a:lstStyle/>
          <a:p>
            <a:pPr indent="0" marL="0">
              <a:buNone/>
            </a:pPr>
            <a:r>
              <a:rPr lang="en-US" sz="1300" b="1" dirty="0">
                <a:solidFill>
                  <a:srgbClr val="22D3EE"/>
                </a:solidFill>
                <a:latin typeface="Calibri" pitchFamily="34" charset="0"/>
                <a:ea typeface="Calibri" pitchFamily="34" charset="-122"/>
                <a:cs typeface="Calibri" pitchFamily="34" charset="-120"/>
              </a:rPr>
              <a:t>Accuracy</a:t>
            </a:r>
            <a:endParaRPr lang="en-US" sz="1300" dirty="0"/>
          </a:p>
        </p:txBody>
      </p:sp>
      <p:sp>
        <p:nvSpPr>
          <p:cNvPr id="8" name="Text 6"/>
          <p:cNvSpPr/>
          <p:nvPr/>
        </p:nvSpPr>
        <p:spPr>
          <a:xfrm>
            <a:off x="804672" y="1810512"/>
            <a:ext cx="4943704" cy="420624"/>
          </a:xfrm>
          <a:prstGeom prst="rect">
            <a:avLst/>
          </a:prstGeom>
          <a:noFill/>
          <a:ln/>
        </p:spPr>
        <p:txBody>
          <a:bodyPr wrap="square" lIns="0" tIns="0" rIns="0" bIns="0" rtlCol="0" anchor="ctr"/>
          <a:lstStyle/>
          <a:p>
            <a:pPr indent="0" marL="0">
              <a:buNone/>
            </a:pPr>
            <a:r>
              <a:rPr lang="en-US" sz="1100" dirty="0">
                <a:solidFill>
                  <a:srgbClr val="CADCFC"/>
                </a:solidFill>
                <a:latin typeface="Calibri" pitchFamily="34" charset="0"/>
                <a:ea typeface="Calibri" pitchFamily="34" charset="-122"/>
                <a:cs typeface="Calibri" pitchFamily="34" charset="-120"/>
              </a:rPr>
              <a:t>AI output is not verifiable the way a formula is — so it is excluded from every calculation</a:t>
            </a:r>
            <a:endParaRPr lang="en-US" sz="1100" dirty="0"/>
          </a:p>
        </p:txBody>
      </p:sp>
      <p:sp>
        <p:nvSpPr>
          <p:cNvPr id="9" name="Shape 7"/>
          <p:cNvSpPr/>
          <p:nvPr/>
        </p:nvSpPr>
        <p:spPr>
          <a:xfrm>
            <a:off x="6205576" y="1316736"/>
            <a:ext cx="5419192" cy="1005840"/>
          </a:xfrm>
          <a:prstGeom prst="roundRect">
            <a:avLst>
              <a:gd name="adj" fmla="val 9091"/>
            </a:avLst>
          </a:prstGeom>
          <a:solidFill>
            <a:srgbClr val="13314E"/>
          </a:solidFill>
          <a:ln w="12700">
            <a:solidFill>
              <a:srgbClr val="1E4463"/>
            </a:solidFill>
            <a:prstDash val="solid"/>
          </a:ln>
          <a:effectLst>
            <a:outerShdw sx="100000" sy="100000" kx="0" ky="0" algn="bl" rotWithShape="0" blurRad="177800" dist="38100" dir="5400000">
              <a:srgbClr val="000000">
                <a:alpha val="35000"/>
              </a:srgbClr>
            </a:outerShdw>
          </a:effectLst>
        </p:spPr>
      </p:sp>
      <p:sp>
        <p:nvSpPr>
          <p:cNvPr id="10" name="Shape 8"/>
          <p:cNvSpPr/>
          <p:nvPr/>
        </p:nvSpPr>
        <p:spPr>
          <a:xfrm>
            <a:off x="6425032" y="1517904"/>
            <a:ext cx="310896" cy="310896"/>
          </a:xfrm>
          <a:prstGeom prst="ellipse">
            <a:avLst/>
          </a:prstGeom>
          <a:solidFill>
            <a:srgbClr val="22D3EE"/>
          </a:solidFill>
          <a:ln w="12700">
            <a:solidFill>
              <a:srgbClr val="22D3EE"/>
            </a:solidFill>
            <a:prstDash val="solid"/>
          </a:ln>
        </p:spPr>
      </p:sp>
      <p:sp>
        <p:nvSpPr>
          <p:cNvPr id="11" name="Text 9"/>
          <p:cNvSpPr/>
          <p:nvPr/>
        </p:nvSpPr>
        <p:spPr>
          <a:xfrm>
            <a:off x="6425032" y="1517904"/>
            <a:ext cx="310896" cy="310896"/>
          </a:xfrm>
          <a:prstGeom prst="rect">
            <a:avLst/>
          </a:prstGeom>
          <a:noFill/>
          <a:ln/>
        </p:spPr>
        <p:txBody>
          <a:bodyPr wrap="square" lIns="0" tIns="0" rIns="0" bIns="0" rtlCol="0" anchor="ctr"/>
          <a:lstStyle/>
          <a:p>
            <a:pPr algn="ctr" indent="0" marL="0">
              <a:buNone/>
            </a:pPr>
            <a:r>
              <a:rPr lang="en-US" sz="1300" b="1" dirty="0">
                <a:solidFill>
                  <a:srgbClr val="0B1A2E"/>
                </a:solidFill>
                <a:latin typeface="Calibri" pitchFamily="34" charset="0"/>
                <a:ea typeface="Calibri" pitchFamily="34" charset="-122"/>
                <a:cs typeface="Calibri" pitchFamily="34" charset="-120"/>
              </a:rPr>
              <a:t>2</a:t>
            </a:r>
            <a:endParaRPr lang="en-US" sz="1300" dirty="0"/>
          </a:p>
        </p:txBody>
      </p:sp>
      <p:sp>
        <p:nvSpPr>
          <p:cNvPr id="12" name="Text 10"/>
          <p:cNvSpPr/>
          <p:nvPr/>
        </p:nvSpPr>
        <p:spPr>
          <a:xfrm>
            <a:off x="6845656" y="1499616"/>
            <a:ext cx="4559656" cy="274320"/>
          </a:xfrm>
          <a:prstGeom prst="rect">
            <a:avLst/>
          </a:prstGeom>
          <a:noFill/>
          <a:ln/>
        </p:spPr>
        <p:txBody>
          <a:bodyPr wrap="square" lIns="0" tIns="0" rIns="0" bIns="0" rtlCol="0" anchor="ctr"/>
          <a:lstStyle/>
          <a:p>
            <a:pPr indent="0" marL="0">
              <a:buNone/>
            </a:pPr>
            <a:r>
              <a:rPr lang="en-US" sz="1300" b="1" dirty="0">
                <a:solidFill>
                  <a:srgbClr val="22D3EE"/>
                </a:solidFill>
                <a:latin typeface="Calibri" pitchFamily="34" charset="0"/>
                <a:ea typeface="Calibri" pitchFamily="34" charset="-122"/>
                <a:cs typeface="Calibri" pitchFamily="34" charset="-120"/>
              </a:rPr>
              <a:t>Incorrect data</a:t>
            </a:r>
            <a:endParaRPr lang="en-US" sz="1300" dirty="0"/>
          </a:p>
        </p:txBody>
      </p:sp>
      <p:sp>
        <p:nvSpPr>
          <p:cNvPr id="13" name="Text 11"/>
          <p:cNvSpPr/>
          <p:nvPr/>
        </p:nvSpPr>
        <p:spPr>
          <a:xfrm>
            <a:off x="6443320" y="1810512"/>
            <a:ext cx="4943704" cy="420624"/>
          </a:xfrm>
          <a:prstGeom prst="rect">
            <a:avLst/>
          </a:prstGeom>
          <a:noFill/>
          <a:ln/>
        </p:spPr>
        <p:txBody>
          <a:bodyPr wrap="square" lIns="0" tIns="0" rIns="0" bIns="0" rtlCol="0" anchor="ctr"/>
          <a:lstStyle/>
          <a:p>
            <a:pPr indent="0" marL="0">
              <a:buNone/>
            </a:pPr>
            <a:r>
              <a:rPr lang="en-US" sz="1100" dirty="0">
                <a:solidFill>
                  <a:srgbClr val="CADCFC"/>
                </a:solidFill>
                <a:latin typeface="Calibri" pitchFamily="34" charset="0"/>
                <a:ea typeface="Calibri" pitchFamily="34" charset="-122"/>
                <a:cs typeface="Calibri" pitchFamily="34" charset="-120"/>
              </a:rPr>
              <a:t>A confident narrative on a wrong input is worse than none, because fluency reads as authority</a:t>
            </a:r>
            <a:endParaRPr lang="en-US" sz="1100" dirty="0"/>
          </a:p>
        </p:txBody>
      </p:sp>
      <p:sp>
        <p:nvSpPr>
          <p:cNvPr id="14" name="Shape 12"/>
          <p:cNvSpPr/>
          <p:nvPr/>
        </p:nvSpPr>
        <p:spPr>
          <a:xfrm>
            <a:off x="566928" y="2450592"/>
            <a:ext cx="5419192" cy="1005840"/>
          </a:xfrm>
          <a:prstGeom prst="roundRect">
            <a:avLst>
              <a:gd name="adj" fmla="val 9091"/>
            </a:avLst>
          </a:prstGeom>
          <a:solidFill>
            <a:srgbClr val="13314E"/>
          </a:solidFill>
          <a:ln w="12700">
            <a:solidFill>
              <a:srgbClr val="1E4463"/>
            </a:solidFill>
            <a:prstDash val="solid"/>
          </a:ln>
          <a:effectLst>
            <a:outerShdw sx="100000" sy="100000" kx="0" ky="0" algn="bl" rotWithShape="0" blurRad="177800" dist="38100" dir="5400000">
              <a:srgbClr val="000000">
                <a:alpha val="35000"/>
              </a:srgbClr>
            </a:outerShdw>
          </a:effectLst>
        </p:spPr>
      </p:sp>
      <p:sp>
        <p:nvSpPr>
          <p:cNvPr id="15" name="Shape 13"/>
          <p:cNvSpPr/>
          <p:nvPr/>
        </p:nvSpPr>
        <p:spPr>
          <a:xfrm>
            <a:off x="786384" y="2651760"/>
            <a:ext cx="310896" cy="310896"/>
          </a:xfrm>
          <a:prstGeom prst="ellipse">
            <a:avLst/>
          </a:prstGeom>
          <a:solidFill>
            <a:srgbClr val="22D3EE"/>
          </a:solidFill>
          <a:ln w="12700">
            <a:solidFill>
              <a:srgbClr val="22D3EE"/>
            </a:solidFill>
            <a:prstDash val="solid"/>
          </a:ln>
        </p:spPr>
      </p:sp>
      <p:sp>
        <p:nvSpPr>
          <p:cNvPr id="16" name="Text 14"/>
          <p:cNvSpPr/>
          <p:nvPr/>
        </p:nvSpPr>
        <p:spPr>
          <a:xfrm>
            <a:off x="786384" y="2651760"/>
            <a:ext cx="310896" cy="310896"/>
          </a:xfrm>
          <a:prstGeom prst="rect">
            <a:avLst/>
          </a:prstGeom>
          <a:noFill/>
          <a:ln/>
        </p:spPr>
        <p:txBody>
          <a:bodyPr wrap="square" lIns="0" tIns="0" rIns="0" bIns="0" rtlCol="0" anchor="ctr"/>
          <a:lstStyle/>
          <a:p>
            <a:pPr algn="ctr" indent="0" marL="0">
              <a:buNone/>
            </a:pPr>
            <a:r>
              <a:rPr lang="en-US" sz="1300" b="1" dirty="0">
                <a:solidFill>
                  <a:srgbClr val="0B1A2E"/>
                </a:solidFill>
                <a:latin typeface="Calibri" pitchFamily="34" charset="0"/>
                <a:ea typeface="Calibri" pitchFamily="34" charset="-122"/>
                <a:cs typeface="Calibri" pitchFamily="34" charset="-120"/>
              </a:rPr>
              <a:t>3</a:t>
            </a:r>
            <a:endParaRPr lang="en-US" sz="1300" dirty="0"/>
          </a:p>
        </p:txBody>
      </p:sp>
      <p:sp>
        <p:nvSpPr>
          <p:cNvPr id="17" name="Text 15"/>
          <p:cNvSpPr/>
          <p:nvPr/>
        </p:nvSpPr>
        <p:spPr>
          <a:xfrm>
            <a:off x="1207008" y="2633472"/>
            <a:ext cx="4559656" cy="274320"/>
          </a:xfrm>
          <a:prstGeom prst="rect">
            <a:avLst/>
          </a:prstGeom>
          <a:noFill/>
          <a:ln/>
        </p:spPr>
        <p:txBody>
          <a:bodyPr wrap="square" lIns="0" tIns="0" rIns="0" bIns="0" rtlCol="0" anchor="ctr"/>
          <a:lstStyle/>
          <a:p>
            <a:pPr indent="0" marL="0">
              <a:buNone/>
            </a:pPr>
            <a:r>
              <a:rPr lang="en-US" sz="1300" b="1" dirty="0">
                <a:solidFill>
                  <a:srgbClr val="22D3EE"/>
                </a:solidFill>
                <a:latin typeface="Calibri" pitchFamily="34" charset="0"/>
                <a:ea typeface="Calibri" pitchFamily="34" charset="-122"/>
                <a:cs typeface="Calibri" pitchFamily="34" charset="-120"/>
              </a:rPr>
              <a:t>Hallucination</a:t>
            </a:r>
            <a:endParaRPr lang="en-US" sz="1300" dirty="0"/>
          </a:p>
        </p:txBody>
      </p:sp>
      <p:sp>
        <p:nvSpPr>
          <p:cNvPr id="18" name="Text 16"/>
          <p:cNvSpPr/>
          <p:nvPr/>
        </p:nvSpPr>
        <p:spPr>
          <a:xfrm>
            <a:off x="804672" y="2944368"/>
            <a:ext cx="4943704" cy="420624"/>
          </a:xfrm>
          <a:prstGeom prst="rect">
            <a:avLst/>
          </a:prstGeom>
          <a:noFill/>
          <a:ln/>
        </p:spPr>
        <p:txBody>
          <a:bodyPr wrap="square" lIns="0" tIns="0" rIns="0" bIns="0" rtlCol="0" anchor="ctr"/>
          <a:lstStyle/>
          <a:p>
            <a:pPr indent="0" marL="0">
              <a:buNone/>
            </a:pPr>
            <a:r>
              <a:rPr lang="en-US" sz="1100" dirty="0">
                <a:solidFill>
                  <a:srgbClr val="CADCFC"/>
                </a:solidFill>
                <a:latin typeface="Calibri" pitchFamily="34" charset="0"/>
                <a:ea typeface="Calibri" pitchFamily="34" charset="-122"/>
                <a:cs typeface="Calibri" pitchFamily="34" charset="-120"/>
              </a:rPr>
              <a:t>Only validated output enters prompts; the model is instructed never to compute; user text is delimited against injection</a:t>
            </a:r>
            <a:endParaRPr lang="en-US" sz="1100" dirty="0"/>
          </a:p>
        </p:txBody>
      </p:sp>
      <p:sp>
        <p:nvSpPr>
          <p:cNvPr id="19" name="Shape 17"/>
          <p:cNvSpPr/>
          <p:nvPr/>
        </p:nvSpPr>
        <p:spPr>
          <a:xfrm>
            <a:off x="6205576" y="2450592"/>
            <a:ext cx="5419192" cy="1005840"/>
          </a:xfrm>
          <a:prstGeom prst="roundRect">
            <a:avLst>
              <a:gd name="adj" fmla="val 9091"/>
            </a:avLst>
          </a:prstGeom>
          <a:solidFill>
            <a:srgbClr val="13314E"/>
          </a:solidFill>
          <a:ln w="12700">
            <a:solidFill>
              <a:srgbClr val="1E4463"/>
            </a:solidFill>
            <a:prstDash val="solid"/>
          </a:ln>
          <a:effectLst>
            <a:outerShdw sx="100000" sy="100000" kx="0" ky="0" algn="bl" rotWithShape="0" blurRad="177800" dist="38100" dir="5400000">
              <a:srgbClr val="000000">
                <a:alpha val="35000"/>
              </a:srgbClr>
            </a:outerShdw>
          </a:effectLst>
        </p:spPr>
      </p:sp>
      <p:sp>
        <p:nvSpPr>
          <p:cNvPr id="20" name="Shape 18"/>
          <p:cNvSpPr/>
          <p:nvPr/>
        </p:nvSpPr>
        <p:spPr>
          <a:xfrm>
            <a:off x="6425032" y="2651760"/>
            <a:ext cx="310896" cy="310896"/>
          </a:xfrm>
          <a:prstGeom prst="ellipse">
            <a:avLst/>
          </a:prstGeom>
          <a:solidFill>
            <a:srgbClr val="22D3EE"/>
          </a:solidFill>
          <a:ln w="12700">
            <a:solidFill>
              <a:srgbClr val="22D3EE"/>
            </a:solidFill>
            <a:prstDash val="solid"/>
          </a:ln>
        </p:spPr>
      </p:sp>
      <p:sp>
        <p:nvSpPr>
          <p:cNvPr id="21" name="Text 19"/>
          <p:cNvSpPr/>
          <p:nvPr/>
        </p:nvSpPr>
        <p:spPr>
          <a:xfrm>
            <a:off x="6425032" y="2651760"/>
            <a:ext cx="310896" cy="310896"/>
          </a:xfrm>
          <a:prstGeom prst="rect">
            <a:avLst/>
          </a:prstGeom>
          <a:noFill/>
          <a:ln/>
        </p:spPr>
        <p:txBody>
          <a:bodyPr wrap="square" lIns="0" tIns="0" rIns="0" bIns="0" rtlCol="0" anchor="ctr"/>
          <a:lstStyle/>
          <a:p>
            <a:pPr algn="ctr" indent="0" marL="0">
              <a:buNone/>
            </a:pPr>
            <a:r>
              <a:rPr lang="en-US" sz="1300" b="1" dirty="0">
                <a:solidFill>
                  <a:srgbClr val="0B1A2E"/>
                </a:solidFill>
                <a:latin typeface="Calibri" pitchFamily="34" charset="0"/>
                <a:ea typeface="Calibri" pitchFamily="34" charset="-122"/>
                <a:cs typeface="Calibri" pitchFamily="34" charset="-120"/>
              </a:rPr>
              <a:t>4</a:t>
            </a:r>
            <a:endParaRPr lang="en-US" sz="1300" dirty="0"/>
          </a:p>
        </p:txBody>
      </p:sp>
      <p:sp>
        <p:nvSpPr>
          <p:cNvPr id="22" name="Text 20"/>
          <p:cNvSpPr/>
          <p:nvPr/>
        </p:nvSpPr>
        <p:spPr>
          <a:xfrm>
            <a:off x="6845656" y="2633472"/>
            <a:ext cx="4559656" cy="274320"/>
          </a:xfrm>
          <a:prstGeom prst="rect">
            <a:avLst/>
          </a:prstGeom>
          <a:noFill/>
          <a:ln/>
        </p:spPr>
        <p:txBody>
          <a:bodyPr wrap="square" lIns="0" tIns="0" rIns="0" bIns="0" rtlCol="0" anchor="ctr"/>
          <a:lstStyle/>
          <a:p>
            <a:pPr indent="0" marL="0">
              <a:buNone/>
            </a:pPr>
            <a:r>
              <a:rPr lang="en-US" sz="1300" b="1" dirty="0">
                <a:solidFill>
                  <a:srgbClr val="22D3EE"/>
                </a:solidFill>
                <a:latin typeface="Calibri" pitchFamily="34" charset="0"/>
                <a:ea typeface="Calibri" pitchFamily="34" charset="-122"/>
                <a:cs typeface="Calibri" pitchFamily="34" charset="-120"/>
              </a:rPr>
              <a:t>Confidentiality</a:t>
            </a:r>
            <a:endParaRPr lang="en-US" sz="1300" dirty="0"/>
          </a:p>
        </p:txBody>
      </p:sp>
      <p:sp>
        <p:nvSpPr>
          <p:cNvPr id="23" name="Text 21"/>
          <p:cNvSpPr/>
          <p:nvPr/>
        </p:nvSpPr>
        <p:spPr>
          <a:xfrm>
            <a:off x="6443320" y="2944368"/>
            <a:ext cx="4943704" cy="420624"/>
          </a:xfrm>
          <a:prstGeom prst="rect">
            <a:avLst/>
          </a:prstGeom>
          <a:noFill/>
          <a:ln/>
        </p:spPr>
        <p:txBody>
          <a:bodyPr wrap="square" lIns="0" tIns="0" rIns="0" bIns="0" rtlCol="0" anchor="ctr"/>
          <a:lstStyle/>
          <a:p>
            <a:pPr indent="0" marL="0">
              <a:buNone/>
            </a:pPr>
            <a:r>
              <a:rPr lang="en-US" sz="1100" dirty="0">
                <a:solidFill>
                  <a:srgbClr val="CADCFC"/>
                </a:solidFill>
                <a:latin typeface="Calibri" pitchFamily="34" charset="0"/>
                <a:ea typeface="Calibri" pitchFamily="34" charset="-122"/>
                <a:cs typeface="Calibri" pitchFamily="34" charset="-120"/>
              </a:rPr>
              <a:t>No personal or customer data is transmitted; credentials stay server-side in route handlers</a:t>
            </a:r>
            <a:endParaRPr lang="en-US" sz="1100" dirty="0"/>
          </a:p>
        </p:txBody>
      </p:sp>
      <p:sp>
        <p:nvSpPr>
          <p:cNvPr id="24" name="Shape 22"/>
          <p:cNvSpPr/>
          <p:nvPr/>
        </p:nvSpPr>
        <p:spPr>
          <a:xfrm>
            <a:off x="566928" y="3584448"/>
            <a:ext cx="5419192" cy="1005840"/>
          </a:xfrm>
          <a:prstGeom prst="roundRect">
            <a:avLst>
              <a:gd name="adj" fmla="val 9091"/>
            </a:avLst>
          </a:prstGeom>
          <a:solidFill>
            <a:srgbClr val="13314E"/>
          </a:solidFill>
          <a:ln w="12700">
            <a:solidFill>
              <a:srgbClr val="1E4463"/>
            </a:solidFill>
            <a:prstDash val="solid"/>
          </a:ln>
          <a:effectLst>
            <a:outerShdw sx="100000" sy="100000" kx="0" ky="0" algn="bl" rotWithShape="0" blurRad="177800" dist="38100" dir="5400000">
              <a:srgbClr val="000000">
                <a:alpha val="35000"/>
              </a:srgbClr>
            </a:outerShdw>
          </a:effectLst>
        </p:spPr>
      </p:sp>
      <p:sp>
        <p:nvSpPr>
          <p:cNvPr id="25" name="Shape 23"/>
          <p:cNvSpPr/>
          <p:nvPr/>
        </p:nvSpPr>
        <p:spPr>
          <a:xfrm>
            <a:off x="786384" y="3785616"/>
            <a:ext cx="310896" cy="310896"/>
          </a:xfrm>
          <a:prstGeom prst="ellipse">
            <a:avLst/>
          </a:prstGeom>
          <a:solidFill>
            <a:srgbClr val="22D3EE"/>
          </a:solidFill>
          <a:ln w="12700">
            <a:solidFill>
              <a:srgbClr val="22D3EE"/>
            </a:solidFill>
            <a:prstDash val="solid"/>
          </a:ln>
        </p:spPr>
      </p:sp>
      <p:sp>
        <p:nvSpPr>
          <p:cNvPr id="26" name="Text 24"/>
          <p:cNvSpPr/>
          <p:nvPr/>
        </p:nvSpPr>
        <p:spPr>
          <a:xfrm>
            <a:off x="786384" y="3785616"/>
            <a:ext cx="310896" cy="310896"/>
          </a:xfrm>
          <a:prstGeom prst="rect">
            <a:avLst/>
          </a:prstGeom>
          <a:noFill/>
          <a:ln/>
        </p:spPr>
        <p:txBody>
          <a:bodyPr wrap="square" lIns="0" tIns="0" rIns="0" bIns="0" rtlCol="0" anchor="ctr"/>
          <a:lstStyle/>
          <a:p>
            <a:pPr algn="ctr" indent="0" marL="0">
              <a:buNone/>
            </a:pPr>
            <a:r>
              <a:rPr lang="en-US" sz="1300" b="1" dirty="0">
                <a:solidFill>
                  <a:srgbClr val="0B1A2E"/>
                </a:solidFill>
                <a:latin typeface="Calibri" pitchFamily="34" charset="0"/>
                <a:ea typeface="Calibri" pitchFamily="34" charset="-122"/>
                <a:cs typeface="Calibri" pitchFamily="34" charset="-120"/>
              </a:rPr>
              <a:t>5</a:t>
            </a:r>
            <a:endParaRPr lang="en-US" sz="1300" dirty="0"/>
          </a:p>
        </p:txBody>
      </p:sp>
      <p:sp>
        <p:nvSpPr>
          <p:cNvPr id="27" name="Text 25"/>
          <p:cNvSpPr/>
          <p:nvPr/>
        </p:nvSpPr>
        <p:spPr>
          <a:xfrm>
            <a:off x="1207008" y="3767328"/>
            <a:ext cx="4559656" cy="274320"/>
          </a:xfrm>
          <a:prstGeom prst="rect">
            <a:avLst/>
          </a:prstGeom>
          <a:noFill/>
          <a:ln/>
        </p:spPr>
        <p:txBody>
          <a:bodyPr wrap="square" lIns="0" tIns="0" rIns="0" bIns="0" rtlCol="0" anchor="ctr"/>
          <a:lstStyle/>
          <a:p>
            <a:pPr indent="0" marL="0">
              <a:buNone/>
            </a:pPr>
            <a:r>
              <a:rPr lang="en-US" sz="1300" b="1" dirty="0">
                <a:solidFill>
                  <a:srgbClr val="22D3EE"/>
                </a:solidFill>
                <a:latin typeface="Calibri" pitchFamily="34" charset="0"/>
                <a:ea typeface="Calibri" pitchFamily="34" charset="-122"/>
                <a:cs typeface="Calibri" pitchFamily="34" charset="-120"/>
              </a:rPr>
              <a:t>Bias</a:t>
            </a:r>
            <a:endParaRPr lang="en-US" sz="1300" dirty="0"/>
          </a:p>
        </p:txBody>
      </p:sp>
      <p:sp>
        <p:nvSpPr>
          <p:cNvPr id="28" name="Text 26"/>
          <p:cNvSpPr/>
          <p:nvPr/>
        </p:nvSpPr>
        <p:spPr>
          <a:xfrm>
            <a:off x="804672" y="4078224"/>
            <a:ext cx="4943704" cy="420624"/>
          </a:xfrm>
          <a:prstGeom prst="rect">
            <a:avLst/>
          </a:prstGeom>
          <a:noFill/>
          <a:ln/>
        </p:spPr>
        <p:txBody>
          <a:bodyPr wrap="square" lIns="0" tIns="0" rIns="0" bIns="0" rtlCol="0" anchor="ctr"/>
          <a:lstStyle/>
          <a:p>
            <a:pPr indent="0" marL="0">
              <a:buNone/>
            </a:pPr>
            <a:r>
              <a:rPr lang="en-US" sz="1100" dirty="0">
                <a:solidFill>
                  <a:srgbClr val="CADCFC"/>
                </a:solidFill>
                <a:latin typeface="Calibri" pitchFamily="34" charset="0"/>
                <a:ea typeface="Calibri" pitchFamily="34" charset="-122"/>
                <a:cs typeface="Calibri" pitchFamily="34" charset="-120"/>
              </a:rPr>
              <a:t>Forecasts inherit the optimism of whoever set them — the pessimistic case, risk panel and board debate are counterweights</a:t>
            </a:r>
            <a:endParaRPr lang="en-US" sz="1100" dirty="0"/>
          </a:p>
        </p:txBody>
      </p:sp>
      <p:sp>
        <p:nvSpPr>
          <p:cNvPr id="29" name="Shape 27"/>
          <p:cNvSpPr/>
          <p:nvPr/>
        </p:nvSpPr>
        <p:spPr>
          <a:xfrm>
            <a:off x="6205576" y="3584448"/>
            <a:ext cx="5419192" cy="1005840"/>
          </a:xfrm>
          <a:prstGeom prst="roundRect">
            <a:avLst>
              <a:gd name="adj" fmla="val 9091"/>
            </a:avLst>
          </a:prstGeom>
          <a:solidFill>
            <a:srgbClr val="13314E"/>
          </a:solidFill>
          <a:ln w="12700">
            <a:solidFill>
              <a:srgbClr val="1E4463"/>
            </a:solidFill>
            <a:prstDash val="solid"/>
          </a:ln>
          <a:effectLst>
            <a:outerShdw sx="100000" sy="100000" kx="0" ky="0" algn="bl" rotWithShape="0" blurRad="177800" dist="38100" dir="5400000">
              <a:srgbClr val="000000">
                <a:alpha val="35000"/>
              </a:srgbClr>
            </a:outerShdw>
          </a:effectLst>
        </p:spPr>
      </p:sp>
      <p:sp>
        <p:nvSpPr>
          <p:cNvPr id="30" name="Shape 28"/>
          <p:cNvSpPr/>
          <p:nvPr/>
        </p:nvSpPr>
        <p:spPr>
          <a:xfrm>
            <a:off x="6425032" y="3785616"/>
            <a:ext cx="310896" cy="310896"/>
          </a:xfrm>
          <a:prstGeom prst="ellipse">
            <a:avLst/>
          </a:prstGeom>
          <a:solidFill>
            <a:srgbClr val="22D3EE"/>
          </a:solidFill>
          <a:ln w="12700">
            <a:solidFill>
              <a:srgbClr val="22D3EE"/>
            </a:solidFill>
            <a:prstDash val="solid"/>
          </a:ln>
        </p:spPr>
      </p:sp>
      <p:sp>
        <p:nvSpPr>
          <p:cNvPr id="31" name="Text 29"/>
          <p:cNvSpPr/>
          <p:nvPr/>
        </p:nvSpPr>
        <p:spPr>
          <a:xfrm>
            <a:off x="6425032" y="3785616"/>
            <a:ext cx="310896" cy="310896"/>
          </a:xfrm>
          <a:prstGeom prst="rect">
            <a:avLst/>
          </a:prstGeom>
          <a:noFill/>
          <a:ln/>
        </p:spPr>
        <p:txBody>
          <a:bodyPr wrap="square" lIns="0" tIns="0" rIns="0" bIns="0" rtlCol="0" anchor="ctr"/>
          <a:lstStyle/>
          <a:p>
            <a:pPr algn="ctr" indent="0" marL="0">
              <a:buNone/>
            </a:pPr>
            <a:r>
              <a:rPr lang="en-US" sz="1300" b="1" dirty="0">
                <a:solidFill>
                  <a:srgbClr val="0B1A2E"/>
                </a:solidFill>
                <a:latin typeface="Calibri" pitchFamily="34" charset="0"/>
                <a:ea typeface="Calibri" pitchFamily="34" charset="-122"/>
                <a:cs typeface="Calibri" pitchFamily="34" charset="-120"/>
              </a:rPr>
              <a:t>6</a:t>
            </a:r>
            <a:endParaRPr lang="en-US" sz="1300" dirty="0"/>
          </a:p>
        </p:txBody>
      </p:sp>
      <p:sp>
        <p:nvSpPr>
          <p:cNvPr id="32" name="Text 30"/>
          <p:cNvSpPr/>
          <p:nvPr/>
        </p:nvSpPr>
        <p:spPr>
          <a:xfrm>
            <a:off x="6845656" y="3767328"/>
            <a:ext cx="4559656" cy="274320"/>
          </a:xfrm>
          <a:prstGeom prst="rect">
            <a:avLst/>
          </a:prstGeom>
          <a:noFill/>
          <a:ln/>
        </p:spPr>
        <p:txBody>
          <a:bodyPr wrap="square" lIns="0" tIns="0" rIns="0" bIns="0" rtlCol="0" anchor="ctr"/>
          <a:lstStyle/>
          <a:p>
            <a:pPr indent="0" marL="0">
              <a:buNone/>
            </a:pPr>
            <a:r>
              <a:rPr lang="en-US" sz="1300" b="1" dirty="0">
                <a:solidFill>
                  <a:srgbClr val="22D3EE"/>
                </a:solidFill>
                <a:latin typeface="Calibri" pitchFamily="34" charset="0"/>
                <a:ea typeface="Calibri" pitchFamily="34" charset="-122"/>
                <a:cs typeface="Calibri" pitchFamily="34" charset="-120"/>
              </a:rPr>
              <a:t>Human review</a:t>
            </a:r>
            <a:endParaRPr lang="en-US" sz="1300" dirty="0"/>
          </a:p>
        </p:txBody>
      </p:sp>
      <p:sp>
        <p:nvSpPr>
          <p:cNvPr id="33" name="Text 31"/>
          <p:cNvSpPr/>
          <p:nvPr/>
        </p:nvSpPr>
        <p:spPr>
          <a:xfrm>
            <a:off x="6443320" y="4078224"/>
            <a:ext cx="4943704" cy="420624"/>
          </a:xfrm>
          <a:prstGeom prst="rect">
            <a:avLst/>
          </a:prstGeom>
          <a:noFill/>
          <a:ln/>
        </p:spPr>
        <p:txBody>
          <a:bodyPr wrap="square" lIns="0" tIns="0" rIns="0" bIns="0" rtlCol="0" anchor="ctr"/>
          <a:lstStyle/>
          <a:p>
            <a:pPr indent="0" marL="0">
              <a:buNone/>
            </a:pPr>
            <a:r>
              <a:rPr lang="en-US" sz="1100" dirty="0">
                <a:solidFill>
                  <a:srgbClr val="CADCFC"/>
                </a:solidFill>
                <a:latin typeface="Calibri" pitchFamily="34" charset="0"/>
                <a:ea typeface="Calibri" pitchFamily="34" charset="-122"/>
                <a:cs typeface="Calibri" pitchFamily="34" charset="-120"/>
              </a:rPr>
              <a:t>Every response is labelled advisory, carries a provenance badge, and requires sign-off</a:t>
            </a:r>
            <a:endParaRPr lang="en-US" sz="1100" dirty="0"/>
          </a:p>
        </p:txBody>
      </p:sp>
      <p:sp>
        <p:nvSpPr>
          <p:cNvPr id="34" name="Shape 32"/>
          <p:cNvSpPr/>
          <p:nvPr/>
        </p:nvSpPr>
        <p:spPr>
          <a:xfrm>
            <a:off x="566928" y="4828032"/>
            <a:ext cx="11057839" cy="841248"/>
          </a:xfrm>
          <a:prstGeom prst="roundRect">
            <a:avLst>
              <a:gd name="adj" fmla="val 10870"/>
            </a:avLst>
          </a:prstGeom>
          <a:solidFill>
            <a:srgbClr val="0F2740"/>
          </a:solidFill>
          <a:ln w="19050">
            <a:solidFill>
              <a:srgbClr val="22D3EE"/>
            </a:solidFill>
            <a:prstDash val="solid"/>
          </a:ln>
        </p:spPr>
      </p:sp>
      <p:sp>
        <p:nvSpPr>
          <p:cNvPr id="35" name="Text 33"/>
          <p:cNvSpPr/>
          <p:nvPr/>
        </p:nvSpPr>
        <p:spPr>
          <a:xfrm>
            <a:off x="877824" y="4956048"/>
            <a:ext cx="10436047" cy="585216"/>
          </a:xfrm>
          <a:prstGeom prst="rect">
            <a:avLst/>
          </a:prstGeom>
          <a:noFill/>
          <a:ln/>
        </p:spPr>
        <p:txBody>
          <a:bodyPr wrap="square" lIns="0" tIns="0" rIns="0" bIns="0" rtlCol="0" anchor="ctr"/>
          <a:lstStyle/>
          <a:p>
            <a:pPr indent="0" marL="0">
              <a:buNone/>
            </a:pPr>
            <a:r>
              <a:rPr lang="en-US" sz="1300" b="1" dirty="0">
                <a:solidFill>
                  <a:srgbClr val="22D3EE"/>
                </a:solidFill>
                <a:latin typeface="Calibri" pitchFamily="34" charset="0"/>
                <a:ea typeface="Calibri" pitchFamily="34" charset="-122"/>
                <a:cs typeface="Calibri" pitchFamily="34" charset="-120"/>
              </a:rPr>
              <a:t>Responsibility.  </a:t>
            </a:r>
            <a:pPr indent="0" marL="0">
              <a:buNone/>
            </a:pPr>
            <a:r>
              <a:rPr lang="en-US" sz="1300" dirty="0">
                <a:solidFill>
                  <a:srgbClr val="F8FAFC"/>
                </a:solidFill>
                <a:latin typeface="Calibri" pitchFamily="34" charset="0"/>
                <a:ea typeface="Calibri" pitchFamily="34" charset="-122"/>
                <a:cs typeface="Calibri" pitchFamily="34" charset="-120"/>
              </a:rPr>
              <a:t>Final responsibility for this investment decision rests with the Chief Financial Officer and the Capital Expenditure Committee. It does not rest with the AI system, and no output here should be read as transferring it.</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B1A2E"/>
        </a:solidFill>
      </p:bgPr>
    </p:bg>
    <p:spTree>
      <p:nvGrpSpPr>
        <p:cNvPr id="1" name=""/>
        <p:cNvGrpSpPr/>
        <p:nvPr/>
      </p:nvGrpSpPr>
      <p:grpSpPr>
        <a:xfrm>
          <a:off x="0" y="0"/>
          <a:ext cx="0" cy="0"/>
          <a:chOff x="0" y="0"/>
          <a:chExt cx="0" cy="0"/>
        </a:xfrm>
      </p:grpSpPr>
      <p:sp>
        <p:nvSpPr>
          <p:cNvPr id="2" name="Text 0"/>
          <p:cNvSpPr/>
          <p:nvPr/>
        </p:nvSpPr>
        <p:spPr>
          <a:xfrm>
            <a:off x="566928" y="310896"/>
            <a:ext cx="8680399" cy="237744"/>
          </a:xfrm>
          <a:prstGeom prst="rect">
            <a:avLst/>
          </a:prstGeom>
          <a:noFill/>
          <a:ln/>
        </p:spPr>
        <p:txBody>
          <a:bodyPr wrap="square" lIns="0" tIns="0" rIns="0" bIns="0" rtlCol="0" anchor="ctr"/>
          <a:lstStyle/>
          <a:p>
            <a:pPr indent="0" marL="0">
              <a:buNone/>
            </a:pPr>
            <a:r>
              <a:rPr lang="en-US" sz="1100" b="1" spc="200" kern="0" dirty="0">
                <a:solidFill>
                  <a:srgbClr val="22D3EE"/>
                </a:solidFill>
                <a:latin typeface="Calibri" pitchFamily="34" charset="0"/>
                <a:ea typeface="Calibri" pitchFamily="34" charset="-122"/>
                <a:cs typeface="Calibri" pitchFamily="34" charset="-120"/>
              </a:rPr>
              <a:t>THE RECOMMENDATION</a:t>
            </a:r>
            <a:endParaRPr lang="en-US" sz="1100" dirty="0"/>
          </a:p>
        </p:txBody>
      </p:sp>
      <p:sp>
        <p:nvSpPr>
          <p:cNvPr id="3" name="Text 1"/>
          <p:cNvSpPr/>
          <p:nvPr/>
        </p:nvSpPr>
        <p:spPr>
          <a:xfrm>
            <a:off x="566928" y="548640"/>
            <a:ext cx="8680399" cy="566928"/>
          </a:xfrm>
          <a:prstGeom prst="rect">
            <a:avLst/>
          </a:prstGeom>
          <a:noFill/>
          <a:ln/>
        </p:spPr>
        <p:txBody>
          <a:bodyPr wrap="square" lIns="0" tIns="0" rIns="0" bIns="0" rtlCol="0" anchor="ctr"/>
          <a:lstStyle/>
          <a:p>
            <a:pPr indent="0" marL="0">
              <a:buNone/>
            </a:pPr>
            <a:r>
              <a:rPr lang="en-US" sz="3000" b="1" dirty="0">
                <a:solidFill>
                  <a:srgbClr val="F8FAFC"/>
                </a:solidFill>
                <a:latin typeface="Cambria" pitchFamily="34" charset="0"/>
                <a:ea typeface="Cambria" pitchFamily="34" charset="-122"/>
                <a:cs typeface="Cambria" pitchFamily="34" charset="-120"/>
              </a:rPr>
              <a:t>Approve — and gate the money on evidence</a:t>
            </a:r>
            <a:endParaRPr lang="en-US" sz="3000" dirty="0"/>
          </a:p>
        </p:txBody>
      </p:sp>
      <p:sp>
        <p:nvSpPr>
          <p:cNvPr id="4" name="Shape 2"/>
          <p:cNvSpPr/>
          <p:nvPr/>
        </p:nvSpPr>
        <p:spPr>
          <a:xfrm>
            <a:off x="9475927" y="384048"/>
            <a:ext cx="2148840" cy="384048"/>
          </a:xfrm>
          <a:prstGeom prst="roundRect">
            <a:avLst>
              <a:gd name="adj" fmla="val 50000"/>
            </a:avLst>
          </a:prstGeom>
          <a:solidFill>
            <a:srgbClr val="13314E"/>
          </a:solidFill>
          <a:ln w="12700">
            <a:solidFill>
              <a:srgbClr val="22D3EE"/>
            </a:solidFill>
            <a:prstDash val="solid"/>
          </a:ln>
        </p:spPr>
      </p:sp>
      <p:sp>
        <p:nvSpPr>
          <p:cNvPr id="5" name="Text 3"/>
          <p:cNvSpPr/>
          <p:nvPr/>
        </p:nvSpPr>
        <p:spPr>
          <a:xfrm>
            <a:off x="9475927" y="384048"/>
            <a:ext cx="2148840" cy="384048"/>
          </a:xfrm>
          <a:prstGeom prst="rect">
            <a:avLst/>
          </a:prstGeom>
          <a:noFill/>
          <a:ln/>
        </p:spPr>
        <p:txBody>
          <a:bodyPr wrap="square" lIns="0" tIns="0" rIns="0" bIns="0" rtlCol="0" anchor="ctr"/>
          <a:lstStyle/>
          <a:p>
            <a:pPr algn="ctr" indent="0" marL="0">
              <a:buNone/>
            </a:pPr>
            <a:r>
              <a:rPr lang="en-US" sz="1150" b="1" dirty="0">
                <a:solidFill>
                  <a:srgbClr val="22D3EE"/>
                </a:solidFill>
                <a:latin typeface="Calibri" pitchFamily="34" charset="0"/>
                <a:ea typeface="Calibri" pitchFamily="34" charset="-122"/>
                <a:cs typeface="Calibri" pitchFamily="34" charset="-120"/>
              </a:rPr>
              <a:t>QUESTION 5</a:t>
            </a:r>
            <a:endParaRPr lang="en-US" sz="1150" dirty="0"/>
          </a:p>
        </p:txBody>
      </p:sp>
      <p:sp>
        <p:nvSpPr>
          <p:cNvPr id="6" name="Shape 4"/>
          <p:cNvSpPr/>
          <p:nvPr/>
        </p:nvSpPr>
        <p:spPr>
          <a:xfrm>
            <a:off x="566928" y="1280160"/>
            <a:ext cx="11057839" cy="969264"/>
          </a:xfrm>
          <a:prstGeom prst="roundRect">
            <a:avLst>
              <a:gd name="adj" fmla="val 11321"/>
            </a:avLst>
          </a:prstGeom>
          <a:solidFill>
            <a:srgbClr val="0F3B2E"/>
          </a:solidFill>
          <a:ln w="19050">
            <a:solidFill>
              <a:srgbClr val="34D399"/>
            </a:solidFill>
            <a:prstDash val="solid"/>
          </a:ln>
        </p:spPr>
      </p:sp>
      <p:sp>
        <p:nvSpPr>
          <p:cNvPr id="7" name="Text 5"/>
          <p:cNvSpPr/>
          <p:nvPr/>
        </p:nvSpPr>
        <p:spPr>
          <a:xfrm>
            <a:off x="896112" y="1389888"/>
            <a:ext cx="2377440" cy="749808"/>
          </a:xfrm>
          <a:prstGeom prst="rect">
            <a:avLst/>
          </a:prstGeom>
          <a:noFill/>
          <a:ln/>
        </p:spPr>
        <p:txBody>
          <a:bodyPr wrap="square" lIns="0" tIns="0" rIns="0" bIns="0" rtlCol="0" anchor="ctr"/>
          <a:lstStyle/>
          <a:p>
            <a:pPr indent="0" marL="0">
              <a:buNone/>
            </a:pPr>
            <a:r>
              <a:rPr lang="en-US" sz="3000" b="1" dirty="0">
                <a:solidFill>
                  <a:srgbClr val="34D399"/>
                </a:solidFill>
                <a:latin typeface="Cambria" pitchFamily="34" charset="0"/>
                <a:ea typeface="Cambria" pitchFamily="34" charset="-122"/>
                <a:cs typeface="Cambria" pitchFamily="34" charset="-120"/>
              </a:rPr>
              <a:t>APPROVE</a:t>
            </a:r>
            <a:endParaRPr lang="en-US" sz="3000" dirty="0"/>
          </a:p>
        </p:txBody>
      </p:sp>
      <p:sp>
        <p:nvSpPr>
          <p:cNvPr id="8" name="Text 6"/>
          <p:cNvSpPr/>
          <p:nvPr/>
        </p:nvSpPr>
        <p:spPr>
          <a:xfrm>
            <a:off x="3364992" y="1389888"/>
            <a:ext cx="7930591" cy="749808"/>
          </a:xfrm>
          <a:prstGeom prst="rect">
            <a:avLst/>
          </a:prstGeom>
          <a:noFill/>
          <a:ln/>
        </p:spPr>
        <p:txBody>
          <a:bodyPr wrap="square" lIns="0" tIns="0" rIns="0" bIns="0" rtlCol="0" anchor="ctr"/>
          <a:lstStyle/>
          <a:p>
            <a:pPr indent="0" marL="0">
              <a:buNone/>
            </a:pPr>
            <a:r>
              <a:rPr lang="en-US" sz="1250" dirty="0">
                <a:solidFill>
                  <a:srgbClr val="F8FAFC"/>
                </a:solidFill>
                <a:latin typeface="Calibri" pitchFamily="34" charset="0"/>
                <a:ea typeface="Calibri" pitchFamily="34" charset="-122"/>
                <a:cs typeface="Calibri" pitchFamily="34" charset="-120"/>
              </a:rPr>
              <a:t>AED 12.08M net present value  ·  26.30% IRR against an 11.50% hurdle  ·  profitability index 1.50  ·  payback inside four years  ·  all five decision rules agree  ·  expected value across weighted scenarios AED 9.56M</a:t>
            </a:r>
            <a:endParaRPr lang="en-US" sz="1250" dirty="0"/>
          </a:p>
        </p:txBody>
      </p:sp>
      <p:sp>
        <p:nvSpPr>
          <p:cNvPr id="9" name="Shape 7"/>
          <p:cNvSpPr/>
          <p:nvPr/>
        </p:nvSpPr>
        <p:spPr>
          <a:xfrm>
            <a:off x="566928" y="2432304"/>
            <a:ext cx="5419192" cy="1700784"/>
          </a:xfrm>
          <a:prstGeom prst="roundRect">
            <a:avLst>
              <a:gd name="adj" fmla="val 5376"/>
            </a:avLst>
          </a:prstGeom>
          <a:solidFill>
            <a:srgbClr val="13314E"/>
          </a:solidFill>
          <a:ln w="12700">
            <a:solidFill>
              <a:srgbClr val="1E4463"/>
            </a:solidFill>
            <a:prstDash val="solid"/>
          </a:ln>
          <a:effectLst>
            <a:outerShdw sx="100000" sy="100000" kx="0" ky="0" algn="bl" rotWithShape="0" blurRad="177800" dist="38100" dir="5400000">
              <a:srgbClr val="000000">
                <a:alpha val="35000"/>
              </a:srgbClr>
            </a:outerShdw>
          </a:effectLst>
        </p:spPr>
      </p:sp>
      <p:sp>
        <p:nvSpPr>
          <p:cNvPr id="10" name="Shape 8"/>
          <p:cNvSpPr/>
          <p:nvPr/>
        </p:nvSpPr>
        <p:spPr>
          <a:xfrm>
            <a:off x="804672" y="2633472"/>
            <a:ext cx="310896" cy="310896"/>
          </a:xfrm>
          <a:prstGeom prst="ellipse">
            <a:avLst/>
          </a:prstGeom>
          <a:solidFill>
            <a:srgbClr val="22D3EE"/>
          </a:solidFill>
          <a:ln w="12700">
            <a:solidFill>
              <a:srgbClr val="22D3EE"/>
            </a:solidFill>
            <a:prstDash val="solid"/>
          </a:ln>
        </p:spPr>
      </p:sp>
      <p:sp>
        <p:nvSpPr>
          <p:cNvPr id="11" name="Text 9"/>
          <p:cNvSpPr/>
          <p:nvPr/>
        </p:nvSpPr>
        <p:spPr>
          <a:xfrm>
            <a:off x="804672" y="2633472"/>
            <a:ext cx="310896" cy="310896"/>
          </a:xfrm>
          <a:prstGeom prst="rect">
            <a:avLst/>
          </a:prstGeom>
          <a:noFill/>
          <a:ln/>
        </p:spPr>
        <p:txBody>
          <a:bodyPr wrap="square" lIns="0" tIns="0" rIns="0" bIns="0" rtlCol="0" anchor="ctr"/>
          <a:lstStyle/>
          <a:p>
            <a:pPr algn="ctr" indent="0" marL="0">
              <a:buNone/>
            </a:pPr>
            <a:r>
              <a:rPr lang="en-US" sz="1300" b="1" dirty="0">
                <a:solidFill>
                  <a:srgbClr val="0B1A2E"/>
                </a:solidFill>
                <a:latin typeface="Calibri" pitchFamily="34" charset="0"/>
                <a:ea typeface="Calibri" pitchFamily="34" charset="-122"/>
                <a:cs typeface="Calibri" pitchFamily="34" charset="-120"/>
              </a:rPr>
              <a:t>1</a:t>
            </a:r>
            <a:endParaRPr lang="en-US" sz="1300" dirty="0"/>
          </a:p>
        </p:txBody>
      </p:sp>
      <p:sp>
        <p:nvSpPr>
          <p:cNvPr id="12" name="Text 10"/>
          <p:cNvSpPr/>
          <p:nvPr/>
        </p:nvSpPr>
        <p:spPr>
          <a:xfrm>
            <a:off x="1225296" y="2615184"/>
            <a:ext cx="4541368" cy="237744"/>
          </a:xfrm>
          <a:prstGeom prst="rect">
            <a:avLst/>
          </a:prstGeom>
          <a:noFill/>
          <a:ln/>
        </p:spPr>
        <p:txBody>
          <a:bodyPr wrap="square" lIns="0" tIns="0" rIns="0" bIns="0" rtlCol="0" anchor="ctr"/>
          <a:lstStyle/>
          <a:p>
            <a:pPr indent="0" marL="0">
              <a:buNone/>
            </a:pPr>
            <a:r>
              <a:rPr lang="en-US" sz="950" b="1" spc="160" kern="0" dirty="0">
                <a:solidFill>
                  <a:srgbClr val="22D3EE"/>
                </a:solidFill>
                <a:latin typeface="Calibri" pitchFamily="34" charset="0"/>
                <a:ea typeface="Calibri" pitchFamily="34" charset="-122"/>
                <a:cs typeface="Calibri" pitchFamily="34" charset="-120"/>
              </a:rPr>
              <a:t>CONDITION 1</a:t>
            </a:r>
            <a:endParaRPr lang="en-US" sz="950" dirty="0"/>
          </a:p>
        </p:txBody>
      </p:sp>
      <p:sp>
        <p:nvSpPr>
          <p:cNvPr id="13" name="Text 11"/>
          <p:cNvSpPr/>
          <p:nvPr/>
        </p:nvSpPr>
        <p:spPr>
          <a:xfrm>
            <a:off x="1225296" y="2834640"/>
            <a:ext cx="4541368" cy="310896"/>
          </a:xfrm>
          <a:prstGeom prst="rect">
            <a:avLst/>
          </a:prstGeom>
          <a:noFill/>
          <a:ln/>
        </p:spPr>
        <p:txBody>
          <a:bodyPr wrap="square" lIns="0" tIns="0" rIns="0" bIns="0" rtlCol="0" anchor="ctr"/>
          <a:lstStyle/>
          <a:p>
            <a:pPr indent="0" marL="0">
              <a:buNone/>
            </a:pPr>
            <a:r>
              <a:rPr lang="en-US" sz="1300" b="1" dirty="0">
                <a:solidFill>
                  <a:srgbClr val="F8FAFC"/>
                </a:solidFill>
                <a:latin typeface="Calibri" pitchFamily="34" charset="0"/>
                <a:ea typeface="Calibri" pitchFamily="34" charset="-122"/>
                <a:cs typeface="Calibri" pitchFamily="34" charset="-120"/>
              </a:rPr>
              <a:t>Release capital against measured savings, not the calendar</a:t>
            </a:r>
            <a:endParaRPr lang="en-US" sz="1300" dirty="0"/>
          </a:p>
        </p:txBody>
      </p:sp>
      <p:sp>
        <p:nvSpPr>
          <p:cNvPr id="14" name="Text 12"/>
          <p:cNvSpPr/>
          <p:nvPr/>
        </p:nvSpPr>
        <p:spPr>
          <a:xfrm>
            <a:off x="822960" y="3218688"/>
            <a:ext cx="4907128" cy="822960"/>
          </a:xfrm>
          <a:prstGeom prst="rect">
            <a:avLst/>
          </a:prstGeom>
          <a:noFill/>
          <a:ln/>
        </p:spPr>
        <p:txBody>
          <a:bodyPr wrap="square" lIns="0" tIns="0" rIns="0" bIns="0" rtlCol="0" anchor="ctr"/>
          <a:lstStyle/>
          <a:p>
            <a:pPr indent="0" marL="0">
              <a:buNone/>
            </a:pPr>
            <a:r>
              <a:rPr lang="en-US" sz="1100" dirty="0">
                <a:solidFill>
                  <a:srgbClr val="CADCFC"/>
                </a:solidFill>
                <a:latin typeface="Calibri" pitchFamily="34" charset="0"/>
                <a:ea typeface="Calibri" pitchFamily="34" charset="-122"/>
                <a:cs typeface="Calibri" pitchFamily="34" charset="-120"/>
              </a:rPr>
              <a:t>Benefit realisation swings NPV by AED 16.67M — twice the next driver and more than the project’s whole base-case value. Phase 1 of AED 14.0M releases now; the remaining AED 10.0M releases only when Year-1 savings are evidenced.</a:t>
            </a:r>
            <a:endParaRPr lang="en-US" sz="1100" dirty="0"/>
          </a:p>
        </p:txBody>
      </p:sp>
      <p:sp>
        <p:nvSpPr>
          <p:cNvPr id="15" name="Shape 13"/>
          <p:cNvSpPr/>
          <p:nvPr/>
        </p:nvSpPr>
        <p:spPr>
          <a:xfrm>
            <a:off x="6205576" y="2432304"/>
            <a:ext cx="5419192" cy="1700784"/>
          </a:xfrm>
          <a:prstGeom prst="roundRect">
            <a:avLst>
              <a:gd name="adj" fmla="val 5376"/>
            </a:avLst>
          </a:prstGeom>
          <a:solidFill>
            <a:srgbClr val="13314E"/>
          </a:solidFill>
          <a:ln w="12700">
            <a:solidFill>
              <a:srgbClr val="1E4463"/>
            </a:solidFill>
            <a:prstDash val="solid"/>
          </a:ln>
          <a:effectLst>
            <a:outerShdw sx="100000" sy="100000" kx="0" ky="0" algn="bl" rotWithShape="0" blurRad="177800" dist="38100" dir="5400000">
              <a:srgbClr val="000000">
                <a:alpha val="35000"/>
              </a:srgbClr>
            </a:outerShdw>
          </a:effectLst>
        </p:spPr>
      </p:sp>
      <p:sp>
        <p:nvSpPr>
          <p:cNvPr id="16" name="Shape 14"/>
          <p:cNvSpPr/>
          <p:nvPr/>
        </p:nvSpPr>
        <p:spPr>
          <a:xfrm>
            <a:off x="6443320" y="2633472"/>
            <a:ext cx="310896" cy="310896"/>
          </a:xfrm>
          <a:prstGeom prst="ellipse">
            <a:avLst/>
          </a:prstGeom>
          <a:solidFill>
            <a:srgbClr val="22D3EE"/>
          </a:solidFill>
          <a:ln w="12700">
            <a:solidFill>
              <a:srgbClr val="22D3EE"/>
            </a:solidFill>
            <a:prstDash val="solid"/>
          </a:ln>
        </p:spPr>
      </p:sp>
      <p:sp>
        <p:nvSpPr>
          <p:cNvPr id="17" name="Text 15"/>
          <p:cNvSpPr/>
          <p:nvPr/>
        </p:nvSpPr>
        <p:spPr>
          <a:xfrm>
            <a:off x="6443320" y="2633472"/>
            <a:ext cx="310896" cy="310896"/>
          </a:xfrm>
          <a:prstGeom prst="rect">
            <a:avLst/>
          </a:prstGeom>
          <a:noFill/>
          <a:ln/>
        </p:spPr>
        <p:txBody>
          <a:bodyPr wrap="square" lIns="0" tIns="0" rIns="0" bIns="0" rtlCol="0" anchor="ctr"/>
          <a:lstStyle/>
          <a:p>
            <a:pPr algn="ctr" indent="0" marL="0">
              <a:buNone/>
            </a:pPr>
            <a:r>
              <a:rPr lang="en-US" sz="1300" b="1" dirty="0">
                <a:solidFill>
                  <a:srgbClr val="0B1A2E"/>
                </a:solidFill>
                <a:latin typeface="Calibri" pitchFamily="34" charset="0"/>
                <a:ea typeface="Calibri" pitchFamily="34" charset="-122"/>
                <a:cs typeface="Calibri" pitchFamily="34" charset="-120"/>
              </a:rPr>
              <a:t>2</a:t>
            </a:r>
            <a:endParaRPr lang="en-US" sz="1300" dirty="0"/>
          </a:p>
        </p:txBody>
      </p:sp>
      <p:sp>
        <p:nvSpPr>
          <p:cNvPr id="18" name="Text 16"/>
          <p:cNvSpPr/>
          <p:nvPr/>
        </p:nvSpPr>
        <p:spPr>
          <a:xfrm>
            <a:off x="6863944" y="2615184"/>
            <a:ext cx="4541368" cy="237744"/>
          </a:xfrm>
          <a:prstGeom prst="rect">
            <a:avLst/>
          </a:prstGeom>
          <a:noFill/>
          <a:ln/>
        </p:spPr>
        <p:txBody>
          <a:bodyPr wrap="square" lIns="0" tIns="0" rIns="0" bIns="0" rtlCol="0" anchor="ctr"/>
          <a:lstStyle/>
          <a:p>
            <a:pPr indent="0" marL="0">
              <a:buNone/>
            </a:pPr>
            <a:r>
              <a:rPr lang="en-US" sz="950" b="1" spc="160" kern="0" dirty="0">
                <a:solidFill>
                  <a:srgbClr val="22D3EE"/>
                </a:solidFill>
                <a:latin typeface="Calibri" pitchFamily="34" charset="0"/>
                <a:ea typeface="Calibri" pitchFamily="34" charset="-122"/>
                <a:cs typeface="Calibri" pitchFamily="34" charset="-120"/>
              </a:rPr>
              <a:t>CONDITION 2</a:t>
            </a:r>
            <a:endParaRPr lang="en-US" sz="950" dirty="0"/>
          </a:p>
        </p:txBody>
      </p:sp>
      <p:sp>
        <p:nvSpPr>
          <p:cNvPr id="19" name="Text 17"/>
          <p:cNvSpPr/>
          <p:nvPr/>
        </p:nvSpPr>
        <p:spPr>
          <a:xfrm>
            <a:off x="6863944" y="2834640"/>
            <a:ext cx="4541368" cy="310896"/>
          </a:xfrm>
          <a:prstGeom prst="rect">
            <a:avLst/>
          </a:prstGeom>
          <a:noFill/>
          <a:ln/>
        </p:spPr>
        <p:txBody>
          <a:bodyPr wrap="square" lIns="0" tIns="0" rIns="0" bIns="0" rtlCol="0" anchor="ctr"/>
          <a:lstStyle/>
          <a:p>
            <a:pPr indent="0" marL="0">
              <a:buNone/>
            </a:pPr>
            <a:r>
              <a:rPr lang="en-US" sz="1300" b="1" dirty="0">
                <a:solidFill>
                  <a:srgbClr val="F8FAFC"/>
                </a:solidFill>
                <a:latin typeface="Calibri" pitchFamily="34" charset="0"/>
                <a:ea typeface="Calibri" pitchFamily="34" charset="-122"/>
                <a:cs typeface="Calibri" pitchFamily="34" charset="-120"/>
              </a:rPr>
              <a:t>Require a vendor performance guarantee and a buyback</a:t>
            </a:r>
            <a:endParaRPr lang="en-US" sz="1300" dirty="0"/>
          </a:p>
        </p:txBody>
      </p:sp>
      <p:sp>
        <p:nvSpPr>
          <p:cNvPr id="20" name="Text 18"/>
          <p:cNvSpPr/>
          <p:nvPr/>
        </p:nvSpPr>
        <p:spPr>
          <a:xfrm>
            <a:off x="6461608" y="3218688"/>
            <a:ext cx="4907128" cy="822960"/>
          </a:xfrm>
          <a:prstGeom prst="rect">
            <a:avLst/>
          </a:prstGeom>
          <a:noFill/>
          <a:ln/>
        </p:spPr>
        <p:txBody>
          <a:bodyPr wrap="square" lIns="0" tIns="0" rIns="0" bIns="0" rtlCol="0" anchor="ctr"/>
          <a:lstStyle/>
          <a:p>
            <a:pPr indent="0" marL="0">
              <a:buNone/>
            </a:pPr>
            <a:r>
              <a:rPr lang="en-US" sz="1100" dirty="0">
                <a:solidFill>
                  <a:srgbClr val="CADCFC"/>
                </a:solidFill>
                <a:latin typeface="Calibri" pitchFamily="34" charset="0"/>
                <a:ea typeface="Calibri" pitchFamily="34" charset="-122"/>
                <a:cs typeface="Calibri" pitchFamily="34" charset="-120"/>
              </a:rPr>
              <a:t>The pessimistic case destroys AED 4.94M and the engine returns a hard Reject. A performance guarantee plus a secondary-market equipment buyback truncates that tail before any capital is committed.</a:t>
            </a:r>
            <a:endParaRPr lang="en-US" sz="1100" dirty="0"/>
          </a:p>
        </p:txBody>
      </p:sp>
      <p:sp>
        <p:nvSpPr>
          <p:cNvPr id="21" name="Shape 19"/>
          <p:cNvSpPr/>
          <p:nvPr/>
        </p:nvSpPr>
        <p:spPr>
          <a:xfrm>
            <a:off x="566928" y="4315968"/>
            <a:ext cx="11057839" cy="1298448"/>
          </a:xfrm>
          <a:prstGeom prst="roundRect">
            <a:avLst>
              <a:gd name="adj" fmla="val 7042"/>
            </a:avLst>
          </a:prstGeom>
          <a:solidFill>
            <a:srgbClr val="0F2740"/>
          </a:solidFill>
          <a:ln w="12700">
            <a:solidFill>
              <a:srgbClr val="1E4463"/>
            </a:solidFill>
            <a:prstDash val="solid"/>
          </a:ln>
          <a:effectLst>
            <a:outerShdw sx="100000" sy="100000" kx="0" ky="0" algn="bl" rotWithShape="0" blurRad="177800" dist="38100" dir="5400000">
              <a:srgbClr val="000000">
                <a:alpha val="35000"/>
              </a:srgbClr>
            </a:outerShdw>
          </a:effectLst>
        </p:spPr>
      </p:sp>
      <p:sp>
        <p:nvSpPr>
          <p:cNvPr id="22" name="Text 20"/>
          <p:cNvSpPr/>
          <p:nvPr/>
        </p:nvSpPr>
        <p:spPr>
          <a:xfrm>
            <a:off x="841248" y="4443984"/>
            <a:ext cx="3657600" cy="274320"/>
          </a:xfrm>
          <a:prstGeom prst="rect">
            <a:avLst/>
          </a:prstGeom>
          <a:noFill/>
          <a:ln/>
        </p:spPr>
        <p:txBody>
          <a:bodyPr wrap="square" lIns="0" tIns="0" rIns="0" bIns="0" rtlCol="0" anchor="ctr"/>
          <a:lstStyle/>
          <a:p>
            <a:pPr indent="0" marL="0">
              <a:buNone/>
            </a:pPr>
            <a:r>
              <a:rPr lang="en-US" sz="1350" b="1" dirty="0">
                <a:solidFill>
                  <a:srgbClr val="22D3EE"/>
                </a:solidFill>
                <a:latin typeface="Calibri" pitchFamily="34" charset="0"/>
                <a:ea typeface="Calibri" pitchFamily="34" charset="-122"/>
                <a:cs typeface="Calibri" pitchFamily="34" charset="-120"/>
              </a:rPr>
              <a:t>The risks that attach</a:t>
            </a:r>
            <a:endParaRPr lang="en-US" sz="1350" dirty="0"/>
          </a:p>
        </p:txBody>
      </p:sp>
      <p:sp>
        <p:nvSpPr>
          <p:cNvPr id="23" name="Text 21"/>
          <p:cNvSpPr/>
          <p:nvPr/>
        </p:nvSpPr>
        <p:spPr>
          <a:xfrm>
            <a:off x="841248" y="4736592"/>
            <a:ext cx="10509199" cy="786384"/>
          </a:xfrm>
          <a:prstGeom prst="rect">
            <a:avLst/>
          </a:prstGeom>
          <a:noFill/>
          <a:ln/>
        </p:spPr>
        <p:txBody>
          <a:bodyPr wrap="square" lIns="0" tIns="0" rIns="0" bIns="0" rtlCol="0" anchor="ctr"/>
          <a:lstStyle/>
          <a:p>
            <a:pPr indent="0" marL="0">
              <a:buNone/>
            </a:pPr>
            <a:r>
              <a:rPr lang="en-US" sz="1150" b="1" dirty="0">
                <a:solidFill>
                  <a:srgbClr val="F8FAFC"/>
                </a:solidFill>
                <a:latin typeface="Calibri" pitchFamily="34" charset="0"/>
                <a:ea typeface="Calibri" pitchFamily="34" charset="-122"/>
                <a:cs typeface="Calibri" pitchFamily="34" charset="-120"/>
              </a:rPr>
              <a:t>Financial:  </a:t>
            </a:r>
            <a:pPr indent="0" marL="0">
              <a:buNone/>
            </a:pPr>
            <a:r>
              <a:rPr lang="en-US" sz="1150" dirty="0">
                <a:solidFill>
                  <a:srgbClr val="CADCFC"/>
                </a:solidFill>
                <a:latin typeface="Calibri" pitchFamily="34" charset="0"/>
                <a:ea typeface="Calibri" pitchFamily="34" charset="-122"/>
                <a:cs typeface="Calibri" pitchFamily="34" charset="-120"/>
              </a:rPr>
              <a:t>a benefit shortfall beyond 29.0%, a total outlay overrun beyond 50.4%, or a cost of capital above 26.30% — each individually survivable, dangerous only in combination.   </a:t>
            </a:r>
            <a:pPr indent="0" marL="0">
              <a:buNone/>
            </a:pPr>
            <a:r>
              <a:rPr lang="en-US" sz="1150" b="1" dirty="0">
                <a:solidFill>
                  <a:srgbClr val="F8FAFC"/>
                </a:solidFill>
                <a:latin typeface="Calibri" pitchFamily="34" charset="0"/>
                <a:ea typeface="Calibri" pitchFamily="34" charset="-122"/>
                <a:cs typeface="Calibri" pitchFamily="34" charset="-120"/>
              </a:rPr>
              <a:t>AI-related:  </a:t>
            </a:r>
            <a:pPr indent="0" marL="0">
              <a:buNone/>
            </a:pPr>
            <a:r>
              <a:rPr lang="en-US" sz="1150" dirty="0">
                <a:solidFill>
                  <a:srgbClr val="CADCFC"/>
                </a:solidFill>
                <a:latin typeface="Calibri" pitchFamily="34" charset="0"/>
                <a:ea typeface="Calibri" pitchFamily="34" charset="-122"/>
                <a:cs typeface="Calibri" pitchFamily="34" charset="-120"/>
              </a:rPr>
              <a:t>bounded by architecture — the model never touches the arithmetic, every response is labelled and traceable, and the platform returns identical financial results with no model available at all. The decision, and the accountability for it, remain human.</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CapExIQ — Topic 9 Capital-Budgeting Decision Platform</dc:title>
  <dc:subject>PptxGenJS Presentation</dc:subject>
  <dc:creator>CapExIQ</dc:creator>
  <cp:lastModifiedBy>CapExIQ</cp:lastModifiedBy>
  <cp:revision>1</cp:revision>
  <dcterms:created xsi:type="dcterms:W3CDTF">2026-08-02T12:23:40Z</dcterms:created>
  <dcterms:modified xsi:type="dcterms:W3CDTF">2026-08-02T12:23:40Z</dcterms:modified>
</cp:coreProperties>
</file>