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Good morning members of the Board and Executive Committee. I am the Chief Financial Officer, presenting on behalf of our six-member CFO Investment Committee.</a:t>
            </a:r>
          </a:p>
          <a:p>
            <a:r>
              <a:t>2. Main Talking Points: Today we evaluate a strategic AED 24 million capital allocation to construct an automated micro-fulfilment centre in Dubai. This initiative addresses urgent fast-commerce delivery challenges across the UAE.</a:t>
            </a:r>
          </a:p>
          <a:p>
            <a:r>
              <a:t>3. Key Number: AED 24 million total outlay yielding an NPV of AED 12.08 million and an IRR of 26.3%.</a:t>
            </a:r>
          </a:p>
          <a:p>
            <a:r>
              <a:t>4. Transition: Let us begin with an executive snapshot of our financial return metrics.</a:t>
            </a:r>
          </a:p>
          <a:p>
            <a:r>
              <a:t>5. Timing: 2 minutes (Presenter: Member 1 — CFO).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This snapshot summarizes the core investment returns evaluated by our FP&amp;A and Treasury leads.</a:t>
            </a:r>
          </a:p>
          <a:p>
            <a:r>
              <a:t>2. Main Talking Points: At an 11.5% hurdle rate, the project delivers AED 12.08 million in net value. Our IRR of 26.3% provides a massive 14.8 percentage point safety buffer over WACC.</a:t>
            </a:r>
          </a:p>
          <a:p>
            <a:r>
              <a:t>3. Key Number: 26.30% IRR vs 11.50% WACC.</a:t>
            </a:r>
          </a:p>
          <a:p>
            <a:r>
              <a:t>4. Transition: Now let us turn to our Operations Director to examine why this investment is operationally essential.</a:t>
            </a:r>
          </a:p>
          <a:p>
            <a:r>
              <a:t>5. Timing: 2.5 minutes (Presenter: Member 1 — CFO).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From an operational perspective, our current manual picking model has hit a wall in UAE urban centers.</a:t>
            </a:r>
          </a:p>
          <a:p>
            <a:r>
              <a:t>2. Main Talking Points: Picking manually in hypermarket aisles takes 24 hours and costs AED 14.50 per order. Automated MFC robotics compresses delivery to under 2 hours and slashes unit picking costs to AED 4.20.</a:t>
            </a:r>
          </a:p>
          <a:p>
            <a:r>
              <a:t>3. Key Number: SLA compressed from 24 Hours down to 2 Hours.</a:t>
            </a:r>
          </a:p>
          <a:p>
            <a:r>
              <a:t>4. Transition: I will now hand over to our FP&amp;A Director to break down the AED 24 million capital allocation structure.</a:t>
            </a:r>
          </a:p>
          <a:p>
            <a:r>
              <a:t>5. Timing: 3 minutes (Presenter: Member 4 — Operations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As FP&amp;A Director, I have audited the exact capital structure required for Time Zero.</a:t>
            </a:r>
          </a:p>
          <a:p>
            <a:r>
              <a:t>2. Main Talking Points: Out of AED 24.0 million total investment, AED 22.0 million is hard CapEx—primarily robotics grids and software. The remaining AED 2.0 million is net working capital, which is 100% recovered at Year 5.</a:t>
            </a:r>
          </a:p>
          <a:p>
            <a:r>
              <a:t>3. Key Number: AED 22M CapEx + AED 2M Working Capital.</a:t>
            </a:r>
          </a:p>
          <a:p>
            <a:r>
              <a:t>4. Transition: Next, let us evaluate the cash flow generation and value creation bridge.</a:t>
            </a:r>
          </a:p>
          <a:p>
            <a:r>
              <a:t>5. Timing: 2.5 minutes (Presenter: Member 2 — FP&amp;A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Continuing with financial valuation, our 5-year cash flow model demonstrates robust shareholder value creation.</a:t>
            </a:r>
          </a:p>
          <a:p>
            <a:r>
              <a:t>2. Main Talking Points: The project generates between AED 7.5M and AED 12.9M in annual Free Cash Flow. Depreciation shields UAE corporate tax, driving an NPV of AED 12.08M and a MIRR of 19.34%.</a:t>
            </a:r>
          </a:p>
          <a:p>
            <a:r>
              <a:t>3. Key Number: AED 12,083,628 Net Present Value.</a:t>
            </a:r>
          </a:p>
          <a:p>
            <a:r>
              <a:t>4. Transition: I will now hand over to our Treasury &amp; Risk Director to stress-test these numbers against downside scenarios.</a:t>
            </a:r>
          </a:p>
          <a:p>
            <a:r>
              <a:t>5. Timing: 3 minutes (Presenter: Member 2 — FP&amp;A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As Treasury &amp; Risk Director, my responsibility is testing how resilient this investment is across uncertain futures.</a:t>
            </a:r>
          </a:p>
          <a:p>
            <a:r>
              <a:t>2. Main Talking Points: We stress-tested 4 scenarios. Even under a pessimistic shock—15% capex overrun and higher WACC—the probability-weighted expected NPV remains highly positive at +AED 10.56M.</a:t>
            </a:r>
          </a:p>
          <a:p>
            <a:r>
              <a:t>3. Key Number: Probability-Weighted E[NPV] = AED 10.56M.</a:t>
            </a:r>
          </a:p>
          <a:p>
            <a:r>
              <a:t>4. Transition: Next, let us examine the specific sensitivity variables in our tornado chart.</a:t>
            </a:r>
          </a:p>
          <a:p>
            <a:r>
              <a:t>5. Timing: 3 minutes (Presenter: Member 3 — Treasury &amp; Risk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Our tornado sensitivity analysis identifies exactly which variables management must control.</a:t>
            </a:r>
          </a:p>
          <a:p>
            <a:r>
              <a:t>2. Main Talking Points: Year 1 operating savings is our primary value driver. The project tolerates up to a 50.3% CapEx overrun before breaking even, giving us strong structural downside protection.</a:t>
            </a:r>
          </a:p>
          <a:p>
            <a:r>
              <a:t>3. Key Number: Maximum tolerable CapEx overrun = +50.3%.</a:t>
            </a:r>
          </a:p>
          <a:p>
            <a:r>
              <a:t>4. Transition: I hand over to our Strategy &amp; Governance Director to present our decision alternatives.</a:t>
            </a:r>
          </a:p>
          <a:p>
            <a:r>
              <a:t>5. Timing: 2.5 minutes (Presenter: Member 3 — Treasury &amp; Risk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As Strategy Director, we evaluated four distinct decision paths for the Board.</a:t>
            </a:r>
          </a:p>
          <a:p>
            <a:r>
              <a:t>2. Main Talking Points: While Option 1 offers maximum speed, Option 2 (Phased Pilot + Gate) is the superior risk-controlled choice. It commits AED 14M first and protects liquidity.</a:t>
            </a:r>
          </a:p>
          <a:p>
            <a:r>
              <a:t>3. Key Number: Option 2 captures upside while limiting downside capital exposure.</a:t>
            </a:r>
          </a:p>
          <a:p>
            <a:r>
              <a:t>4. Transition: Let us examine how the Real Options stage-gate framework is structured.</a:t>
            </a:r>
          </a:p>
          <a:p>
            <a:r>
              <a:t>5. Timing: 2.5 minutes (Presenter: Member 5 — Strategy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The Real Options approach converts capital allocation from a rigid one-time bet into a flexible decision process.</a:t>
            </a:r>
          </a:p>
          <a:p>
            <a:r>
              <a:t>2. Main Talking Points: Stage 1 commits initial phase funding. At Stage 4, the Investment Committee audits verified picking speed and cost savings before unlocking Phase 2 capital.</a:t>
            </a:r>
          </a:p>
          <a:p>
            <a:r>
              <a:t>3. Key Number: 5 sequential stage gates.</a:t>
            </a:r>
          </a:p>
          <a:p>
            <a:r>
              <a:t>4. Transition: Now let us review the operational implementation roadmap.</a:t>
            </a:r>
          </a:p>
          <a:p>
            <a:r>
              <a:t>5. Timing: 2.5 minutes (Presenter: Member 5 — Strategy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This execution roadmap maps our 12-month deployment timeline.</a:t>
            </a:r>
          </a:p>
          <a:p>
            <a:r>
              <a:t>2. Main Talking Points: Each phase has a designated executive owner and strict exit criteria. Phase 4 provides the critical gate audit before full commercial launch in Month 10.</a:t>
            </a:r>
          </a:p>
          <a:p>
            <a:r>
              <a:t>3. Key Number: 12-month total deployment timeline.</a:t>
            </a:r>
          </a:p>
          <a:p>
            <a:r>
              <a:t>4. Transition: I will now hand over to our Financial Controller to review performance controls and KPIs.</a:t>
            </a:r>
          </a:p>
          <a:p>
            <a:r>
              <a:t>5. Timing: 2.5 minutes (Presenter: Member 5 — Strategy Director).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As Financial Controller, my role is ensuring projected financial benefits translate directly into audited financial statements.</a:t>
            </a:r>
          </a:p>
          <a:p>
            <a:r>
              <a:t>2. Main Talking Points: We monitor 6 primary KPIs across fulfillment speed, unit costs, accuracy, and debt coverage. Monthly labor savings of AED 625k will be audited prior to financial close.</a:t>
            </a:r>
          </a:p>
          <a:p>
            <a:r>
              <a:t>3. Key Number: 6 primary performance KPIs.</a:t>
            </a:r>
          </a:p>
          <a:p>
            <a:r>
              <a:t>4. Transition: Next, let us examine our governance hierarchy and decision rights.</a:t>
            </a:r>
          </a:p>
          <a:p>
            <a:r>
              <a:t>5. Timing: 2.5 minutes (Presenter: Member 6 — Financial 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Strong governance requires clear decision rights across the executive leadership team.</a:t>
            </a:r>
          </a:p>
          <a:p>
            <a:r>
              <a:t>2. Main Talking Points: Our RACI framework establishes that the CFO holds financial gate sign-off, while the COO and CTO are held accountable for operational SLAs and software uptime.</a:t>
            </a:r>
          </a:p>
          <a:p>
            <a:r>
              <a:t>3. Key Number: 100% clear decision rights.</a:t>
            </a:r>
          </a:p>
          <a:p>
            <a:r>
              <a:t>4. Transition: Let us view our comprehensive Investment Decision Scorecard.</a:t>
            </a:r>
          </a:p>
          <a:p>
            <a:r>
              <a:t>5. Timing: 2.5 minutes (Presenter: Member 6 — Financial 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This balanced scorecard consolidates our multidimensional audit.</a:t>
            </a:r>
          </a:p>
          <a:p>
            <a:r>
              <a:t>2. Main Talking Points: The project achieves 5-star ratings in financial attractiveness and strategic alignment. With strong governance controls, the overall recommendation is Approve with Implementation Gates.</a:t>
            </a:r>
          </a:p>
          <a:p>
            <a:r>
              <a:t>3. Key Number: 5 out of 5 stars in Financial Attractiveness.</a:t>
            </a:r>
          </a:p>
          <a:p>
            <a:r>
              <a:t>4. Transition: I hand back to our CFO to present the final recommendation to the Board.</a:t>
            </a:r>
          </a:p>
          <a:p>
            <a:r>
              <a:t>5. Timing: 2 minutes (Presenter: Member 6 — Financial 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Members of the Board, our recommendation is clear, rigorous, and evidence-driven.</a:t>
            </a:r>
          </a:p>
          <a:p>
            <a:r>
              <a:t>2. Main Talking Points: We recommend approving the investment under a gated implementation structure. This captures AED 12.08 million in net shareholder wealth while protecting liquidity.</a:t>
            </a:r>
          </a:p>
          <a:p>
            <a:r>
              <a:t>3. Key Number: Approve Phase 1 (AED 14M) immediately; release AED 10M at Gate 2.</a:t>
            </a:r>
          </a:p>
          <a:p>
            <a:r>
              <a:t>4. Transition: Let us close with the three immediate actions required today.</a:t>
            </a:r>
          </a:p>
          <a:p>
            <a:r>
              <a:t>5. Timing: 2.5 minutes (Presenter: Member 1 — CFO).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 Sentence: To conclude our presentation, we seek Board authorization for three immediate action items today.</a:t>
            </a:r>
          </a:p>
          <a:p>
            <a:r>
              <a:t>2. Main Talking Points: 1. Approve Phase 1 capital of AED 14M. 2. Authorize turnkey vendor contracts. 3. Re-convene in Month 6 for the Gate 2 audit prior to full rollout.</a:t>
            </a:r>
          </a:p>
          <a:p>
            <a:r>
              <a:t>3. Key Number: 3 immediate action items.</a:t>
            </a:r>
          </a:p>
          <a:p>
            <a:r>
              <a:t>4. Transition: Thank you for your time and confidence. We now open the floor for Board Q&amp;A.</a:t>
            </a:r>
          </a:p>
          <a:p>
            <a:r>
              <a:t>5. Timing: 2 minutes (Presenter: Member 1 — CFO).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CapExIQ — Automated Micro-Fulfilment Centre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6B6D4"/>
                </a:solidFill>
              </a:defRPr>
            </a:pPr>
            <a:r>
              <a:t>CAPITAL BUDGETING &amp; INVESTMENT DECISION PRESENTATION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Entity: NovaRetail GCC (UAE)  •  Initial Outlay: AED 24.0M  •  5-Year Horizon</a:t>
            </a:r>
          </a:p>
          <a:p>
            <a:br/>
            <a:pPr algn="ctr">
              <a:defRPr sz="950">
                <a:solidFill>
                  <a:srgbClr val="94A3B8"/>
                </a:solidFill>
              </a:defRPr>
            </a:pPr>
            <a:r>
              <a:t>Prepared by the 6-Member CFO Investment Committee:</a:t>
            </a:r>
            <a:br/>
            <a:r>
              <a:t>1. CFO &amp; Project Lead  •  2. FP&amp;A Director  •  3. Treasury &amp; Risk Director</a:t>
            </a:r>
            <a:br/>
            <a:r>
              <a:t>4. Operations Director  •  5. Strategy &amp; Governance Director  •  6. Financial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3904" y="3474720"/>
            <a:ext cx="4572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RECOMMENDED ACTION: APPROVE WITH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1 —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Investment Case at a Glance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Executive KPI Snapshot &amp; Return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AED 24.0M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Initial Investment Outlay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6304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554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AED 12.08M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Net Present Value (NPV)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46304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554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26.30%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Internal Rate of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46304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554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19.34%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Modified IRR (MIRR)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46304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554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3.1 Years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Payback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11094415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HURDLE RATE COMPARISON:  IRR 26.30%  vs  WACC 11.50%  (Spread: +14.80%)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Value Creation: The project creates AED 12.08M in net present value above our 11.50% cost of capital.</a:t>
            </a:r>
            <a:br/>
            <a:r>
              <a:t>• Profitability Index: 1.504x (Generates AED 1.50 present value per AED 1.00 capital invested).</a:t>
            </a:r>
            <a:br/>
            <a:r>
              <a:t>• Governance Verdict: Exceptional return metrics justify investment, governed via 5 implementation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4 — Operations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This Investment, Why Now?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Strategic Operational Transformation &amp; SLA Compression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CURRENT STATE (Manual Model)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❌ 24-Hour Fulfillment SLA (Slow delivery)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❌ AED 14.50 Unit Picking Cost (High labor cost)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❌ 3.4% Order Picking Error Rate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❌ Limited Peak Capacity (Hypermarket aisle congestion)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❌ High Labor Dependency &amp; Staff Turnover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FUTURE STATE (Automated MFC)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✅ 2-Hour Order Fulfillment SLA (Fast-commerce leader)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✅ AED 4.20 Unit Picking Cost (-71% labor reduction)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✅ 99.8% Order Picking Accuracy (Minimal refunds)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✅ 8,000 Orders/Day Capacity (High-density ASRS)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✅ Automated Goods-to-Person (G2P)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2 — FP&amp;A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Where Is the AED 24M Going?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Capital Allocation Structure &amp; Asset Breakdown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CAPITAL EXPENDITURE (CapEx): AED 22.0M (91.7%)</a:t>
            </a:r>
          </a:p>
          <a:p>
            <a:pPr>
              <a:spcBef>
                <a:spcPts val="1200"/>
              </a:spcBef>
              <a:defRPr sz="1050">
                <a:solidFill>
                  <a:srgbClr val="FFFFFF"/>
                </a:solidFill>
              </a:defRPr>
            </a:pPr>
            <a:r>
              <a:t>• ASRS Grid &amp; Mobile G2P Robots: AED 18.0M</a:t>
            </a:r>
          </a:p>
          <a:p>
            <a:pPr>
              <a:spcBef>
                <a:spcPts val="1200"/>
              </a:spcBef>
              <a:defRPr sz="1050">
                <a:solidFill>
                  <a:srgbClr val="FFFFFF"/>
                </a:solidFill>
              </a:defRPr>
            </a:pPr>
            <a:r>
              <a:t>• Warehouse Control System (WCS) Software: AED 1.2M</a:t>
            </a:r>
          </a:p>
          <a:p>
            <a:pPr>
              <a:spcBef>
                <a:spcPts val="1200"/>
              </a:spcBef>
              <a:defRPr sz="1050">
                <a:solidFill>
                  <a:srgbClr val="FFFFFF"/>
                </a:solidFill>
              </a:defRPr>
            </a:pPr>
            <a:r>
              <a:t>• Civil &amp; Mechanical Facility Fit-out: AED 2.5M</a:t>
            </a:r>
          </a:p>
          <a:p>
            <a:pPr>
              <a:spcBef>
                <a:spcPts val="1200"/>
              </a:spcBef>
              <a:defRPr sz="1050">
                <a:solidFill>
                  <a:srgbClr val="FFFFFF"/>
                </a:solidFill>
              </a:defRPr>
            </a:pPr>
            <a:r>
              <a:t>• Staff Training &amp; Integration Launch: AED 0.3M</a:t>
            </a:r>
          </a:p>
          <a:p>
            <a:pPr>
              <a:spcBef>
                <a:spcPts val="1200"/>
              </a:spcBef>
              <a:defRPr sz="1050">
                <a:solidFill>
                  <a:srgbClr val="FFFFFF"/>
                </a:solidFill>
              </a:defRPr>
            </a:pPr>
            <a:r>
              <a:t>• Depreciation: Straight-line AED 4.4M/yr over 5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NET WORKING CAPITAL (NWC): AED 2.0M (8.3%)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Spare Parts &amp; Maintenance Inventory Buffer: AED 1.2M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Ramp-up Initial Operating Cash Buffer: AED 0.8M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Liquidity Guard: Fully recovered at Year 5 project termination.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Governance Note: Capital disbursements released strictly against milestone execution gates.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2 — FP&amp;A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Financial Case Is Strong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Value Creation Bridge &amp; Cash Flow 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VALUE CREATION BRIDGE (5-YEAR CASH FLOW MODEL)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Initial Outlay (AED 24.0M) ──&gt; Annual FCF (AED 7.5M to 12.9M) ──&gt; Net Present Value (+AED 12.08M)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Operating Savings: AED 7.5M in Year 1 growing to AED 8.77M in Year 5 via automated labor elimination.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Contribution Margin Expansion: AED 2.5M to AED 3.0M annual revenue margin growth.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Tax Shield Optimization: Straight-line depreciation shields AED 396k annually in UAE 9% Corporate Tax.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Return Metrics: NPV = AED 12,083,628 | IRR = 26.30% | MIRR = 19.34% | Discounted Payback = 4.0 Years.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Data Transparency Note: Detailed annual cash flow schedule requires ongoing validation of volume ramp-up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3 — Treasury &amp; Risk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Does the Investment Perform Under Different Futures?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Multi-Scenario Stress Testing &amp; Expected Value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BASE CASE (50%)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Baseline volume (+15%)</a:t>
            </a:r>
            <a:br/>
            <a:r>
              <a:t>Cost savings: AED 10.0M</a:t>
            </a:r>
            <a:br/>
            <a:r>
              <a:t>WACC: 11.50%</a:t>
            </a:r>
          </a:p>
          <a:p>
            <a:br/>
            <a:pPr>
              <a:spcBef>
                <a:spcPts val="1400"/>
              </a:spcBef>
              <a:defRPr sz="1000" b="1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NPV: AED 12.08M</a:t>
            </a:r>
            <a:br/>
            <a:r>
              <a:t>IRR: 26.30%</a:t>
            </a:r>
            <a:br/>
            <a:r>
              <a:t>Decision: 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OPTIMISTIC (25%)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High volume (+25%)</a:t>
            </a:r>
            <a:br/>
            <a:r>
              <a:t>Savings: AED 11.0M (+10%)</a:t>
            </a:r>
            <a:br/>
            <a:r>
              <a:t>WACC: 10.50%</a:t>
            </a:r>
          </a:p>
          <a:p>
            <a:br/>
            <a:pPr>
              <a:spcBef>
                <a:spcPts val="1400"/>
              </a:spcBef>
              <a:defRPr sz="1000" b="1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NPV: AED 19.01M</a:t>
            </a:r>
            <a:br/>
            <a:r>
              <a:t>IRR: 33.59%</a:t>
            </a:r>
            <a:br/>
            <a:r>
              <a:t>Decision: APPROVE FULL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19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PESSIMISTIC (25%)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Weak volume (+5%)</a:t>
            </a:r>
            <a:br/>
            <a:r>
              <a:t>CapEx overrun (+15%)</a:t>
            </a:r>
            <a:br/>
            <a:r>
              <a:t>WACC: 14.50%</a:t>
            </a:r>
          </a:p>
          <a:p>
            <a:br/>
            <a:pPr>
              <a:spcBef>
                <a:spcPts val="1400"/>
              </a:spcBef>
              <a:defRPr sz="1000" b="1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NPV: (AED 4.94M)</a:t>
            </a:r>
            <a:br/>
            <a:r>
              <a:t>IRR: 8.23%</a:t>
            </a:r>
            <a:br/>
            <a:r>
              <a:t>Decision: PHASE / REJECT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39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CUSTOM SLIDER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User-defined inputs</a:t>
            </a:r>
            <a:br/>
            <a:r>
              <a:t>Dynamic WACC &amp; OpEx</a:t>
            </a:r>
            <a:br/>
            <a:r>
              <a:t>Interactive modeling</a:t>
            </a:r>
          </a:p>
          <a:p>
            <a:br/>
            <a:pPr>
              <a:spcBef>
                <a:spcPts val="1400"/>
              </a:spcBef>
              <a:defRPr sz="1000" b="1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NPV: AED 3.85M</a:t>
            </a:r>
            <a:br/>
            <a:r>
              <a:t>IRR: 15.40%</a:t>
            </a:r>
            <a:br/>
            <a:r>
              <a:t>Decision: PHASE /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3 — Treasury &amp; Risk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What Could Change the Investment Decision?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Tornado Sensitivity Analysis &amp; Risk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SENSITIVITY RANKING (Tornado Drivers)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1. Operating Cost Savings (HIGH IMPACT)</a:t>
            </a:r>
            <a:br/>
            <a:r>
              <a:t>   Break-even limit: Savings cannot drop &gt; 32.5%.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2. WACC Discount Rate (HIGH IMPACT)</a:t>
            </a:r>
            <a:br/>
            <a:r>
              <a:t>   Break-even limit: WACC cannot exceed 26.30%.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3. Initial CapEx Outlay (MEDIUM IMPACT)</a:t>
            </a:r>
            <a:br/>
            <a:r>
              <a:t>   Break-even limit: CapEx overrun cannot exceed +50.3%.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4. Additional OpEx Inflation (LOWER IMPACT)</a:t>
            </a:r>
            <a:br/>
            <a:r>
              <a:t>   Tolerates up to +112% OpEx escalation.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TOP ENTERPRISE RISKS &amp; MITIGATION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• Robotics WCS Ramp-up Delay (HIGH RISK)</a:t>
            </a:r>
            <a:br/>
            <a:r>
              <a:t>  Mitigation: Enforce vendor milestone SLA payment gates.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• E-Commerce Demand Shortfall (MEDIUM RISK)</a:t>
            </a:r>
            <a:br/>
            <a:r>
              <a:t>  Mitigation: Flexible multi-tenant order fulfillment.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• DEWA Power Tariff Inflation (MEDIUM RISK)</a:t>
            </a:r>
            <a:br/>
            <a:r>
              <a:t>  Mitigation: Rooftop solar PV installation plan.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• Key CFO Message: Value is most sensitive to demand and implementation execution, justifying stage-gate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5 — Strategy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Management Has Four Paths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Evaluation of Strategic Decision Alternatives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OPTION 1: FULL APPROVAL</a:t>
            </a:r>
          </a:p>
          <a:p>
            <a:pPr>
              <a:spcBef>
                <a:spcPts val="1400"/>
              </a:spcBef>
              <a:defRPr sz="1000">
                <a:solidFill>
                  <a:srgbClr val="FFFFFF"/>
                </a:solidFill>
              </a:defRPr>
            </a:pPr>
            <a:r>
              <a:t>Commit AED 24.0M immediately.</a:t>
            </a:r>
            <a:br/>
            <a:br/>
            <a:r>
              <a:t>NPV: AED 12.08M</a:t>
            </a:r>
            <a:br/>
            <a:r>
              <a:t>Risk: High initial exposure</a:t>
            </a:r>
            <a:br/>
            <a:r>
              <a:t>Flexibility: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OPTION 2: PILOT + GATE</a:t>
            </a:r>
          </a:p>
          <a:p>
            <a:pPr>
              <a:spcBef>
                <a:spcPts val="1400"/>
              </a:spcBef>
              <a:defRPr sz="1000">
                <a:solidFill>
                  <a:srgbClr val="FFFFFF"/>
                </a:solidFill>
              </a:defRPr>
            </a:pPr>
            <a:r>
              <a:t>Commit Phase 1 (AED 14M).</a:t>
            </a:r>
            <a:br/>
            <a:r>
              <a:t>Gate release remaining AED 10M.</a:t>
            </a:r>
            <a:br/>
            <a:br/>
            <a:r>
              <a:t>NPV: AED 10.56M (EV)</a:t>
            </a:r>
            <a:br/>
            <a:r>
              <a:t>Risk: Low (Controlled)</a:t>
            </a:r>
            <a:br/>
            <a:r>
              <a:t>Flexibility: High (RECOMMENDED)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19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OPTION 3: DELAY 12 MONTHS</a:t>
            </a:r>
          </a:p>
          <a:p>
            <a:pPr>
              <a:spcBef>
                <a:spcPts val="1400"/>
              </a:spcBef>
              <a:defRPr sz="1000">
                <a:solidFill>
                  <a:srgbClr val="FFFFFF"/>
                </a:solidFill>
              </a:defRPr>
            </a:pPr>
            <a:r>
              <a:t>Wait for market evidence.</a:t>
            </a:r>
            <a:br/>
            <a:br/>
            <a:r>
              <a:t>NPV: AED 4.20M</a:t>
            </a:r>
            <a:br/>
            <a:r>
              <a:t>Risk: Market share loss</a:t>
            </a:r>
            <a:br/>
            <a:r>
              <a:t>Flexibility: 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39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OPTION 4: REJECT PROJECT</a:t>
            </a:r>
          </a:p>
          <a:p>
            <a:pPr>
              <a:spcBef>
                <a:spcPts val="1400"/>
              </a:spcBef>
              <a:defRPr sz="1000">
                <a:solidFill>
                  <a:srgbClr val="FFFFFF"/>
                </a:solidFill>
              </a:defRPr>
            </a:pPr>
            <a:r>
              <a:t>Maintain manual model.</a:t>
            </a:r>
            <a:br/>
            <a:br/>
            <a:r>
              <a:t>NPV: AED 0.00</a:t>
            </a:r>
            <a:br/>
            <a:r>
              <a:t>Risk: High operational decay</a:t>
            </a:r>
            <a:br/>
            <a:r>
              <a:t>Flexibility: Zero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5 — Strategy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Turn Uncertainty Into an Option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5-Stage Real Options Implementation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STAGE 1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Approval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Board approves AED 14M Phase 1 funding.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6459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STAGE 2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Pilot Deploy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Civil fit-out &amp; ASRS robotics grid installation.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459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STAGE 3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Validation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Test 1,800 picks/hr SLA &amp; system uptime.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6459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STAGE 4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Gate Audit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CFO Committee reviews KPI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6459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STAGE 5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Scale / Stop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Disburse AED 10M or modify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5 — Strategy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From Investment Approval to Value Realisation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5-Phase Execution Timeline &amp; Milestone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1 (M1-M2): Procurement   |   Owner: PMO / Procurement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EPC Turnkey contract signing with 15% overrun penalty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1109441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2 (M3-M5): Civil &amp; Fit-out   |   Owner: Operations Lead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ASRS grid construction &amp; mechanical installation.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109441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3 (M6-M7): Software Integration   |   Owner: CIO / CTO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WCS &amp; ERP integration and robotics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09441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59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4 (M8-M9): Stage Gate Audit   |   Owner: CFO Committee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Verify 1,800 picks/hr SLA and 99.8% accuracy.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59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5 (M10-M12): Full Rollout   |   Owner: COO / Retail Head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Full commercial launch &amp; 2-hour SLA activation.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6 — Financial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Will We Know the Investment Is Working?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Executive KPI &amp; Benefits Realisation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BENEFITS REALISATION KPI MONITORING FRAMEWORK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Order Fulfillment SLA: Baseline = 24 Hours  |  Target = &lt; 2 Hours  |  Status: ON TRACK (Weekly)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Direct Unit Picking Cost: Baseline = AED 14.50  |  Target = AED 4.20  |  Status: ON TRACK (Monthly)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Order Picking Accuracy: Baseline = 96.6%  |  Target = 99.8%  |  Status: ON TRACK (Weekly)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Robotics System Uptime: Baseline = N/A  |  Target = 99.5%  |  Status: WATCH (Daily)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Annual Labor Savings: Baseline = AED 0  |  Target = AED 7,500,000  |  Status: AUDITED (Monthly)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CFADS Debt Coverage Ratio: Baseline = N/A  |  Target = &gt; 1.25x  |  Status: ON TRACK (Quarterly)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6 — Financial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Who Owns the Decision?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Executive Decision Rights &amp; Governance Hierarchy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EXECUTIVE DECISION RIGHTS MATRIX (RACI)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Board of Directors: Approves initial capital allocation &amp; receives gate audit reports.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Chief Financial Officer (CFO): Accountable for capital release, hurdle rate compliance, and tax optimization.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Chief Operating Officer (COO): Responsible for operational fulfillment SLAs and warehouse productivity.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Chief Technology Officer (CTO): Responsible for WCS software integration, uptime, and cybersecurity.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Procurement &amp; PMO: Controls vendor contracts with fixed-price 15% overrun penalty caps.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6 — Financial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Investment Decision Scorecard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Multidimensional Evaluation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CFO COMMITTEE EVALUATION SCORECARD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Financial Attractiveness: ★★★★★ (NPV AED 12.08M | IRR 26.30% vs WACC 11.50%)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Strategic Alignment: ★★★★★ (Compresses fulfillment SLA from 24h to 2h)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Operational Potential: ★★★★☆ (Slashes unit picking cost from AED 14.50 to AED 4.20)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Risk Profile: ★★★☆☆ (Downside protected via 50.3% max tolerable capex overrun)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Governance Strength: ★★★★☆ (Controlled via 5 Real Options stage gates)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• OVERALL VERDICT: APPROVE WITH CONDITIONS (PHASED IMPLEMENTATION)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1 —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CFO Recommendation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Boardroom Decision Statement &amp; Value vs Risk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CFO RECOMMENDATION: APPROVE WITH IMPLEMENTATION GATES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WHY APPROVE?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• Financial Value: Generates AED 12.08M NPV and 26.30% IRR (+14.80% above 11.5% WACC).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• Strategic Advantage: Secures fast-commerce leadership with 2-hour fulfillment SLAs.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• Margin Protection: Saves AED 7.5M annually in manual warehouse labor costs.</a:t>
            </a:r>
          </a:p>
          <a:p>
            <a:br/>
            <a:pPr>
              <a:defRPr sz="1050" b="1">
                <a:solidFill>
                  <a:srgbClr val="06B6D4"/>
                </a:solidFill>
              </a:defRPr>
            </a:pPr>
            <a:r>
              <a:t>MANDATORY APPROVAL CONDITIONS: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1. Commit Phase 1 (AED 14.0M); hold remaining AED 10.0M for Gate 2 throughput sign-off.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2. Fixed-price EPC turnkey vendor contract with 15% overrun penalty cap.</a:t>
            </a:r>
          </a:p>
          <a:p>
            <a:pPr>
              <a:defRPr sz="1050" b="0">
                <a:solidFill>
                  <a:srgbClr val="FFFFFF"/>
                </a:solidFill>
              </a:defRPr>
            </a:pPr>
            <a:r>
              <a:t>3. Verify 1,800 picks/hour throughput SLA at Gate 2 before full commercial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FINANCIAL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"/>
            <a:ext cx="109728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"/>
            <a:ext cx="201168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👤 Member 1 —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Decision Required Today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Board Action &amp;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1109441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BOARD DECISION &amp; IMMEDIATE ACTION ITEMS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ACTION 01: Approve Phase 1 capital commitment of AED 14.0M for facility fit-out.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ACTION 02: Authorize EPC turnkey contract execution with 15% overrun penalty cap.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ACTION 03: Mandate Gate 2 audit presentation to Investment Committee in Month 6.</a:t>
            </a:r>
          </a:p>
          <a:p>
            <a:br/>
            <a:pPr>
              <a:spcBef>
                <a:spcPts val="800"/>
              </a:spcBef>
              <a:defRPr sz="1100" b="0">
                <a:solidFill>
                  <a:srgbClr val="FFFFFF"/>
                </a:solidFill>
              </a:defRPr>
            </a:pPr>
            <a:r>
              <a:t>CapExIQ converts capital allocation from a one-time decision into a continuous, evidence-driven investment process.</a:t>
            </a:r>
          </a:p>
          <a:p>
            <a:br/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Thank you.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